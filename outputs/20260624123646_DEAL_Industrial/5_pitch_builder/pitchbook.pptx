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3232" y="1234440"/>
            <a:ext cx="2011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l"/>
            <a:r>
              <a:rPr sz="1100" b="1">
                <a:solidFill>
                  <a:srgbClr val="FF6600"/>
                </a:solidFill>
                <a:latin typeface="Arial"/>
              </a:rPr>
              <a:t>INDUSTRIAL</a:t>
            </a:r>
          </a:p>
        </p:txBody>
      </p:sp>
      <p:sp>
        <p:nvSpPr>
          <p:cNvPr id="6" name="Rectangle 5"/>
          <p:cNvSpPr/>
          <p:nvPr/>
        </p:nvSpPr>
        <p:spPr>
          <a:xfrm>
            <a:off x="713232" y="1471422"/>
            <a:ext cx="201168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57400"/>
            <a:ext cx="8686800" cy="1371600"/>
          </a:xfrm>
          <a:prstGeom prst="rect">
            <a:avLst/>
          </a:prstGeom>
          <a:noFill/>
        </p:spPr>
        <p:txBody>
          <a:bodyPr wrap="square" anchor="t" lIns="0" rIns="0" tIns="0" bIns="0">
            <a:spAutoFit/>
          </a:bodyPr>
          <a:lstStyle/>
          <a:p>
            <a:pPr algn="l">
              <a:lnSpc>
                <a:spcPct val="108000"/>
              </a:lnSpc>
            </a:pPr>
            <a:r>
              <a:rPr sz="3600" b="1" i="0">
                <a:solidFill>
                  <a:srgbClr val="222222"/>
                </a:solidFill>
                <a:latin typeface="Arial"/>
              </a:rPr>
              <a:t>Propuesta comercial | Financiación estructurada para expansión internacional (Planta Polonia)</a:t>
            </a:r>
          </a:p>
        </p:txBody>
      </p:sp>
      <p:sp>
        <p:nvSpPr>
          <p:cNvPr id="8" name="TextBox 7"/>
          <p:cNvSpPr txBox="1"/>
          <p:nvPr/>
        </p:nvSpPr>
        <p:spPr>
          <a:xfrm>
            <a:off x="713232" y="4069080"/>
            <a:ext cx="9326880" cy="822960"/>
          </a:xfrm>
          <a:prstGeom prst="rect">
            <a:avLst/>
          </a:prstGeom>
          <a:noFill/>
        </p:spPr>
        <p:txBody>
          <a:bodyPr wrap="square" anchor="t" lIns="0" rIns="0" tIns="0" bIns="0">
            <a:spAutoFit/>
          </a:bodyPr>
          <a:lstStyle/>
          <a:p>
            <a:pPr algn="l">
              <a:lnSpc>
                <a:spcPct val="125000"/>
              </a:lnSpc>
            </a:pPr>
            <a:r>
              <a:rPr sz="1700" b="0" i="0">
                <a:solidFill>
                  <a:srgbClr val="5A6B7B"/>
                </a:solidFill>
                <a:latin typeface="Arial"/>
              </a:rPr>
              <a:t>Estructurar 8–12M EUR de financiación de CAPEX y circulante para asegurar la puesta en marcha y el ramp-up de la nueva planta en Polonia</a:t>
            </a:r>
          </a:p>
        </p:txBody>
      </p:sp>
      <p:sp>
        <p:nvSpPr>
          <p:cNvPr id="9" name="TextBox 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OPORTUNIDAD DETECTADA</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6400800" cy="594360"/>
          </a:xfrm>
          <a:prstGeom prst="rect">
            <a:avLst/>
          </a:prstGeom>
          <a:noFill/>
        </p:spPr>
        <p:txBody>
          <a:bodyPr wrap="square" anchor="t" lIns="0" rIns="0" tIns="0" bIns="0">
            <a:spAutoFit/>
          </a:bodyPr>
          <a:lstStyle/>
          <a:p>
            <a:pPr algn="l"/>
            <a:r>
              <a:rPr sz="3000" b="1" i="0">
                <a:solidFill>
                  <a:srgbClr val="222222"/>
                </a:solidFill>
                <a:latin typeface="Arial"/>
              </a:rPr>
              <a:t>Acme Componentes SL</a:t>
            </a:r>
          </a:p>
        </p:txBody>
      </p:sp>
      <p:sp>
        <p:nvSpPr>
          <p:cNvPr id="8" name="TextBox 7"/>
          <p:cNvSpPr txBox="1"/>
          <p:nvPr/>
        </p:nvSpPr>
        <p:spPr>
          <a:xfrm>
            <a:off x="713232" y="2240280"/>
            <a:ext cx="6400800" cy="2194560"/>
          </a:xfrm>
          <a:prstGeom prst="rect">
            <a:avLst/>
          </a:prstGeom>
          <a:noFill/>
        </p:spPr>
        <p:txBody>
          <a:bodyPr wrap="square" anchor="t" lIns="0" rIns="0" tIns="0" bIns="0">
            <a:spAutoFit/>
          </a:bodyPr>
          <a:lstStyle/>
          <a:p>
            <a:pPr algn="l">
              <a:lnSpc>
                <a:spcPct val="135000"/>
              </a:lnSpc>
            </a:pPr>
            <a:r>
              <a:rPr sz="1500" b="0" i="0">
                <a:solidFill>
                  <a:srgbClr val="222222"/>
                </a:solidFill>
                <a:latin typeface="Arial"/>
              </a:rPr>
              <a:t>Acme Componentes SL está ejecutando una expansión internacional con una nueva planta en Polonia y ha explicitado una necesidad inmediata de financiación estructurada estimada en 8–12M EUR. Esto abre una ventana de alta prioridad para diseñar un paquete de deuda de inversión alineado al calendario de CAPEX y al ramp-up, complementado con soluciones de circulante y coberturas asociadas a la operativa internacional, sujeto a confirmar exposiciones y métricas financieras clave.</a:t>
            </a:r>
          </a:p>
        </p:txBody>
      </p:sp>
      <p:sp>
        <p:nvSpPr>
          <p:cNvPr id="9" name="TextBox 8"/>
          <p:cNvSpPr txBox="1"/>
          <p:nvPr/>
        </p:nvSpPr>
        <p:spPr>
          <a:xfrm>
            <a:off x="713232" y="5257800"/>
            <a:ext cx="6400800" cy="274320"/>
          </a:xfrm>
          <a:prstGeom prst="rect">
            <a:avLst/>
          </a:prstGeom>
          <a:noFill/>
        </p:spPr>
        <p:txBody>
          <a:bodyPr wrap="square" anchor="t" lIns="0" rIns="0" tIns="0" bIns="0">
            <a:spAutoFit/>
          </a:bodyPr>
          <a:lstStyle/>
          <a:p>
            <a:pPr algn="l"/>
            <a:r>
              <a:rPr sz="1100" b="1" i="0">
                <a:solidFill>
                  <a:srgbClr val="5A6B7B"/>
                </a:solidFill>
                <a:latin typeface="Arial"/>
              </a:rPr>
              <a:t>PRÓXIMA ACCIÓN</a:t>
            </a:r>
          </a:p>
        </p:txBody>
      </p:sp>
      <p:sp>
        <p:nvSpPr>
          <p:cNvPr id="10" name="TextBox 9"/>
          <p:cNvSpPr txBox="1"/>
          <p:nvPr/>
        </p:nvSpPr>
        <p:spPr>
          <a:xfrm>
            <a:off x="713232" y="5559552"/>
            <a:ext cx="6400800" cy="777240"/>
          </a:xfrm>
          <a:prstGeom prst="rect">
            <a:avLst/>
          </a:prstGeom>
          <a:noFill/>
        </p:spPr>
        <p:txBody>
          <a:bodyPr wrap="square" anchor="t" lIns="0" rIns="0" tIns="0" bIns="0">
            <a:spAutoFit/>
          </a:bodyPr>
          <a:lstStyle/>
          <a:p>
            <a:pPr algn="l">
              <a:lnSpc>
                <a:spcPct val="125000"/>
              </a:lnSpc>
            </a:pPr>
            <a:r>
              <a:rPr sz="1400" b="0" i="0">
                <a:solidFill>
                  <a:srgbClr val="FF6600"/>
                </a:solidFill>
                <a:latin typeface="Arial"/>
              </a:rPr>
              <a:t>Reunión de diagnóstico (60–90 min): confirmar CAPEX total, calendario de desembolsos, hitos, fecha objetivo de SOP/ramp-up y desglose del rango 8–12M EUR (CAPEX vs. circulante).</a:t>
            </a:r>
          </a:p>
        </p:txBody>
      </p:sp>
      <p:sp>
        <p:nvSpPr>
          <p:cNvPr id="11" name="Rectangle 10"/>
          <p:cNvSpPr/>
          <p:nvPr/>
        </p:nvSpPr>
        <p:spPr>
          <a:xfrm>
            <a:off x="7818120" y="1627632"/>
            <a:ext cx="3657600" cy="44805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1874519"/>
            <a:ext cx="2926080" cy="274320"/>
          </a:xfrm>
          <a:prstGeom prst="rect">
            <a:avLst/>
          </a:prstGeom>
          <a:noFill/>
        </p:spPr>
        <p:txBody>
          <a:bodyPr wrap="square" anchor="t" lIns="0" rIns="0" tIns="0" bIns="0">
            <a:spAutoFit/>
          </a:bodyPr>
          <a:lstStyle/>
          <a:p>
            <a:pPr algn="l"/>
            <a:r>
              <a:rPr sz="1100" b="1" i="0">
                <a:solidFill>
                  <a:srgbClr val="5A6B7B"/>
                </a:solidFill>
                <a:latin typeface="Arial"/>
              </a:rPr>
              <a:t>EN UNA CIFRA</a:t>
            </a:r>
          </a:p>
        </p:txBody>
      </p:sp>
      <p:sp>
        <p:nvSpPr>
          <p:cNvPr id="13" name="TextBox 12"/>
          <p:cNvSpPr txBox="1"/>
          <p:nvPr/>
        </p:nvSpPr>
        <p:spPr>
          <a:xfrm>
            <a:off x="8138160" y="2240280"/>
            <a:ext cx="2926080" cy="822960"/>
          </a:xfrm>
          <a:prstGeom prst="rect">
            <a:avLst/>
          </a:prstGeom>
          <a:noFill/>
        </p:spPr>
        <p:txBody>
          <a:bodyPr wrap="square" anchor="t" lIns="0" rIns="0" tIns="0" bIns="0">
            <a:spAutoFit/>
          </a:bodyPr>
          <a:lstStyle/>
          <a:p>
            <a:pPr algn="l">
              <a:lnSpc>
                <a:spcPct val="100000"/>
              </a:lnSpc>
            </a:pPr>
            <a:r>
              <a:rPr sz="2400" b="1" i="0">
                <a:solidFill>
                  <a:srgbClr val="FF6600"/>
                </a:solidFill>
                <a:latin typeface="Arial"/>
              </a:rPr>
              <a:t>~42,0M EUR</a:t>
            </a:r>
          </a:p>
        </p:txBody>
      </p:sp>
      <p:sp>
        <p:nvSpPr>
          <p:cNvPr id="14" name="TextBox 13"/>
          <p:cNvSpPr txBox="1"/>
          <p:nvPr/>
        </p:nvSpPr>
        <p:spPr>
          <a:xfrm>
            <a:off x="8138160" y="3063240"/>
            <a:ext cx="2926080" cy="640080"/>
          </a:xfrm>
          <a:prstGeom prst="rect">
            <a:avLst/>
          </a:prstGeom>
          <a:noFill/>
        </p:spPr>
        <p:txBody>
          <a:bodyPr wrap="square" anchor="t" lIns="0" rIns="0" tIns="0" bIns="0">
            <a:spAutoFit/>
          </a:bodyPr>
          <a:lstStyle/>
          <a:p>
            <a:pPr algn="l">
              <a:lnSpc>
                <a:spcPct val="120000"/>
              </a:lnSpc>
            </a:pPr>
            <a:r>
              <a:rPr sz="1300" b="0" i="0">
                <a:solidFill>
                  <a:srgbClr val="5A6B7B"/>
                </a:solidFill>
                <a:latin typeface="Arial"/>
              </a:rPr>
              <a:t>Ingresos estimados</a:t>
            </a:r>
          </a:p>
        </p:txBody>
      </p:sp>
      <p:sp>
        <p:nvSpPr>
          <p:cNvPr id="15" name="Rectangle 14"/>
          <p:cNvSpPr/>
          <p:nvPr/>
        </p:nvSpPr>
        <p:spPr>
          <a:xfrm>
            <a:off x="8138160" y="3840480"/>
            <a:ext cx="2926080" cy="127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005072"/>
            <a:ext cx="2926080" cy="228600"/>
          </a:xfrm>
          <a:prstGeom prst="rect">
            <a:avLst/>
          </a:prstGeom>
          <a:noFill/>
        </p:spPr>
        <p:txBody>
          <a:bodyPr wrap="square" anchor="t" lIns="0" rIns="0" tIns="0" bIns="0">
            <a:spAutoFit/>
          </a:bodyPr>
          <a:lstStyle/>
          <a:p>
            <a:pPr algn="l"/>
            <a:r>
              <a:rPr sz="1100" b="1" i="0">
                <a:solidFill>
                  <a:srgbClr val="5A6B7B"/>
                </a:solidFill>
                <a:latin typeface="Arial"/>
              </a:rPr>
              <a:t>SECTOR</a:t>
            </a:r>
          </a:p>
        </p:txBody>
      </p:sp>
      <p:sp>
        <p:nvSpPr>
          <p:cNvPr id="17" name="TextBox 16"/>
          <p:cNvSpPr txBox="1"/>
          <p:nvPr/>
        </p:nvSpPr>
        <p:spPr>
          <a:xfrm>
            <a:off x="8138160" y="4279392"/>
            <a:ext cx="2926080" cy="365760"/>
          </a:xfrm>
          <a:prstGeom prst="rect">
            <a:avLst/>
          </a:prstGeom>
          <a:noFill/>
        </p:spPr>
        <p:txBody>
          <a:bodyPr wrap="square" anchor="t" lIns="0" rIns="0" tIns="0" bIns="0">
            <a:spAutoFit/>
          </a:bodyPr>
          <a:lstStyle/>
          <a:p>
            <a:pPr algn="l"/>
            <a:r>
              <a:rPr sz="1600" b="1" i="0">
                <a:solidFill>
                  <a:srgbClr val="222222"/>
                </a:solidFill>
                <a:latin typeface="Arial"/>
              </a:rPr>
              <a:t>Industrial</a:t>
            </a:r>
          </a:p>
        </p:txBody>
      </p:sp>
      <p:sp>
        <p:nvSpPr>
          <p:cNvPr id="18" name="TextBox 17"/>
          <p:cNvSpPr txBox="1"/>
          <p:nvPr/>
        </p:nvSpPr>
        <p:spPr>
          <a:xfrm>
            <a:off x="8138160" y="4828032"/>
            <a:ext cx="2926080" cy="228600"/>
          </a:xfrm>
          <a:prstGeom prst="rect">
            <a:avLst/>
          </a:prstGeom>
          <a:noFill/>
        </p:spPr>
        <p:txBody>
          <a:bodyPr wrap="square" anchor="t" lIns="0" rIns="0" tIns="0" bIns="0">
            <a:spAutoFit/>
          </a:bodyPr>
          <a:lstStyle/>
          <a:p>
            <a:pPr algn="l"/>
            <a:r>
              <a:rPr sz="1100" b="1" i="0">
                <a:solidFill>
                  <a:srgbClr val="5A6B7B"/>
                </a:solidFill>
                <a:latin typeface="Arial"/>
              </a:rPr>
              <a:t>PRIORIDAD</a:t>
            </a:r>
          </a:p>
        </p:txBody>
      </p:sp>
      <p:sp>
        <p:nvSpPr>
          <p:cNvPr id="19" name="TextBox 18"/>
          <p:cNvSpPr txBox="1"/>
          <p:nvPr/>
        </p:nvSpPr>
        <p:spPr>
          <a:xfrm>
            <a:off x="8138160" y="5102352"/>
            <a:ext cx="2926080" cy="320040"/>
          </a:xfrm>
          <a:prstGeom prst="rect">
            <a:avLst/>
          </a:prstGeom>
          <a:noFill/>
        </p:spPr>
        <p:txBody>
          <a:bodyPr wrap="square" anchor="t" lIns="0" rIns="0" tIns="0" bIns="0">
            <a:spAutoFit/>
          </a:bodyPr>
          <a:lstStyle/>
          <a:p>
            <a:pPr algn="l"/>
            <a:r>
              <a:rPr sz="1400" b="1" i="0">
                <a:solidFill>
                  <a:srgbClr val="FF6600"/>
                </a:solidFill>
                <a:latin typeface="Arial"/>
              </a:rPr>
              <a:t>ALTA</a:t>
            </a:r>
          </a:p>
        </p:txBody>
      </p:sp>
      <p:sp>
        <p:nvSpPr>
          <p:cNvPr id="20" name="TextBox 19"/>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CONTEXTO FINANCIERO</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Lo que dicen los números</a:t>
            </a:r>
          </a:p>
        </p:txBody>
      </p:sp>
      <p:sp>
        <p:nvSpPr>
          <p:cNvPr id="8" name="Rectangle 7"/>
          <p:cNvSpPr/>
          <p:nvPr/>
        </p:nvSpPr>
        <p:spPr>
          <a:xfrm>
            <a:off x="64008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487168"/>
            <a:ext cx="3008376" cy="685800"/>
          </a:xfrm>
          <a:prstGeom prst="rect">
            <a:avLst/>
          </a:prstGeom>
          <a:noFill/>
        </p:spPr>
        <p:txBody>
          <a:bodyPr wrap="square" anchor="t" lIns="0" rIns="0" tIns="0" bIns="0">
            <a:spAutoFit/>
          </a:bodyPr>
          <a:lstStyle/>
          <a:p>
            <a:pPr algn="l">
              <a:lnSpc>
                <a:spcPct val="100000"/>
              </a:lnSpc>
            </a:pPr>
            <a:r>
              <a:rPr sz="3200" b="1" i="0">
                <a:solidFill>
                  <a:srgbClr val="FF6600"/>
                </a:solidFill>
                <a:latin typeface="Arial"/>
              </a:rPr>
              <a:t>~42,0M EUR</a:t>
            </a:r>
          </a:p>
        </p:txBody>
      </p:sp>
      <p:sp>
        <p:nvSpPr>
          <p:cNvPr id="10" name="TextBox 9"/>
          <p:cNvSpPr txBox="1"/>
          <p:nvPr/>
        </p:nvSpPr>
        <p:spPr>
          <a:xfrm>
            <a:off x="89611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Ingresos estimados</a:t>
            </a:r>
          </a:p>
        </p:txBody>
      </p:sp>
      <p:sp>
        <p:nvSpPr>
          <p:cNvPr id="11" name="Rectangle 10"/>
          <p:cNvSpPr/>
          <p:nvPr/>
        </p:nvSpPr>
        <p:spPr>
          <a:xfrm>
            <a:off x="4434840" y="2240280"/>
            <a:ext cx="3520440" cy="210312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2487168"/>
            <a:ext cx="3008376" cy="685800"/>
          </a:xfrm>
          <a:prstGeom prst="rect">
            <a:avLst/>
          </a:prstGeom>
          <a:noFill/>
        </p:spPr>
        <p:txBody>
          <a:bodyPr wrap="square" anchor="t" lIns="0" rIns="0" tIns="0" bIns="0">
            <a:spAutoFit/>
          </a:bodyPr>
          <a:lstStyle/>
          <a:p>
            <a:pPr algn="l">
              <a:lnSpc>
                <a:spcPct val="100000"/>
              </a:lnSpc>
            </a:pPr>
            <a:r>
              <a:rPr sz="3200" b="1" i="0">
                <a:solidFill>
                  <a:srgbClr val="FF6600"/>
                </a:solidFill>
                <a:latin typeface="Arial"/>
              </a:rPr>
              <a:t>8–12M EUR</a:t>
            </a:r>
          </a:p>
        </p:txBody>
      </p:sp>
      <p:sp>
        <p:nvSpPr>
          <p:cNvPr id="13" name="TextBox 12"/>
          <p:cNvSpPr txBox="1"/>
          <p:nvPr/>
        </p:nvSpPr>
        <p:spPr>
          <a:xfrm>
            <a:off x="4690872" y="3611880"/>
            <a:ext cx="3008376" cy="548640"/>
          </a:xfrm>
          <a:prstGeom prst="rect">
            <a:avLst/>
          </a:prstGeom>
          <a:noFill/>
        </p:spPr>
        <p:txBody>
          <a:bodyPr wrap="square" anchor="t" lIns="0" rIns="0" tIns="0" bIns="0">
            <a:spAutoFit/>
          </a:bodyPr>
          <a:lstStyle/>
          <a:p>
            <a:pPr algn="l">
              <a:lnSpc>
                <a:spcPct val="115000"/>
              </a:lnSpc>
            </a:pPr>
            <a:r>
              <a:rPr sz="1300" b="0" i="0">
                <a:solidFill>
                  <a:srgbClr val="5A6B7B"/>
                </a:solidFill>
                <a:latin typeface="Arial"/>
              </a:rPr>
              <a:t>Necesidades de financiación estructurada</a:t>
            </a:r>
          </a:p>
        </p:txBody>
      </p:sp>
      <p:sp>
        <p:nvSpPr>
          <p:cNvPr id="14" name="TextBox 13"/>
          <p:cNvSpPr txBox="1"/>
          <p:nvPr/>
        </p:nvSpPr>
        <p:spPr>
          <a:xfrm>
            <a:off x="713232" y="4800600"/>
            <a:ext cx="5212080" cy="274320"/>
          </a:xfrm>
          <a:prstGeom prst="rect">
            <a:avLst/>
          </a:prstGeom>
          <a:noFill/>
        </p:spPr>
        <p:txBody>
          <a:bodyPr wrap="square" anchor="t" lIns="0" rIns="0" tIns="0" bIns="0">
            <a:spAutoFit/>
          </a:bodyPr>
          <a:lstStyle/>
          <a:p>
            <a:pPr algn="l"/>
            <a:r>
              <a:rPr sz="1100" b="1" i="0">
                <a:solidFill>
                  <a:srgbClr val="5A6B7B"/>
                </a:solidFill>
                <a:latin typeface="Arial"/>
              </a:rPr>
              <a:t>TENDENCIAS ESTRUCTURALES</a:t>
            </a:r>
          </a:p>
        </p:txBody>
      </p:sp>
      <p:sp>
        <p:nvSpPr>
          <p:cNvPr id="15" name="TextBox 14"/>
          <p:cNvSpPr txBox="1"/>
          <p:nvPr/>
        </p:nvSpPr>
        <p:spPr>
          <a:xfrm>
            <a:off x="713232" y="5102352"/>
            <a:ext cx="5212080" cy="1234440"/>
          </a:xfrm>
          <a:prstGeom prst="rect">
            <a:avLst/>
          </a:prstGeom>
          <a:noFill/>
        </p:spPr>
        <p:txBody>
          <a:bodyPr wrap="square" lIns="0" rIns="0" tIns="0" bIns="0">
            <a:spAutoFit/>
          </a:bodyPr>
          <a:lstStyle/>
          <a:p>
            <a:pPr>
              <a:lnSpc>
                <a:spcPct val="115000"/>
              </a:lnSpc>
              <a:spcAft>
                <a:spcPts val="800"/>
              </a:spcAft>
            </a:pPr>
            <a:r>
              <a:rPr sz="1300">
                <a:solidFill>
                  <a:srgbClr val="222222"/>
                </a:solidFill>
                <a:latin typeface="Arial"/>
              </a:rPr>
              <a:t>• Expansión internacional en ejecución mediante una nueva planta en Polonia.</a:t>
            </a:r>
          </a:p>
          <a:p>
            <a:pPr>
              <a:lnSpc>
                <a:spcPct val="115000"/>
              </a:lnSpc>
              <a:spcAft>
                <a:spcPts val="800"/>
              </a:spcAft>
            </a:pPr>
            <a:r>
              <a:rPr sz="1300">
                <a:solidFill>
                  <a:srgbClr val="222222"/>
                </a:solidFill>
                <a:latin typeface="Arial"/>
              </a:rPr>
              <a:t>• Incremento material del CAPEX en el corto plazo asociado al proyecto de inversión y puesta en marcha.</a:t>
            </a:r>
          </a:p>
          <a:p>
            <a:pPr>
              <a:lnSpc>
                <a:spcPct val="115000"/>
              </a:lnSpc>
              <a:spcAft>
                <a:spcPts val="800"/>
              </a:spcAft>
            </a:pPr>
            <a:r>
              <a:rPr sz="1300">
                <a:solidFill>
                  <a:srgbClr val="222222"/>
                </a:solidFill>
                <a:latin typeface="Arial"/>
              </a:rPr>
              <a:t>• Potenciales mayores necesidades de circulante ligadas al ramp-up de la nueva capacidad.</a:t>
            </a:r>
          </a:p>
        </p:txBody>
      </p:sp>
      <p:sp>
        <p:nvSpPr>
          <p:cNvPr id="16" name="Rectangle 15"/>
          <p:cNvSpPr/>
          <p:nvPr/>
        </p:nvSpPr>
        <p:spPr>
          <a:xfrm>
            <a:off x="6263640" y="4800600"/>
            <a:ext cx="5212080" cy="164592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4983480"/>
            <a:ext cx="4663440" cy="228600"/>
          </a:xfrm>
          <a:prstGeom prst="rect">
            <a:avLst/>
          </a:prstGeom>
          <a:noFill/>
        </p:spPr>
        <p:txBody>
          <a:bodyPr wrap="square" anchor="t" lIns="0" rIns="0" tIns="0" bIns="0">
            <a:spAutoFit/>
          </a:bodyPr>
          <a:lstStyle/>
          <a:p>
            <a:pPr algn="l"/>
            <a:r>
              <a:rPr sz="1100" b="1" i="0">
                <a:solidFill>
                  <a:srgbClr val="FF6600"/>
                </a:solidFill>
                <a:latin typeface="Arial"/>
              </a:rPr>
              <a:t>INTERPRETACIÓN</a:t>
            </a:r>
          </a:p>
        </p:txBody>
      </p:sp>
      <p:sp>
        <p:nvSpPr>
          <p:cNvPr id="18" name="TextBox 17"/>
          <p:cNvSpPr txBox="1"/>
          <p:nvPr/>
        </p:nvSpPr>
        <p:spPr>
          <a:xfrm>
            <a:off x="6537960" y="5285232"/>
            <a:ext cx="4663440" cy="914400"/>
          </a:xfrm>
          <a:prstGeom prst="rect">
            <a:avLst/>
          </a:prstGeom>
          <a:noFill/>
        </p:spPr>
        <p:txBody>
          <a:bodyPr wrap="square" anchor="t" lIns="0" rIns="0" tIns="0" bIns="0">
            <a:spAutoFit/>
          </a:bodyPr>
          <a:lstStyle/>
          <a:p>
            <a:pPr algn="l">
              <a:lnSpc>
                <a:spcPct val="125000"/>
              </a:lnSpc>
            </a:pPr>
            <a:r>
              <a:rPr sz="1300" b="0" i="0">
                <a:solidFill>
                  <a:srgbClr val="222222"/>
                </a:solidFill>
                <a:latin typeface="Arial"/>
              </a:rPr>
              <a:t>La compañía se encuentra en una fase de inversión intensiva orientada a crecimiento (nueva planta), con un requerimiento explícito de financiación estructurada de 8–12M EUR. La ausencia de métricas de rentabilidad, caja y endeudamiento actual impide evaluar apalancamiento y capacidad de repago, pero el perfil descrito sugiere una necesidad inmediata de financiación para CAPEX y soporte operativo de la expansión.</a:t>
            </a:r>
          </a:p>
        </p:txBody>
      </p:sp>
      <p:sp>
        <p:nvSpPr>
          <p:cNvPr id="19" name="TextBox 18"/>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BRIEFING DE CLIENTE</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Perfil y situación actual</a:t>
            </a:r>
          </a:p>
        </p:txBody>
      </p:sp>
      <p:sp>
        <p:nvSpPr>
          <p:cNvPr id="8" name="TextBox 7"/>
          <p:cNvSpPr txBox="1"/>
          <p:nvPr/>
        </p:nvSpPr>
        <p:spPr>
          <a:xfrm>
            <a:off x="713232" y="2148840"/>
            <a:ext cx="10762488" cy="822960"/>
          </a:xfrm>
          <a:prstGeom prst="rect">
            <a:avLst/>
          </a:prstGeom>
          <a:noFill/>
        </p:spPr>
        <p:txBody>
          <a:bodyPr wrap="square" anchor="t" lIns="0" rIns="0" tIns="0" bIns="0">
            <a:spAutoFit/>
          </a:bodyPr>
          <a:lstStyle/>
          <a:p>
            <a:pPr algn="l">
              <a:lnSpc>
                <a:spcPct val="130000"/>
              </a:lnSpc>
            </a:pPr>
            <a:r>
              <a:rPr sz="1400" b="0" i="0">
                <a:solidFill>
                  <a:srgbClr val="222222"/>
                </a:solidFill>
                <a:latin typeface="Arial"/>
              </a:rPr>
              <a:t>Acme Componentes SL es una compañía con ingresos estimados de ~42,0M EUR. Está ejecutando una expansión internacional mediante la puesta en marcha de una nueva planta en Polonia, lo que sugiere un foco estratégico en crecimiento y aumento de capacidad productiva.</a:t>
            </a:r>
          </a:p>
        </p:txBody>
      </p:sp>
      <p:sp>
        <p:nvSpPr>
          <p:cNvPr id="9" name="TextBox 8"/>
          <p:cNvSpPr txBox="1"/>
          <p:nvPr/>
        </p:nvSpPr>
        <p:spPr>
          <a:xfrm>
            <a:off x="713232" y="2834640"/>
            <a:ext cx="10762488" cy="731520"/>
          </a:xfrm>
          <a:prstGeom prst="rect">
            <a:avLst/>
          </a:prstGeom>
          <a:noFill/>
        </p:spPr>
        <p:txBody>
          <a:bodyPr wrap="square" anchor="t" lIns="0" rIns="0" tIns="0" bIns="0">
            <a:spAutoFit/>
          </a:bodyPr>
          <a:lstStyle/>
          <a:p>
            <a:pPr algn="l">
              <a:lnSpc>
                <a:spcPct val="130000"/>
              </a:lnSpc>
            </a:pPr>
            <a:r>
              <a:rPr sz="1400" b="0" i="0">
                <a:solidFill>
                  <a:srgbClr val="5A6B7B"/>
                </a:solidFill>
                <a:latin typeface="Arial"/>
              </a:rPr>
              <a:t>La empresa se encuentra en una fase de inversión intensiva por el incremento material de CAPEX asociado a la nueva planta en Polonia. Ha explicitado necesidades de financiación estructurada estimadas en 8–12M EUR, lo que apunta a una ventana inmediata para estructurar financiación de inversión y posibles necesidades operativas ligadas al ramp-up.</a:t>
            </a:r>
          </a:p>
        </p:txBody>
      </p:sp>
      <p:sp>
        <p:nvSpPr>
          <p:cNvPr id="10" name="Rectangle 9"/>
          <p:cNvSpPr/>
          <p:nvPr/>
        </p:nvSpPr>
        <p:spPr>
          <a:xfrm>
            <a:off x="64008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NECESIDADES POTENCIALES</a:t>
            </a:r>
          </a:p>
        </p:txBody>
      </p:sp>
      <p:sp>
        <p:nvSpPr>
          <p:cNvPr id="12" name="TextBox 11"/>
          <p:cNvSpPr txBox="1"/>
          <p:nvPr/>
        </p:nvSpPr>
        <p:spPr>
          <a:xfrm>
            <a:off x="91440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Financiación de CAPEX (deuda/financiación estructurada) para la nueva planta en Polonia por 8–12M EUR.</a:t>
            </a:r>
          </a:p>
          <a:p>
            <a:pPr>
              <a:lnSpc>
                <a:spcPct val="115000"/>
              </a:lnSpc>
              <a:spcAft>
                <a:spcPts val="1000"/>
              </a:spcAft>
            </a:pPr>
            <a:r>
              <a:rPr sz="1300">
                <a:solidFill>
                  <a:srgbClr val="222222"/>
                </a:solidFill>
                <a:latin typeface="Arial"/>
              </a:rPr>
              <a:t>• Estructuración de un paquete de financiación que contemple el periodo de puesta en marcha (gracia, calendario de amortización alineado al ramp-up).</a:t>
            </a:r>
          </a:p>
          <a:p>
            <a:pPr>
              <a:lnSpc>
                <a:spcPct val="115000"/>
              </a:lnSpc>
              <a:spcAft>
                <a:spcPts val="1000"/>
              </a:spcAft>
            </a:pPr>
            <a:r>
              <a:rPr sz="1300">
                <a:solidFill>
                  <a:srgbClr val="222222"/>
                </a:solidFill>
                <a:latin typeface="Arial"/>
              </a:rPr>
              <a:t>• Soporte de circulante asociado al incremento de actividad durante el ramp-up de la nueva capacidad.</a:t>
            </a:r>
          </a:p>
          <a:p>
            <a:pPr>
              <a:lnSpc>
                <a:spcPct val="115000"/>
              </a:lnSpc>
              <a:spcAft>
                <a:spcPts val="1000"/>
              </a:spcAft>
            </a:pPr>
            <a:r>
              <a:rPr sz="1300">
                <a:solidFill>
                  <a:srgbClr val="222222"/>
                </a:solidFill>
                <a:latin typeface="Arial"/>
              </a:rPr>
              <a:t>• Coberturas asociadas a la expansión internacional (p. ej., vinculadas a la financiación y a la operativa internacional), sujeto a confirmar exposición.</a:t>
            </a:r>
          </a:p>
        </p:txBody>
      </p:sp>
      <p:sp>
        <p:nvSpPr>
          <p:cNvPr id="13" name="Rectangle 12"/>
          <p:cNvSpPr/>
          <p:nvPr/>
        </p:nvSpPr>
        <p:spPr>
          <a:xfrm>
            <a:off x="6217920" y="3703320"/>
            <a:ext cx="5349240" cy="269748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977639"/>
            <a:ext cx="4480560" cy="274320"/>
          </a:xfrm>
          <a:prstGeom prst="rect">
            <a:avLst/>
          </a:prstGeom>
          <a:noFill/>
        </p:spPr>
        <p:txBody>
          <a:bodyPr wrap="square" anchor="t" lIns="0" rIns="0" tIns="0" bIns="0">
            <a:spAutoFit/>
          </a:bodyPr>
          <a:lstStyle/>
          <a:p>
            <a:pPr algn="l"/>
            <a:r>
              <a:rPr sz="1200" b="1" i="0">
                <a:solidFill>
                  <a:srgbClr val="FF6600"/>
                </a:solidFill>
                <a:latin typeface="Arial"/>
              </a:rPr>
              <a:t>RIESGOS Y PUNTOS DE ATENCIÓN</a:t>
            </a:r>
          </a:p>
        </p:txBody>
      </p:sp>
      <p:sp>
        <p:nvSpPr>
          <p:cNvPr id="15" name="TextBox 14"/>
          <p:cNvSpPr txBox="1"/>
          <p:nvPr/>
        </p:nvSpPr>
        <p:spPr>
          <a:xfrm>
            <a:off x="6492240" y="4407408"/>
            <a:ext cx="4754880" cy="1737360"/>
          </a:xfrm>
          <a:prstGeom prst="rect">
            <a:avLst/>
          </a:prstGeom>
          <a:noFill/>
        </p:spPr>
        <p:txBody>
          <a:bodyPr wrap="square" lIns="0" rIns="0" tIns="0" bIns="0">
            <a:spAutoFit/>
          </a:bodyPr>
          <a:lstStyle/>
          <a:p>
            <a:pPr>
              <a:lnSpc>
                <a:spcPct val="115000"/>
              </a:lnSpc>
              <a:spcAft>
                <a:spcPts val="1000"/>
              </a:spcAft>
            </a:pPr>
            <a:r>
              <a:rPr sz="1300">
                <a:solidFill>
                  <a:srgbClr val="222222"/>
                </a:solidFill>
                <a:latin typeface="Arial"/>
              </a:rPr>
              <a:t>• Falta de información sobre rentabilidad (EBIT/EBITDA) que impide evaluar márgenes y resiliencia operativa.</a:t>
            </a:r>
          </a:p>
          <a:p>
            <a:pPr>
              <a:lnSpc>
                <a:spcPct val="115000"/>
              </a:lnSpc>
              <a:spcAft>
                <a:spcPts val="1000"/>
              </a:spcAft>
            </a:pPr>
            <a:r>
              <a:rPr sz="1300">
                <a:solidFill>
                  <a:srgbClr val="222222"/>
                </a:solidFill>
                <a:latin typeface="Arial"/>
              </a:rPr>
              <a:t>• Ausencia de datos de endeudamiento actual, estructura de capital y generación de caja, limitando el análisis de apalancamiento y capacidad de repago.</a:t>
            </a:r>
          </a:p>
          <a:p>
            <a:pPr>
              <a:lnSpc>
                <a:spcPct val="115000"/>
              </a:lnSpc>
              <a:spcAft>
                <a:spcPts val="1000"/>
              </a:spcAft>
            </a:pPr>
            <a:r>
              <a:rPr sz="1300">
                <a:solidFill>
                  <a:srgbClr val="222222"/>
                </a:solidFill>
                <a:latin typeface="Arial"/>
              </a:rPr>
              <a:t>• Riesgo de ejecución del proyecto (costes, plazos y ramp-up de la nueva planta) que podría tensionar liquidez y necesidades de financiación.</a:t>
            </a:r>
          </a:p>
          <a:p>
            <a:pPr>
              <a:lnSpc>
                <a:spcPct val="115000"/>
              </a:lnSpc>
              <a:spcAft>
                <a:spcPts val="1000"/>
              </a:spcAft>
            </a:pPr>
            <a:r>
              <a:rPr sz="1300">
                <a:solidFill>
                  <a:srgbClr val="222222"/>
                </a:solidFill>
                <a:latin typeface="Arial"/>
              </a:rPr>
              <a:t>• Posibles mayores necesidades de circulante durante la puesta en marcha que no estén contempladas en el rango 8–12M EUR.</a:t>
            </a:r>
          </a:p>
        </p:txBody>
      </p:sp>
      <p:sp>
        <p:nvSpPr>
          <p:cNvPr id="16" name="TextBox 15"/>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005840"/>
            <a:ext cx="5943600" cy="347472"/>
          </a:xfrm>
          <a:prstGeom prst="rect">
            <a:avLst/>
          </a:prstGeom>
          <a:noFill/>
        </p:spPr>
        <p:txBody>
          <a:bodyPr wrap="square" anchor="t" lIns="0" rIns="0" tIns="0" bIns="0">
            <a:spAutoFit/>
          </a:bodyPr>
          <a:lstStyle/>
          <a:p>
            <a:pPr algn="l"/>
            <a:r>
              <a:rPr sz="2000" b="1" i="0">
                <a:solidFill>
                  <a:srgbClr val="FF6600"/>
                </a:solidFill>
                <a:latin typeface="Arial"/>
              </a:rPr>
              <a:t>ENCAJE Y COMPARABLES</a:t>
            </a:r>
          </a:p>
        </p:txBody>
      </p:sp>
      <p:sp>
        <p:nvSpPr>
          <p:cNvPr id="6" name="Rectangle 5"/>
          <p:cNvSpPr/>
          <p:nvPr/>
        </p:nvSpPr>
        <p:spPr>
          <a:xfrm>
            <a:off x="713232" y="1353312"/>
            <a:ext cx="1828800" cy="19050"/>
          </a:xfrm>
          <a:prstGeom prst="rect">
            <a:avLst/>
          </a:prstGeom>
          <a:solidFill>
            <a:srgbClr val="FF6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27632"/>
            <a:ext cx="10762488" cy="548640"/>
          </a:xfrm>
          <a:prstGeom prst="rect">
            <a:avLst/>
          </a:prstGeom>
          <a:noFill/>
        </p:spPr>
        <p:txBody>
          <a:bodyPr wrap="square" anchor="t" lIns="0" rIns="0" tIns="0" bIns="0">
            <a:spAutoFit/>
          </a:bodyPr>
          <a:lstStyle/>
          <a:p>
            <a:pPr algn="l"/>
            <a:r>
              <a:rPr sz="3000" b="1" i="0">
                <a:solidFill>
                  <a:srgbClr val="222222"/>
                </a:solidFill>
                <a:latin typeface="Arial"/>
              </a:rPr>
              <a:t>Cómo podemos ayudar</a:t>
            </a:r>
          </a:p>
        </p:txBody>
      </p:sp>
      <p:sp>
        <p:nvSpPr>
          <p:cNvPr id="8" name="Rectangle 7"/>
          <p:cNvSpPr/>
          <p:nvPr/>
        </p:nvSpPr>
        <p:spPr>
          <a:xfrm>
            <a:off x="640080" y="2194560"/>
            <a:ext cx="6400800" cy="288036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50592"/>
            <a:ext cx="5852160" cy="228600"/>
          </a:xfrm>
          <a:prstGeom prst="rect">
            <a:avLst/>
          </a:prstGeom>
          <a:noFill/>
        </p:spPr>
        <p:txBody>
          <a:bodyPr wrap="square" anchor="t" lIns="0" rIns="0" tIns="0" bIns="0">
            <a:spAutoFit/>
          </a:bodyPr>
          <a:lstStyle/>
          <a:p>
            <a:pPr algn="l"/>
            <a:r>
              <a:rPr sz="1100" b="1" i="0">
                <a:solidFill>
                  <a:srgbClr val="FF6600"/>
                </a:solidFill>
                <a:latin typeface="Arial"/>
              </a:rPr>
              <a:t>ENCAJE CON PRODUCTOS DEL BANCO</a:t>
            </a:r>
          </a:p>
        </p:txBody>
      </p:sp>
      <p:sp>
        <p:nvSpPr>
          <p:cNvPr id="10" name="TextBox 9"/>
          <p:cNvSpPr txBox="1"/>
          <p:nvPr/>
        </p:nvSpPr>
        <p:spPr>
          <a:xfrm>
            <a:off x="914400" y="2816352"/>
            <a:ext cx="5669280" cy="1920240"/>
          </a:xfrm>
          <a:prstGeom prst="rect">
            <a:avLst/>
          </a:prstGeom>
          <a:noFill/>
        </p:spPr>
        <p:txBody>
          <a:bodyPr wrap="square" lIns="0" rIns="0" tIns="0" bIns="0">
            <a:spAutoFit/>
          </a:bodyPr>
          <a:lstStyle/>
          <a:p>
            <a:pPr>
              <a:lnSpc>
                <a:spcPct val="115000"/>
              </a:lnSpc>
              <a:spcAft>
                <a:spcPts val="1000"/>
              </a:spcAft>
            </a:pPr>
            <a:r>
              <a:rPr sz="1350">
                <a:solidFill>
                  <a:srgbClr val="222222"/>
                </a:solidFill>
                <a:latin typeface="Arial"/>
              </a:rPr>
              <a:t>• Financiación de inversión / deuda a medio-largo plazo para CAPEX (tramos con disposiciones por hitos, periodo de carencia y amortización escalonada)</a:t>
            </a:r>
          </a:p>
          <a:p>
            <a:pPr>
              <a:lnSpc>
                <a:spcPct val="115000"/>
              </a:lnSpc>
              <a:spcAft>
                <a:spcPts val="1000"/>
              </a:spcAft>
            </a:pPr>
            <a:r>
              <a:rPr sz="1350">
                <a:solidFill>
                  <a:srgbClr val="222222"/>
                </a:solidFill>
                <a:latin typeface="Arial"/>
              </a:rPr>
              <a:t>• Financiación de circulante (línea revolvente, confirming/anticipo de facturas, avales y garantías operativas) y coberturas (tipo de interés y divisa) vinculadas a la financiación y a la operativa internacional</a:t>
            </a:r>
          </a:p>
        </p:txBody>
      </p:sp>
      <p:sp>
        <p:nvSpPr>
          <p:cNvPr id="11" name="Rectangle 10"/>
          <p:cNvSpPr/>
          <p:nvPr/>
        </p:nvSpPr>
        <p:spPr>
          <a:xfrm>
            <a:off x="7406640" y="2194560"/>
            <a:ext cx="4160520" cy="3200400"/>
          </a:xfrm>
          <a:prstGeom prst="rect">
            <a:avLst/>
          </a:prstGeom>
          <a:solidFill>
            <a:srgbClr val="F5F5F5"/>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2450592"/>
            <a:ext cx="3566160" cy="228600"/>
          </a:xfrm>
          <a:prstGeom prst="rect">
            <a:avLst/>
          </a:prstGeom>
          <a:noFill/>
        </p:spPr>
        <p:txBody>
          <a:bodyPr wrap="square" anchor="t" lIns="0" rIns="0" tIns="0" bIns="0">
            <a:spAutoFit/>
          </a:bodyPr>
          <a:lstStyle/>
          <a:p>
            <a:pPr algn="l"/>
            <a:r>
              <a:rPr sz="1100" b="1" i="0">
                <a:solidFill>
                  <a:srgbClr val="FF6600"/>
                </a:solidFill>
                <a:latin typeface="Arial"/>
              </a:rPr>
              <a:t>COMPARABLES SECTORIALES</a:t>
            </a:r>
          </a:p>
        </p:txBody>
      </p:sp>
      <p:sp>
        <p:nvSpPr>
          <p:cNvPr id="13" name="TextBox 12"/>
          <p:cNvSpPr txBox="1"/>
          <p:nvPr/>
        </p:nvSpPr>
        <p:spPr>
          <a:xfrm>
            <a:off x="7699248" y="297180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Fabricante europeo de componentes industriales con expansión greenfield en Europa Central (financiación CAPEX + línea de circulante para ramp-up)</a:t>
            </a:r>
          </a:p>
        </p:txBody>
      </p:sp>
      <p:sp>
        <p:nvSpPr>
          <p:cNvPr id="14" name="TextBox 13"/>
          <p:cNvSpPr txBox="1"/>
          <p:nvPr/>
        </p:nvSpPr>
        <p:spPr>
          <a:xfrm>
            <a:off x="7699248" y="4251960"/>
            <a:ext cx="3566160" cy="1371600"/>
          </a:xfrm>
          <a:prstGeom prst="rect">
            <a:avLst/>
          </a:prstGeom>
          <a:noFill/>
        </p:spPr>
        <p:txBody>
          <a:bodyPr wrap="square" anchor="t" lIns="0" rIns="0" tIns="0" bIns="0">
            <a:spAutoFit/>
          </a:bodyPr>
          <a:lstStyle/>
          <a:p>
            <a:pPr algn="l">
              <a:lnSpc>
                <a:spcPct val="130000"/>
              </a:lnSpc>
            </a:pPr>
            <a:r>
              <a:rPr sz="1250" b="0" i="0">
                <a:solidFill>
                  <a:srgbClr val="222222"/>
                </a:solidFill>
                <a:latin typeface="Arial"/>
              </a:rPr>
              <a:t>Proveedor industrial mid-cap con nueva planta y aumento de capacidad (estructura con carencia inicial, covenants de apalancamiento y capex drawdowns)</a:t>
            </a:r>
          </a:p>
        </p:txBody>
      </p:sp>
      <p:sp>
        <p:nvSpPr>
          <p:cNvPr id="15" name="TextBox 14"/>
          <p:cNvSpPr txBox="1"/>
          <p:nvPr/>
        </p:nvSpPr>
        <p:spPr>
          <a:xfrm>
            <a:off x="713232" y="5532120"/>
            <a:ext cx="10762488" cy="228600"/>
          </a:xfrm>
          <a:prstGeom prst="rect">
            <a:avLst/>
          </a:prstGeom>
          <a:noFill/>
        </p:spPr>
        <p:txBody>
          <a:bodyPr wrap="square" anchor="t" lIns="0" rIns="0" tIns="0" bIns="0">
            <a:spAutoFit/>
          </a:bodyPr>
          <a:lstStyle/>
          <a:p>
            <a:pPr algn="l"/>
            <a:r>
              <a:rPr sz="1100" b="1" i="0">
                <a:solidFill>
                  <a:srgbClr val="5A6B7B"/>
                </a:solidFill>
                <a:latin typeface="Arial"/>
              </a:rPr>
              <a:t>ARGUMENTOS DE VALOR</a:t>
            </a:r>
          </a:p>
        </p:txBody>
      </p:sp>
      <p:sp>
        <p:nvSpPr>
          <p:cNvPr id="16" name="Rectangle 15"/>
          <p:cNvSpPr/>
          <p:nvPr/>
        </p:nvSpPr>
        <p:spPr>
          <a:xfrm>
            <a:off x="64008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Estructura a medida del ciclo de inversión: calendario de disposiciones y amortización alineados a hitos de obra, puesta en marcha y ramp-up para minimizar fricción de caja en el periodo crítico.</a:t>
            </a:r>
          </a:p>
        </p:txBody>
      </p:sp>
      <p:sp>
        <p:nvSpPr>
          <p:cNvPr id="18" name="Rectangle 17"/>
          <p:cNvSpPr/>
          <p:nvPr/>
        </p:nvSpPr>
        <p:spPr>
          <a:xfrm>
            <a:off x="443484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3600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Paquete integral CAPEX + circulante: combinación de deuda de inversión y herramientas de working capital para absorber el incremento de necesidades operativas (inventario, proveedores, plazos de cobro) durante el arranque.</a:t>
            </a:r>
          </a:p>
        </p:txBody>
      </p:sp>
      <p:sp>
        <p:nvSpPr>
          <p:cNvPr id="20" name="Rectangle 19"/>
          <p:cNvSpPr/>
          <p:nvPr/>
        </p:nvSpPr>
        <p:spPr>
          <a:xfrm>
            <a:off x="8229600" y="5806440"/>
            <a:ext cx="3520440" cy="914400"/>
          </a:xfrm>
          <a:prstGeom prst="rect">
            <a:avLst/>
          </a:prstGeom>
          <a:solidFill>
            <a:srgbClr val="FFFFFF"/>
          </a:solidFill>
          <a:ln w="1016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8" y="5943600"/>
            <a:ext cx="3118104" cy="566928"/>
          </a:xfrm>
          <a:prstGeom prst="rect">
            <a:avLst/>
          </a:prstGeom>
          <a:noFill/>
        </p:spPr>
        <p:txBody>
          <a:bodyPr wrap="square" anchor="ctr" lIns="0" rIns="0" tIns="0" bIns="0">
            <a:spAutoFit/>
          </a:bodyPr>
          <a:lstStyle/>
          <a:p>
            <a:pPr algn="l">
              <a:lnSpc>
                <a:spcPct val="115000"/>
              </a:lnSpc>
            </a:pPr>
            <a:r>
              <a:rPr sz="1150" b="0" i="0">
                <a:solidFill>
                  <a:srgbClr val="222222"/>
                </a:solidFill>
                <a:latin typeface="Arial"/>
              </a:rPr>
              <a:t>Gestión de riesgos financieros: diseño de covenants y colchones de liquidez acordes al riesgo de ejecución, y propuesta de coberturas de tipo de interés/divisa para estabilizar el coste financiero y la exposición internacional.</a:t>
            </a:r>
          </a:p>
        </p:txBody>
      </p:sp>
      <p:sp>
        <p:nvSpPr>
          <p:cNvPr id="22" name="TextBox 21"/>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narangrande.png"/>
          <p:cNvPicPr>
            <a:picLocks noChangeAspect="1"/>
          </p:cNvPicPr>
          <p:nvPr/>
        </p:nvPicPr>
        <p:blipFill>
          <a:blip r:embed="rId2"/>
          <a:stretch>
            <a:fillRect/>
          </a:stretch>
        </p:blipFill>
        <p:spPr>
          <a:xfrm>
            <a:off x="713232" y="256032"/>
            <a:ext cx="2272986" cy="384048"/>
          </a:xfrm>
          <a:prstGeom prst="rect">
            <a:avLst/>
          </a:prstGeom>
        </p:spPr>
      </p:pic>
      <p:sp>
        <p:nvSpPr>
          <p:cNvPr id="4" name="Rectangle 3"/>
          <p:cNvSpPr/>
          <p:nvPr/>
        </p:nvSpPr>
        <p:spPr>
          <a:xfrm>
            <a:off x="713232" y="804672"/>
            <a:ext cx="10762488" cy="1905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417320"/>
            <a:ext cx="10762488" cy="640080"/>
          </a:xfrm>
          <a:prstGeom prst="rect">
            <a:avLst/>
          </a:prstGeom>
          <a:noFill/>
        </p:spPr>
        <p:txBody>
          <a:bodyPr wrap="square" anchor="t" lIns="0" rIns="0" tIns="0" bIns="0">
            <a:spAutoFit/>
          </a:bodyPr>
          <a:lstStyle/>
          <a:p>
            <a:pPr algn="l"/>
            <a:r>
              <a:rPr sz="3400" b="1" i="0">
                <a:solidFill>
                  <a:srgbClr val="FF6600"/>
                </a:solidFill>
                <a:latin typeface="Arial"/>
              </a:rPr>
              <a:t>Next steps</a:t>
            </a:r>
          </a:p>
        </p:txBody>
      </p:sp>
      <p:sp>
        <p:nvSpPr>
          <p:cNvPr id="6" name="TextBox 5"/>
          <p:cNvSpPr txBox="1"/>
          <p:nvPr/>
        </p:nvSpPr>
        <p:spPr>
          <a:xfrm>
            <a:off x="713232" y="1993392"/>
            <a:ext cx="9784080" cy="640080"/>
          </a:xfrm>
          <a:prstGeom prst="rect">
            <a:avLst/>
          </a:prstGeom>
          <a:noFill/>
        </p:spPr>
        <p:txBody>
          <a:bodyPr wrap="square" anchor="t" lIns="0" rIns="0" tIns="0" bIns="0">
            <a:spAutoFit/>
          </a:bodyPr>
          <a:lstStyle/>
          <a:p>
            <a:pPr algn="l">
              <a:lnSpc>
                <a:spcPct val="130000"/>
              </a:lnSpc>
            </a:pPr>
            <a:r>
              <a:rPr sz="1500" b="0" i="0">
                <a:solidFill>
                  <a:srgbClr val="5A6B7B"/>
                </a:solidFill>
                <a:latin typeface="Arial"/>
              </a:rPr>
              <a:t>El equipo comercial revisa, ajusta y personaliza esta propuesta antes de cualquier interacción con el cliente.</a:t>
            </a:r>
          </a:p>
        </p:txBody>
      </p:sp>
      <p:sp>
        <p:nvSpPr>
          <p:cNvPr id="7" name="TextBox 6"/>
          <p:cNvSpPr txBox="1"/>
          <p:nvPr/>
        </p:nvSpPr>
        <p:spPr>
          <a:xfrm>
            <a:off x="713232" y="2743200"/>
            <a:ext cx="274320" cy="274320"/>
          </a:xfrm>
          <a:prstGeom prst="rect">
            <a:avLst/>
          </a:prstGeom>
          <a:noFill/>
        </p:spPr>
        <p:txBody>
          <a:bodyPr wrap="square" anchor="t" lIns="0" rIns="0" tIns="0" bIns="0">
            <a:spAutoFit/>
          </a:bodyPr>
          <a:lstStyle/>
          <a:p>
            <a:pPr algn="l"/>
            <a:r>
              <a:rPr sz="1700" b="1" i="0">
                <a:solidFill>
                  <a:srgbClr val="FF6600"/>
                </a:solidFill>
                <a:latin typeface="Arial"/>
              </a:rPr>
              <a:t>1.</a:t>
            </a:r>
          </a:p>
        </p:txBody>
      </p:sp>
      <p:sp>
        <p:nvSpPr>
          <p:cNvPr id="8" name="TextBox 7"/>
          <p:cNvSpPr txBox="1"/>
          <p:nvPr/>
        </p:nvSpPr>
        <p:spPr>
          <a:xfrm>
            <a:off x="1060704" y="2743200"/>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Reunión de diagnóstico (60–90 min): confirmar CAPEX total, calendario de desembolsos, hitos, fecha objetivo de SOP/ramp-up y desglose del rango 8–12M EUR (CAPEX vs. circulante).</a:t>
            </a:r>
          </a:p>
        </p:txBody>
      </p:sp>
      <p:sp>
        <p:nvSpPr>
          <p:cNvPr id="9" name="TextBox 8"/>
          <p:cNvSpPr txBox="1"/>
          <p:nvPr/>
        </p:nvSpPr>
        <p:spPr>
          <a:xfrm>
            <a:off x="713232" y="3584448"/>
            <a:ext cx="274320" cy="274320"/>
          </a:xfrm>
          <a:prstGeom prst="rect">
            <a:avLst/>
          </a:prstGeom>
          <a:noFill/>
        </p:spPr>
        <p:txBody>
          <a:bodyPr wrap="square" anchor="t" lIns="0" rIns="0" tIns="0" bIns="0">
            <a:spAutoFit/>
          </a:bodyPr>
          <a:lstStyle/>
          <a:p>
            <a:pPr algn="l"/>
            <a:r>
              <a:rPr sz="1700" b="1" i="0">
                <a:solidFill>
                  <a:srgbClr val="FF6600"/>
                </a:solidFill>
                <a:latin typeface="Arial"/>
              </a:rPr>
              <a:t>2.</a:t>
            </a:r>
          </a:p>
        </p:txBody>
      </p:sp>
      <p:sp>
        <p:nvSpPr>
          <p:cNvPr id="10" name="TextBox 9"/>
          <p:cNvSpPr txBox="1"/>
          <p:nvPr/>
        </p:nvSpPr>
        <p:spPr>
          <a:xfrm>
            <a:off x="1060704" y="3584448"/>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Solicitud de información mínima para estructuración: últimos estados financieros disponibles, EBITDA/EBIT, deuda actual y vencimientos, CapEx plan, previsión de caja 12–24 meses y detalle de clientes/proveedores (plazos).</a:t>
            </a:r>
          </a:p>
        </p:txBody>
      </p:sp>
      <p:sp>
        <p:nvSpPr>
          <p:cNvPr id="11" name="TextBox 10"/>
          <p:cNvSpPr txBox="1"/>
          <p:nvPr/>
        </p:nvSpPr>
        <p:spPr>
          <a:xfrm>
            <a:off x="713232" y="4425696"/>
            <a:ext cx="274320" cy="274320"/>
          </a:xfrm>
          <a:prstGeom prst="rect">
            <a:avLst/>
          </a:prstGeom>
          <a:noFill/>
        </p:spPr>
        <p:txBody>
          <a:bodyPr wrap="square" anchor="t" lIns="0" rIns="0" tIns="0" bIns="0">
            <a:spAutoFit/>
          </a:bodyPr>
          <a:lstStyle/>
          <a:p>
            <a:pPr algn="l"/>
            <a:r>
              <a:rPr sz="1700" b="1" i="0">
                <a:solidFill>
                  <a:srgbClr val="FF6600"/>
                </a:solidFill>
                <a:latin typeface="Arial"/>
              </a:rPr>
              <a:t>3.</a:t>
            </a:r>
          </a:p>
        </p:txBody>
      </p:sp>
      <p:sp>
        <p:nvSpPr>
          <p:cNvPr id="12" name="TextBox 11"/>
          <p:cNvSpPr txBox="1"/>
          <p:nvPr/>
        </p:nvSpPr>
        <p:spPr>
          <a:xfrm>
            <a:off x="1060704" y="4425696"/>
            <a:ext cx="9619488" cy="457200"/>
          </a:xfrm>
          <a:prstGeom prst="rect">
            <a:avLst/>
          </a:prstGeom>
          <a:noFill/>
        </p:spPr>
        <p:txBody>
          <a:bodyPr wrap="square" anchor="t" lIns="0" rIns="0" tIns="0" bIns="0">
            <a:spAutoFit/>
          </a:bodyPr>
          <a:lstStyle/>
          <a:p>
            <a:pPr algn="l">
              <a:lnSpc>
                <a:spcPct val="120000"/>
              </a:lnSpc>
            </a:pPr>
            <a:r>
              <a:rPr sz="1700" b="0" i="0">
                <a:solidFill>
                  <a:srgbClr val="222222"/>
                </a:solidFill>
                <a:latin typeface="Arial"/>
              </a:rPr>
              <a:t>Entrega de propuesta indicativa: alternativas de estructura (plazo, carencia, amortización, garantías, covenants), dimensionamiento de línea de circulante y recomendación preliminar de coberturas; validación conjunta y lanzamiento de ejecución.</a:t>
            </a:r>
          </a:p>
        </p:txBody>
      </p:sp>
      <p:sp>
        <p:nvSpPr>
          <p:cNvPr id="13" name="TextBox 12"/>
          <p:cNvSpPr txBox="1"/>
          <p:nvPr/>
        </p:nvSpPr>
        <p:spPr>
          <a:xfrm>
            <a:off x="713232" y="6400800"/>
            <a:ext cx="8229600" cy="228600"/>
          </a:xfrm>
          <a:prstGeom prst="rect">
            <a:avLst/>
          </a:prstGeom>
          <a:noFill/>
        </p:spPr>
        <p:txBody>
          <a:bodyPr wrap="square" anchor="t" lIns="0" rIns="0" tIns="0" bIns="0">
            <a:spAutoFit/>
          </a:bodyPr>
          <a:lstStyle/>
          <a:p>
            <a:pPr algn="l"/>
            <a:r>
              <a:rPr sz="950" b="0" i="0">
                <a:solidFill>
                  <a:srgbClr val="8A96A3"/>
                </a:solidFill>
                <a:latin typeface="Arial"/>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
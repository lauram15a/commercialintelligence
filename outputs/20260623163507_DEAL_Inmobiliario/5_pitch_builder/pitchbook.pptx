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097280"/>
            <a:ext cx="3840480" cy="3840480"/>
          </a:xfrm>
          <a:prstGeom prst="ellipse">
            <a:avLst/>
          </a:prstGeom>
          <a:solidFill>
            <a:srgbClr val="2E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206240"/>
            <a:ext cx="2377440" cy="237744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640080"/>
            <a:ext cx="18288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INMOBILIARIO</a:t>
            </a:r>
          </a:p>
        </p:txBody>
      </p:sp>
      <p:sp>
        <p:nvSpPr>
          <p:cNvPr id="6" name="TextBox 5"/>
          <p:cNvSpPr txBox="1"/>
          <p:nvPr/>
        </p:nvSpPr>
        <p:spPr>
          <a:xfrm>
            <a:off x="640080" y="2286000"/>
            <a:ext cx="10515600" cy="2194560"/>
          </a:xfrm>
          <a:prstGeom prst="rect">
            <a:avLst/>
          </a:prstGeom>
          <a:noFill/>
        </p:spPr>
        <p:txBody>
          <a:bodyPr wrap="square" anchor="t" lIns="0" rIns="0" tIns="0" bIns="0">
            <a:spAutoFit/>
          </a:bodyPr>
          <a:lstStyle/>
          <a:p>
            <a:pPr algn="l">
              <a:lnSpc>
                <a:spcPct val="108000"/>
              </a:lnSpc>
            </a:pPr>
            <a:r>
              <a:rPr sz="3200" b="1" i="0">
                <a:solidFill>
                  <a:srgbClr val="FFFFFF"/>
                </a:solidFill>
                <a:latin typeface="Cambria"/>
              </a:rPr>
              <a:t>Propuesta comercial | Financiación promotor para Promotora Levante Residencial SL</a:t>
            </a:r>
          </a:p>
        </p:txBody>
      </p:sp>
      <p:sp>
        <p:nvSpPr>
          <p:cNvPr id="7" name="TextBox 6"/>
          <p:cNvSpPr txBox="1"/>
          <p:nvPr/>
        </p:nvSpPr>
        <p:spPr>
          <a:xfrm>
            <a:off x="640080" y="4480560"/>
            <a:ext cx="9875520" cy="914400"/>
          </a:xfrm>
          <a:prstGeom prst="rect">
            <a:avLst/>
          </a:prstGeom>
          <a:noFill/>
        </p:spPr>
        <p:txBody>
          <a:bodyPr wrap="square" anchor="t" lIns="0" rIns="0" tIns="0" bIns="0">
            <a:spAutoFit/>
          </a:bodyPr>
          <a:lstStyle/>
          <a:p>
            <a:pPr algn="l">
              <a:lnSpc>
                <a:spcPct val="125000"/>
              </a:lnSpc>
            </a:pPr>
            <a:r>
              <a:rPr sz="1800" b="0" i="1">
                <a:solidFill>
                  <a:srgbClr val="C9D2E6"/>
                </a:solidFill>
                <a:latin typeface="Calibri"/>
              </a:rPr>
              <a:t>Originación inmediata de deuda de proyecto para dos promociones residenciales 2025 (~18,0 M€ de ingresos estimados) en un proceso de financiación ya en curso</a:t>
            </a:r>
          </a:p>
        </p:txBody>
      </p:sp>
      <p:sp>
        <p:nvSpPr>
          <p:cNvPr id="8" name="TextBox 7"/>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OPORTUNIDAD DETECTADA</a:t>
            </a:r>
          </a:p>
        </p:txBody>
      </p:sp>
      <p:sp>
        <p:nvSpPr>
          <p:cNvPr id="5" name="TextBox 4"/>
          <p:cNvSpPr txBox="1"/>
          <p:nvPr/>
        </p:nvSpPr>
        <p:spPr>
          <a:xfrm>
            <a:off x="640080" y="1371600"/>
            <a:ext cx="6858000" cy="822960"/>
          </a:xfrm>
          <a:prstGeom prst="rect">
            <a:avLst/>
          </a:prstGeom>
          <a:noFill/>
        </p:spPr>
        <p:txBody>
          <a:bodyPr wrap="square" anchor="t" lIns="0" rIns="0" tIns="0" bIns="0">
            <a:spAutoFit/>
          </a:bodyPr>
          <a:lstStyle/>
          <a:p>
            <a:pPr algn="l"/>
            <a:r>
              <a:rPr sz="2800" b="1" i="0">
                <a:solidFill>
                  <a:srgbClr val="222A39"/>
                </a:solidFill>
                <a:latin typeface="Cambria"/>
              </a:rPr>
              <a:t>Promotora Levante Residencial SL</a:t>
            </a:r>
          </a:p>
        </p:txBody>
      </p:sp>
      <p:sp>
        <p:nvSpPr>
          <p:cNvPr id="6" name="TextBox 5"/>
          <p:cNvSpPr txBox="1"/>
          <p:nvPr/>
        </p:nvSpPr>
        <p:spPr>
          <a:xfrm>
            <a:off x="640080" y="2148840"/>
            <a:ext cx="6858000" cy="2468880"/>
          </a:xfrm>
          <a:prstGeom prst="rect">
            <a:avLst/>
          </a:prstGeom>
          <a:noFill/>
        </p:spPr>
        <p:txBody>
          <a:bodyPr wrap="square" anchor="t" lIns="0" rIns="0" tIns="0" bIns="0">
            <a:spAutoFit/>
          </a:bodyPr>
          <a:lstStyle/>
          <a:p>
            <a:pPr algn="l">
              <a:lnSpc>
                <a:spcPct val="135000"/>
              </a:lnSpc>
            </a:pPr>
            <a:r>
              <a:rPr sz="1500" b="0" i="0">
                <a:solidFill>
                  <a:srgbClr val="222A39"/>
                </a:solidFill>
                <a:latin typeface="Calibri"/>
              </a:rPr>
              <a:t>La compañía ha anunciado el lanzamiento de dos promociones residenciales en 2025 y ha manifestado una necesidad explícita de financiación promotor, con búsqueda activa de entidades. Esto sugiere un proceso competitivo en marcha y una ventana inmediata para presentar una propuesta estructurada, acelerar el cierre y capturar la relación como entidad financiadora de referencia. La oportunidad se centra en estructurar deuda por proyecto con garantías adecuadas, calendario de disposiciones alineado a obra y condiciones vinculadas a hitos de preventas y presupuesto.</a:t>
            </a:r>
          </a:p>
        </p:txBody>
      </p:sp>
      <p:sp>
        <p:nvSpPr>
          <p:cNvPr id="7" name="TextBox 6"/>
          <p:cNvSpPr txBox="1"/>
          <p:nvPr/>
        </p:nvSpPr>
        <p:spPr>
          <a:xfrm>
            <a:off x="640080" y="5212080"/>
            <a:ext cx="6858000" cy="365760"/>
          </a:xfrm>
          <a:prstGeom prst="rect">
            <a:avLst/>
          </a:prstGeom>
          <a:noFill/>
        </p:spPr>
        <p:txBody>
          <a:bodyPr wrap="square" anchor="t" lIns="0" rIns="0" tIns="0" bIns="0">
            <a:spAutoFit/>
          </a:bodyPr>
          <a:lstStyle/>
          <a:p>
            <a:pPr algn="l"/>
            <a:r>
              <a:rPr sz="1100" b="1" i="0">
                <a:solidFill>
                  <a:srgbClr val="6B7385"/>
                </a:solidFill>
                <a:latin typeface="Calibri"/>
              </a:rPr>
              <a:t>PRÓXIMA ACCIÓN</a:t>
            </a:r>
          </a:p>
        </p:txBody>
      </p:sp>
      <p:sp>
        <p:nvSpPr>
          <p:cNvPr id="8" name="TextBox 7"/>
          <p:cNvSpPr txBox="1"/>
          <p:nvPr/>
        </p:nvSpPr>
        <p:spPr>
          <a:xfrm>
            <a:off x="640080" y="5532120"/>
            <a:ext cx="6858000" cy="914400"/>
          </a:xfrm>
          <a:prstGeom prst="rect">
            <a:avLst/>
          </a:prstGeom>
          <a:noFill/>
        </p:spPr>
        <p:txBody>
          <a:bodyPr wrap="square" anchor="t" lIns="0" rIns="0" tIns="0" bIns="0">
            <a:spAutoFit/>
          </a:bodyPr>
          <a:lstStyle/>
          <a:p>
            <a:pPr algn="l">
              <a:lnSpc>
                <a:spcPct val="125000"/>
              </a:lnSpc>
            </a:pPr>
            <a:r>
              <a:rPr sz="1400" b="0" i="1">
                <a:solidFill>
                  <a:srgbClr val="1B2A4A"/>
                </a:solidFill>
                <a:latin typeface="Calibri"/>
              </a:rPr>
              <a:t>Reunión de 60–90 minutos para confirmar parámetros de las 2 promociones: ubicación, tipología, calendario, presupuesto total, estrategia comercial y objetivo/estado de preventas.</a:t>
            </a:r>
          </a:p>
        </p:txBody>
      </p:sp>
      <p:sp>
        <p:nvSpPr>
          <p:cNvPr id="9" name="Rounded Rectangle 8"/>
          <p:cNvSpPr/>
          <p:nvPr/>
        </p:nvSpPr>
        <p:spPr>
          <a:xfrm>
            <a:off x="7863840" y="1371600"/>
            <a:ext cx="3657600" cy="484632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91640"/>
            <a:ext cx="3017520" cy="365760"/>
          </a:xfrm>
          <a:prstGeom prst="rect">
            <a:avLst/>
          </a:prstGeom>
          <a:noFill/>
        </p:spPr>
        <p:txBody>
          <a:bodyPr wrap="square" anchor="t" lIns="0" rIns="0" tIns="0" bIns="0">
            <a:spAutoFit/>
          </a:bodyPr>
          <a:lstStyle/>
          <a:p>
            <a:pPr algn="l"/>
            <a:r>
              <a:rPr sz="1100" b="1" i="0">
                <a:solidFill>
                  <a:srgbClr val="6B7385"/>
                </a:solidFill>
                <a:latin typeface="Calibri"/>
              </a:rPr>
              <a:t>EN UNA CIFRA</a:t>
            </a:r>
          </a:p>
        </p:txBody>
      </p:sp>
      <p:sp>
        <p:nvSpPr>
          <p:cNvPr id="11" name="TextBox 10"/>
          <p:cNvSpPr txBox="1"/>
          <p:nvPr/>
        </p:nvSpPr>
        <p:spPr>
          <a:xfrm>
            <a:off x="8229600" y="2057400"/>
            <a:ext cx="3017520" cy="914400"/>
          </a:xfrm>
          <a:prstGeom prst="rect">
            <a:avLst/>
          </a:prstGeom>
          <a:noFill/>
        </p:spPr>
        <p:txBody>
          <a:bodyPr wrap="square" anchor="t" lIns="0" rIns="0" tIns="0" bIns="0">
            <a:spAutoFit/>
          </a:bodyPr>
          <a:lstStyle/>
          <a:p>
            <a:pPr algn="l">
              <a:lnSpc>
                <a:spcPct val="100000"/>
              </a:lnSpc>
            </a:pPr>
            <a:r>
              <a:rPr sz="4800" b="1" i="0">
                <a:solidFill>
                  <a:srgbClr val="C97B4A"/>
                </a:solidFill>
                <a:latin typeface="Cambria"/>
              </a:rPr>
              <a:t>2</a:t>
            </a:r>
          </a:p>
        </p:txBody>
      </p:sp>
      <p:sp>
        <p:nvSpPr>
          <p:cNvPr id="12" name="TextBox 11"/>
          <p:cNvSpPr txBox="1"/>
          <p:nvPr/>
        </p:nvSpPr>
        <p:spPr>
          <a:xfrm>
            <a:off x="8229600" y="3063240"/>
            <a:ext cx="3017520" cy="731520"/>
          </a:xfrm>
          <a:prstGeom prst="rect">
            <a:avLst/>
          </a:prstGeom>
          <a:noFill/>
        </p:spPr>
        <p:txBody>
          <a:bodyPr wrap="square" anchor="t" lIns="0" rIns="0" tIns="0" bIns="0">
            <a:spAutoFit/>
          </a:bodyPr>
          <a:lstStyle/>
          <a:p>
            <a:pPr algn="l">
              <a:lnSpc>
                <a:spcPct val="120000"/>
              </a:lnSpc>
            </a:pPr>
            <a:r>
              <a:rPr sz="1300" b="0" i="0">
                <a:solidFill>
                  <a:srgbClr val="6B7385"/>
                </a:solidFill>
                <a:latin typeface="Calibri"/>
              </a:rPr>
              <a:t>Promociones residenciales lanzadas (2025)</a:t>
            </a:r>
          </a:p>
        </p:txBody>
      </p:sp>
      <p:sp>
        <p:nvSpPr>
          <p:cNvPr id="13" name="TextBox 12"/>
          <p:cNvSpPr txBox="1"/>
          <p:nvPr/>
        </p:nvSpPr>
        <p:spPr>
          <a:xfrm>
            <a:off x="8229600" y="4023360"/>
            <a:ext cx="3017520" cy="365760"/>
          </a:xfrm>
          <a:prstGeom prst="rect">
            <a:avLst/>
          </a:prstGeom>
          <a:noFill/>
        </p:spPr>
        <p:txBody>
          <a:bodyPr wrap="square" anchor="t" lIns="0" rIns="0" tIns="0" bIns="0">
            <a:spAutoFit/>
          </a:bodyPr>
          <a:lstStyle/>
          <a:p>
            <a:pPr algn="l"/>
            <a:r>
              <a:rPr sz="1100" b="1" i="0">
                <a:solidFill>
                  <a:srgbClr val="6B7385"/>
                </a:solidFill>
                <a:latin typeface="Calibri"/>
              </a:rPr>
              <a:t>SECTOR</a:t>
            </a:r>
          </a:p>
        </p:txBody>
      </p:sp>
      <p:sp>
        <p:nvSpPr>
          <p:cNvPr id="14" name="TextBox 13"/>
          <p:cNvSpPr txBox="1"/>
          <p:nvPr/>
        </p:nvSpPr>
        <p:spPr>
          <a:xfrm>
            <a:off x="8229600" y="4297680"/>
            <a:ext cx="3017520" cy="457200"/>
          </a:xfrm>
          <a:prstGeom prst="rect">
            <a:avLst/>
          </a:prstGeom>
          <a:noFill/>
        </p:spPr>
        <p:txBody>
          <a:bodyPr wrap="square" anchor="t" lIns="0" rIns="0" tIns="0" bIns="0">
            <a:spAutoFit/>
          </a:bodyPr>
          <a:lstStyle/>
          <a:p>
            <a:pPr algn="l"/>
            <a:r>
              <a:rPr sz="1600" b="1" i="0">
                <a:solidFill>
                  <a:srgbClr val="222A39"/>
                </a:solidFill>
                <a:latin typeface="Cambria"/>
              </a:rPr>
              <a:t>Inmobiliario</a:t>
            </a:r>
          </a:p>
        </p:txBody>
      </p:sp>
      <p:sp>
        <p:nvSpPr>
          <p:cNvPr id="15" name="TextBox 14"/>
          <p:cNvSpPr txBox="1"/>
          <p:nvPr/>
        </p:nvSpPr>
        <p:spPr>
          <a:xfrm>
            <a:off x="8229600" y="4937760"/>
            <a:ext cx="3017520" cy="365760"/>
          </a:xfrm>
          <a:prstGeom prst="rect">
            <a:avLst/>
          </a:prstGeom>
          <a:noFill/>
        </p:spPr>
        <p:txBody>
          <a:bodyPr wrap="square" anchor="t" lIns="0" rIns="0" tIns="0" bIns="0">
            <a:spAutoFit/>
          </a:bodyPr>
          <a:lstStyle/>
          <a:p>
            <a:pPr algn="l"/>
            <a:r>
              <a:rPr sz="1100" b="1" i="0">
                <a:solidFill>
                  <a:srgbClr val="6B7385"/>
                </a:solidFill>
                <a:latin typeface="Calibri"/>
              </a:rPr>
              <a:t>PRIORIDAD</a:t>
            </a:r>
          </a:p>
        </p:txBody>
      </p:sp>
      <p:sp>
        <p:nvSpPr>
          <p:cNvPr id="16" name="Rounded Rectangle 15"/>
          <p:cNvSpPr/>
          <p:nvPr/>
        </p:nvSpPr>
        <p:spPr>
          <a:xfrm>
            <a:off x="8229600" y="5212080"/>
            <a:ext cx="13716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ALTA</a:t>
            </a:r>
          </a:p>
        </p:txBody>
      </p:sp>
      <p:sp>
        <p:nvSpPr>
          <p:cNvPr id="17" name="TextBox 16"/>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CONTEXTO FINANCIERO</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Lo que dicen los números</a:t>
            </a:r>
          </a:p>
        </p:txBody>
      </p:sp>
      <p:sp>
        <p:nvSpPr>
          <p:cNvPr id="6" name="Rounded Rectangle 5"/>
          <p:cNvSpPr/>
          <p:nvPr/>
        </p:nvSpPr>
        <p:spPr>
          <a:xfrm>
            <a:off x="64008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2</a:t>
            </a:r>
          </a:p>
        </p:txBody>
      </p:sp>
      <p:sp>
        <p:nvSpPr>
          <p:cNvPr id="8" name="TextBox 7"/>
          <p:cNvSpPr txBox="1"/>
          <p:nvPr/>
        </p:nvSpPr>
        <p:spPr>
          <a:xfrm>
            <a:off x="91440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Promociones residenciales lanzadas (2025)</a:t>
            </a:r>
          </a:p>
        </p:txBody>
      </p:sp>
      <p:sp>
        <p:nvSpPr>
          <p:cNvPr id="9" name="Rounded Rectangle 8"/>
          <p:cNvSpPr/>
          <p:nvPr/>
        </p:nvSpPr>
        <p:spPr>
          <a:xfrm>
            <a:off x="443484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~18,0 M€</a:t>
            </a:r>
          </a:p>
        </p:txBody>
      </p:sp>
      <p:sp>
        <p:nvSpPr>
          <p:cNvPr id="11" name="TextBox 10"/>
          <p:cNvSpPr txBox="1"/>
          <p:nvPr/>
        </p:nvSpPr>
        <p:spPr>
          <a:xfrm>
            <a:off x="470916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Ingresos estimados asociados a lanzamientos 2025</a:t>
            </a:r>
          </a:p>
        </p:txBody>
      </p:sp>
      <p:sp>
        <p:nvSpPr>
          <p:cNvPr id="12" name="TextBox 11"/>
          <p:cNvSpPr txBox="1"/>
          <p:nvPr/>
        </p:nvSpPr>
        <p:spPr>
          <a:xfrm>
            <a:off x="640080" y="4754880"/>
            <a:ext cx="5303520" cy="365760"/>
          </a:xfrm>
          <a:prstGeom prst="rect">
            <a:avLst/>
          </a:prstGeom>
          <a:noFill/>
        </p:spPr>
        <p:txBody>
          <a:bodyPr wrap="square" anchor="t" lIns="0" rIns="0" tIns="0" bIns="0">
            <a:spAutoFit/>
          </a:bodyPr>
          <a:lstStyle/>
          <a:p>
            <a:pPr algn="l"/>
            <a:r>
              <a:rPr sz="1100" b="1" i="0">
                <a:solidFill>
                  <a:srgbClr val="6B7385"/>
                </a:solidFill>
                <a:latin typeface="Calibri"/>
              </a:rPr>
              <a:t>TENDENCIAS ESTRUCTURALES</a:t>
            </a:r>
          </a:p>
        </p:txBody>
      </p:sp>
      <p:sp>
        <p:nvSpPr>
          <p:cNvPr id="13" name="TextBox 12"/>
          <p:cNvSpPr txBox="1"/>
          <p:nvPr/>
        </p:nvSpPr>
        <p:spPr>
          <a:xfrm>
            <a:off x="640080" y="5120640"/>
            <a:ext cx="5303520" cy="1463040"/>
          </a:xfrm>
          <a:prstGeom prst="rect">
            <a:avLst/>
          </a:prstGeom>
          <a:noFill/>
        </p:spPr>
        <p:txBody>
          <a:bodyPr wrap="square" lIns="0" rIns="0" tIns="0" bIns="0">
            <a:spAutoFit/>
          </a:bodyPr>
          <a:lstStyle/>
          <a:p>
            <a:pPr>
              <a:lnSpc>
                <a:spcPct val="115000"/>
              </a:lnSpc>
              <a:spcAft>
                <a:spcPts val="600"/>
              </a:spcAft>
            </a:pPr>
            <a:r>
              <a:rPr sz="1300">
                <a:solidFill>
                  <a:srgbClr val="222A39"/>
                </a:solidFill>
                <a:latin typeface="Calibri"/>
              </a:rPr>
              <a:t>—  Expansión del pipeline vía nuevos desarrollos residenciales con foco en 2025.</a:t>
            </a:r>
          </a:p>
          <a:p>
            <a:pPr>
              <a:lnSpc>
                <a:spcPct val="115000"/>
              </a:lnSpc>
              <a:spcAft>
                <a:spcPts val="600"/>
              </a:spcAft>
            </a:pPr>
            <a:r>
              <a:rPr sz="1300">
                <a:solidFill>
                  <a:srgbClr val="222A39"/>
                </a:solidFill>
                <a:latin typeface="Calibri"/>
              </a:rPr>
              <a:t>—  Mayor consumo de caja por inversión en suelo, construcción y comercialización ligado al inicio de promociones.</a:t>
            </a:r>
          </a:p>
          <a:p>
            <a:pPr>
              <a:lnSpc>
                <a:spcPct val="115000"/>
              </a:lnSpc>
              <a:spcAft>
                <a:spcPts val="600"/>
              </a:spcAft>
            </a:pPr>
            <a:r>
              <a:rPr sz="1300">
                <a:solidFill>
                  <a:srgbClr val="222A39"/>
                </a:solidFill>
                <a:latin typeface="Calibri"/>
              </a:rPr>
              <a:t>—  Financiación del crecimiento previsiblemente vía deuda promotor y estructura de garantías por proyecto.</a:t>
            </a:r>
          </a:p>
        </p:txBody>
      </p:sp>
      <p:sp>
        <p:nvSpPr>
          <p:cNvPr id="14" name="Rounded Rectangle 13"/>
          <p:cNvSpPr/>
          <p:nvPr/>
        </p:nvSpPr>
        <p:spPr>
          <a:xfrm>
            <a:off x="6263640" y="4754880"/>
            <a:ext cx="5257800" cy="1737360"/>
          </a:xfrm>
          <a:prstGeom prst="roundRect">
            <a:avLst>
              <a:gd name="adj" fmla="val 6000"/>
            </a:avLst>
          </a:prstGeom>
          <a:solidFill>
            <a:srgbClr val="1B2A4A"/>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956048"/>
            <a:ext cx="4663440" cy="365760"/>
          </a:xfrm>
          <a:prstGeom prst="rect">
            <a:avLst/>
          </a:prstGeom>
          <a:noFill/>
        </p:spPr>
        <p:txBody>
          <a:bodyPr wrap="square" anchor="t" lIns="0" rIns="0" tIns="0" bIns="0">
            <a:spAutoFit/>
          </a:bodyPr>
          <a:lstStyle/>
          <a:p>
            <a:pPr algn="l"/>
            <a:r>
              <a:rPr sz="1100" b="1" i="0">
                <a:solidFill>
                  <a:srgbClr val="C9D2E6"/>
                </a:solidFill>
                <a:latin typeface="Calibri"/>
              </a:rPr>
              <a:t>INTERPRETACIÓN</a:t>
            </a:r>
          </a:p>
        </p:txBody>
      </p:sp>
      <p:sp>
        <p:nvSpPr>
          <p:cNvPr id="16" name="TextBox 15"/>
          <p:cNvSpPr txBox="1"/>
          <p:nvPr/>
        </p:nvSpPr>
        <p:spPr>
          <a:xfrm>
            <a:off x="6583680" y="5303520"/>
            <a:ext cx="4663440" cy="1097280"/>
          </a:xfrm>
          <a:prstGeom prst="rect">
            <a:avLst/>
          </a:prstGeom>
          <a:noFill/>
        </p:spPr>
        <p:txBody>
          <a:bodyPr wrap="square" anchor="t" lIns="0" rIns="0" tIns="0" bIns="0">
            <a:spAutoFit/>
          </a:bodyPr>
          <a:lstStyle/>
          <a:p>
            <a:pPr algn="l">
              <a:lnSpc>
                <a:spcPct val="125000"/>
              </a:lnSpc>
            </a:pPr>
            <a:r>
              <a:rPr sz="1300" b="0" i="1">
                <a:solidFill>
                  <a:srgbClr val="FFFFFF"/>
                </a:solidFill>
                <a:latin typeface="Calibri"/>
              </a:rPr>
              <a:t>La información disponible apunta a una fase de crecimiento/inversión impulsada por el lanzamiento de dos promociones en 2025 con ~18,0 M€ de ingresos estimados, pero sin históricos ni márgenes no puede evaluarse la rentabilidad ni la calidad del crecimiento. El arranque de promociones sugiere un incremento relevante de necesidades de caja y, por tanto, una necesidad inmediata de financiación de proyecto. La búsqueda activa de entidades para financiación promotor indica un probable aumento del apalancamiento para ejecutar el pipeline 2025, sujeto a análisis de preventas, costes y garantías.</a:t>
            </a:r>
          </a:p>
        </p:txBody>
      </p:sp>
      <p:sp>
        <p:nvSpPr>
          <p:cNvPr id="17" name="TextBox 16"/>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BRIEFING DE CLIENTE</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Perfil y situación actual</a:t>
            </a:r>
          </a:p>
        </p:txBody>
      </p:sp>
      <p:sp>
        <p:nvSpPr>
          <p:cNvPr id="6" name="TextBox 5"/>
          <p:cNvSpPr txBox="1"/>
          <p:nvPr/>
        </p:nvSpPr>
        <p:spPr>
          <a:xfrm>
            <a:off x="640080" y="2148840"/>
            <a:ext cx="10881360" cy="822960"/>
          </a:xfrm>
          <a:prstGeom prst="rect">
            <a:avLst/>
          </a:prstGeom>
          <a:noFill/>
        </p:spPr>
        <p:txBody>
          <a:bodyPr wrap="square" anchor="t" lIns="0" rIns="0" tIns="0" bIns="0">
            <a:spAutoFit/>
          </a:bodyPr>
          <a:lstStyle/>
          <a:p>
            <a:pPr algn="l">
              <a:lnSpc>
                <a:spcPct val="130000"/>
              </a:lnSpc>
            </a:pPr>
            <a:r>
              <a:rPr sz="1400" b="0" i="0">
                <a:solidFill>
                  <a:srgbClr val="222A39"/>
                </a:solidFill>
                <a:latin typeface="Calibri"/>
              </a:rPr>
              <a:t>Promotora Levante Residencial SL es una compañía del sector inmobiliario enfocada en promoción residencial. La información disponible la sitúa en una fase de expansión del pipeline con lanzamientos previstos para 2025.</a:t>
            </a:r>
          </a:p>
        </p:txBody>
      </p:sp>
      <p:sp>
        <p:nvSpPr>
          <p:cNvPr id="7" name="TextBox 6"/>
          <p:cNvSpPr txBox="1"/>
          <p:nvPr/>
        </p:nvSpPr>
        <p:spPr>
          <a:xfrm>
            <a:off x="640080" y="2880360"/>
            <a:ext cx="10881360" cy="822960"/>
          </a:xfrm>
          <a:prstGeom prst="rect">
            <a:avLst/>
          </a:prstGeom>
          <a:noFill/>
        </p:spPr>
        <p:txBody>
          <a:bodyPr wrap="square" anchor="t" lIns="0" rIns="0" tIns="0" bIns="0">
            <a:spAutoFit/>
          </a:bodyPr>
          <a:lstStyle/>
          <a:p>
            <a:pPr algn="l">
              <a:lnSpc>
                <a:spcPct val="130000"/>
              </a:lnSpc>
            </a:pPr>
            <a:r>
              <a:rPr sz="1400" b="0" i="1">
                <a:solidFill>
                  <a:srgbClr val="6B7385"/>
                </a:solidFill>
                <a:latin typeface="Calibri"/>
              </a:rPr>
              <a:t>Ha anunciado el lanzamiento de dos promociones residenciales en 2025 con ingresos estimados asociados de ~18,0 M€. Existe una necesidad explícita de financiación promotor y una búsqueda activa de entidades, lo que sugiere un proceso de financiación en curso y una ventana inmediata para originación.</a:t>
            </a:r>
          </a:p>
        </p:txBody>
      </p:sp>
      <p:sp>
        <p:nvSpPr>
          <p:cNvPr id="8" name="Rounded Rectangle 7"/>
          <p:cNvSpPr/>
          <p:nvPr/>
        </p:nvSpPr>
        <p:spPr>
          <a:xfrm>
            <a:off x="640080" y="3794760"/>
            <a:ext cx="5349240" cy="269748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4069080"/>
            <a:ext cx="384048" cy="38404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0" name="TextBox 9"/>
          <p:cNvSpPr txBox="1"/>
          <p:nvPr/>
        </p:nvSpPr>
        <p:spPr>
          <a:xfrm>
            <a:off x="146304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NECESIDADES POTENCIALES</a:t>
            </a:r>
          </a:p>
        </p:txBody>
      </p:sp>
      <p:sp>
        <p:nvSpPr>
          <p:cNvPr id="11" name="TextBox 10"/>
          <p:cNvSpPr txBox="1"/>
          <p:nvPr/>
        </p:nvSpPr>
        <p:spPr>
          <a:xfrm>
            <a:off x="91440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Financiación promotor por proyecto para cubrir inversión en suelo, construcción y gastos de comercialización ligados a las promociones 2025.</a:t>
            </a:r>
          </a:p>
          <a:p>
            <a:pPr>
              <a:lnSpc>
                <a:spcPct val="115000"/>
              </a:lnSpc>
              <a:spcAft>
                <a:spcPts val="800"/>
              </a:spcAft>
            </a:pPr>
            <a:r>
              <a:rPr sz="1300">
                <a:solidFill>
                  <a:srgbClr val="222A39"/>
                </a:solidFill>
                <a:latin typeface="Calibri"/>
              </a:rPr>
              <a:t>—  Estructuración de deuda con garantías por proyecto (p. ej., sobre activo/flujo del desarrollo) acorde al calendario de obra y ventas.</a:t>
            </a:r>
          </a:p>
          <a:p>
            <a:pPr>
              <a:lnSpc>
                <a:spcPct val="115000"/>
              </a:lnSpc>
              <a:spcAft>
                <a:spcPts val="800"/>
              </a:spcAft>
            </a:pPr>
            <a:r>
              <a:rPr sz="1300">
                <a:solidFill>
                  <a:srgbClr val="222A39"/>
                </a:solidFill>
                <a:latin typeface="Calibri"/>
              </a:rPr>
              <a:t>—  Acompañamiento en definición de hitos/condiciones típicas (p. ej., preventas, presupuesto de obra, calendario de disposiciones) para cerrar financiación en plazo.</a:t>
            </a:r>
          </a:p>
        </p:txBody>
      </p:sp>
      <p:sp>
        <p:nvSpPr>
          <p:cNvPr id="12" name="Rounded Rectangle 11"/>
          <p:cNvSpPr/>
          <p:nvPr/>
        </p:nvSpPr>
        <p:spPr>
          <a:xfrm>
            <a:off x="6217920" y="3794760"/>
            <a:ext cx="5349240" cy="2697480"/>
          </a:xfrm>
          <a:prstGeom prst="roundRect">
            <a:avLst>
              <a:gd name="adj" fmla="val 6000"/>
            </a:avLst>
          </a:prstGeom>
          <a:solidFill>
            <a:srgbClr val="FFFFFF"/>
          </a:solidFill>
          <a:ln w="9525">
            <a:solidFill>
              <a:srgbClr val="DDD2BE"/>
            </a:solid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92240" y="4069080"/>
            <a:ext cx="384048" cy="384048"/>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4" name="TextBox 13"/>
          <p:cNvSpPr txBox="1"/>
          <p:nvPr/>
        </p:nvSpPr>
        <p:spPr>
          <a:xfrm>
            <a:off x="704088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RIESGOS Y PUNTOS DE ATENCIÓN</a:t>
            </a:r>
          </a:p>
        </p:txBody>
      </p:sp>
      <p:sp>
        <p:nvSpPr>
          <p:cNvPr id="15" name="TextBox 14"/>
          <p:cNvSpPr txBox="1"/>
          <p:nvPr/>
        </p:nvSpPr>
        <p:spPr>
          <a:xfrm>
            <a:off x="649224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Falta de históricos financieros y ausencia de datos de márgenes (EBITDA/resultado de explotación), lo que limita evaluar rentabilidad y resiliencia.</a:t>
            </a:r>
          </a:p>
          <a:p>
            <a:pPr>
              <a:lnSpc>
                <a:spcPct val="115000"/>
              </a:lnSpc>
              <a:spcAft>
                <a:spcPts val="800"/>
              </a:spcAft>
            </a:pPr>
            <a:r>
              <a:rPr sz="1300">
                <a:solidFill>
                  <a:srgbClr val="222A39"/>
                </a:solidFill>
                <a:latin typeface="Calibri"/>
              </a:rPr>
              <a:t>—  No se dispone de información sobre endeudamiento actual; la nueva financiación podría elevar el apalancamiento de forma relevante.</a:t>
            </a:r>
          </a:p>
          <a:p>
            <a:pPr>
              <a:lnSpc>
                <a:spcPct val="115000"/>
              </a:lnSpc>
              <a:spcAft>
                <a:spcPts val="800"/>
              </a:spcAft>
            </a:pPr>
            <a:r>
              <a:rPr sz="1300">
                <a:solidFill>
                  <a:srgbClr val="222A39"/>
                </a:solidFill>
                <a:latin typeface="Calibri"/>
              </a:rPr>
              <a:t>—  Riesgo de ejecución de promociones (costes de obra, plazos, comercialización) y de consumo de caja elevado durante el arranque del proyecto.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ENCAJE Y COMPARABLES</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Cómo podemos ayudar</a:t>
            </a:r>
          </a:p>
        </p:txBody>
      </p:sp>
      <p:sp>
        <p:nvSpPr>
          <p:cNvPr id="6" name="TextBox 5"/>
          <p:cNvSpPr txBox="1"/>
          <p:nvPr/>
        </p:nvSpPr>
        <p:spPr>
          <a:xfrm>
            <a:off x="640080" y="2240280"/>
            <a:ext cx="6400800" cy="365760"/>
          </a:xfrm>
          <a:prstGeom prst="rect">
            <a:avLst/>
          </a:prstGeom>
          <a:noFill/>
        </p:spPr>
        <p:txBody>
          <a:bodyPr wrap="square" anchor="t" lIns="0" rIns="0" tIns="0" bIns="0">
            <a:spAutoFit/>
          </a:bodyPr>
          <a:lstStyle/>
          <a:p>
            <a:pPr algn="l"/>
            <a:r>
              <a:rPr sz="1100" b="1" i="0">
                <a:solidFill>
                  <a:srgbClr val="6B7385"/>
                </a:solidFill>
                <a:latin typeface="Calibri"/>
              </a:rPr>
              <a:t>ENCAJE CON PRODUCTOS DEL BANCO</a:t>
            </a:r>
          </a:p>
        </p:txBody>
      </p:sp>
      <p:sp>
        <p:nvSpPr>
          <p:cNvPr id="7" name="Oval 6"/>
          <p:cNvSpPr/>
          <p:nvPr/>
        </p:nvSpPr>
        <p:spPr>
          <a:xfrm>
            <a:off x="640080" y="2651760"/>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188720" y="2651760"/>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Financiación promotor (deuda senior por proyecto) con disposiciones contra certificaciones de obra y repago vía entregas/ventas</a:t>
            </a:r>
          </a:p>
        </p:txBody>
      </p:sp>
      <p:sp>
        <p:nvSpPr>
          <p:cNvPr id="9" name="Oval 8"/>
          <p:cNvSpPr/>
          <p:nvPr/>
        </p:nvSpPr>
        <p:spPr>
          <a:xfrm>
            <a:off x="640080" y="3310128"/>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1188720" y="3310128"/>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Líneas complementarias de circulante y avales vinculados a la ejecución (p. ej., garantías técnicas/contractuales) y gestión de cobros de preventas</a:t>
            </a:r>
          </a:p>
        </p:txBody>
      </p:sp>
      <p:sp>
        <p:nvSpPr>
          <p:cNvPr id="11" name="Rounded Rectangle 10"/>
          <p:cNvSpPr/>
          <p:nvPr/>
        </p:nvSpPr>
        <p:spPr>
          <a:xfrm>
            <a:off x="7406640" y="2240280"/>
            <a:ext cx="4160520" cy="320040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514600"/>
            <a:ext cx="3566160" cy="365760"/>
          </a:xfrm>
          <a:prstGeom prst="rect">
            <a:avLst/>
          </a:prstGeom>
          <a:noFill/>
        </p:spPr>
        <p:txBody>
          <a:bodyPr wrap="square" anchor="t" lIns="0" rIns="0" tIns="0" bIns="0">
            <a:spAutoFit/>
          </a:bodyPr>
          <a:lstStyle/>
          <a:p>
            <a:pPr algn="l"/>
            <a:r>
              <a:rPr sz="1100" b="1" i="0">
                <a:solidFill>
                  <a:srgbClr val="6B7385"/>
                </a:solidFill>
                <a:latin typeface="Calibri"/>
              </a:rPr>
              <a:t>COMPARABLES SECTORIALES</a:t>
            </a:r>
          </a:p>
        </p:txBody>
      </p:sp>
      <p:sp>
        <p:nvSpPr>
          <p:cNvPr id="13" name="TextBox 12"/>
          <p:cNvSpPr txBox="1"/>
          <p:nvPr/>
        </p:nvSpPr>
        <p:spPr>
          <a:xfrm>
            <a:off x="7726679" y="297180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Promotoras residenciales regionales con financiación por proyecto (SPV) y repago por ventas</a:t>
            </a:r>
          </a:p>
        </p:txBody>
      </p:sp>
      <p:sp>
        <p:nvSpPr>
          <p:cNvPr id="14" name="TextBox 13"/>
          <p:cNvSpPr txBox="1"/>
          <p:nvPr/>
        </p:nvSpPr>
        <p:spPr>
          <a:xfrm>
            <a:off x="7726679" y="425196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Desarrollos residenciales de tamaño medio (ticket ~10–25 M€ de ingresos) con estructura de deuda senior y hitos de preventas</a:t>
            </a:r>
          </a:p>
        </p:txBody>
      </p:sp>
      <p:sp>
        <p:nvSpPr>
          <p:cNvPr id="15" name="TextBox 14"/>
          <p:cNvSpPr txBox="1"/>
          <p:nvPr/>
        </p:nvSpPr>
        <p:spPr>
          <a:xfrm>
            <a:off x="640080" y="5440680"/>
            <a:ext cx="10881360" cy="365760"/>
          </a:xfrm>
          <a:prstGeom prst="rect">
            <a:avLst/>
          </a:prstGeom>
          <a:noFill/>
        </p:spPr>
        <p:txBody>
          <a:bodyPr wrap="square" anchor="t" lIns="0" rIns="0" tIns="0" bIns="0">
            <a:spAutoFit/>
          </a:bodyPr>
          <a:lstStyle/>
          <a:p>
            <a:pPr algn="l"/>
            <a:r>
              <a:rPr sz="1100" b="1" i="0">
                <a:solidFill>
                  <a:srgbClr val="6B7385"/>
                </a:solidFill>
                <a:latin typeface="Calibri"/>
              </a:rPr>
              <a:t>ARGUMENTOS DE VALOR</a:t>
            </a:r>
          </a:p>
        </p:txBody>
      </p:sp>
      <p:sp>
        <p:nvSpPr>
          <p:cNvPr id="16" name="Rounded Rectangle 15"/>
          <p:cNvSpPr/>
          <p:nvPr/>
        </p:nvSpPr>
        <p:spPr>
          <a:xfrm>
            <a:off x="64008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Rapidez y certidumbre de ejecución: propuesta de términos y checklist de información orientados a acortar plazos de aprobación y firma en un proceso competitivo.</a:t>
            </a:r>
          </a:p>
        </p:txBody>
      </p:sp>
      <p:sp>
        <p:nvSpPr>
          <p:cNvPr id="18" name="Rounded Rectangle 17"/>
          <p:cNvSpPr/>
          <p:nvPr/>
        </p:nvSpPr>
        <p:spPr>
          <a:xfrm>
            <a:off x="443484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Estructuración a medida por proyecto: dimensionamiento de deuda y calendario de disposiciones alineados al plan de obra/ventas, con covenants e hitos (preventas, presupuesto, contingencias) que protegen a ambas partes.</a:t>
            </a:r>
          </a:p>
        </p:txBody>
      </p:sp>
      <p:sp>
        <p:nvSpPr>
          <p:cNvPr id="20" name="Rounded Rectangle 19"/>
          <p:cNvSpPr/>
          <p:nvPr/>
        </p:nvSpPr>
        <p:spPr>
          <a:xfrm>
            <a:off x="822960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Enfoque de riesgo basado en el activo y el flujo del desarrollo: paquete de garantías y controles de disposiciones para mitigar riesgos de coste/plazo/comercialización, preservando flexibilidad operativa del promotor.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881360" cy="822960"/>
          </a:xfrm>
          <a:prstGeom prst="rect">
            <a:avLst/>
          </a:prstGeom>
          <a:noFill/>
        </p:spPr>
        <p:txBody>
          <a:bodyPr wrap="square" anchor="t" lIns="0" rIns="0" tIns="0" bIns="0">
            <a:spAutoFit/>
          </a:bodyPr>
          <a:lstStyle/>
          <a:p>
            <a:pPr algn="l"/>
            <a:r>
              <a:rPr sz="3400" b="1" i="0">
                <a:solidFill>
                  <a:srgbClr val="FFFFFF"/>
                </a:solidFill>
                <a:latin typeface="Cambria"/>
              </a:rPr>
              <a:t>Próximos pasos</a:t>
            </a:r>
          </a:p>
        </p:txBody>
      </p:sp>
      <p:sp>
        <p:nvSpPr>
          <p:cNvPr id="4" name="TextBox 3"/>
          <p:cNvSpPr txBox="1"/>
          <p:nvPr/>
        </p:nvSpPr>
        <p:spPr>
          <a:xfrm>
            <a:off x="640080" y="1463040"/>
            <a:ext cx="10058400" cy="548640"/>
          </a:xfrm>
          <a:prstGeom prst="rect">
            <a:avLst/>
          </a:prstGeom>
          <a:noFill/>
        </p:spPr>
        <p:txBody>
          <a:bodyPr wrap="square" anchor="t" lIns="0" rIns="0" tIns="0" bIns="0">
            <a:spAutoFit/>
          </a:bodyPr>
          <a:lstStyle/>
          <a:p>
            <a:pPr algn="l">
              <a:lnSpc>
                <a:spcPct val="130000"/>
              </a:lnSpc>
            </a:pPr>
            <a:r>
              <a:rPr sz="1500" b="0" i="1">
                <a:solidFill>
                  <a:srgbClr val="C9D2E6"/>
                </a:solidFill>
                <a:latin typeface="Calibri"/>
              </a:rPr>
              <a:t>El equipo comercial revisa, ajusta y personaliza esta propuesta antes de cualquier interacción con el cliente.</a:t>
            </a:r>
          </a:p>
        </p:txBody>
      </p:sp>
      <p:sp>
        <p:nvSpPr>
          <p:cNvPr id="5" name="Oval 4"/>
          <p:cNvSpPr/>
          <p:nvPr/>
        </p:nvSpPr>
        <p:spPr>
          <a:xfrm>
            <a:off x="640080" y="237744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1325880" y="235915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Reunión de 60–90 minutos para confirmar parámetros de las 2 promociones: ubicación, tipología, calendario, presupuesto total, estrategia comercial y objetivo/estado de preventas.</a:t>
            </a:r>
          </a:p>
        </p:txBody>
      </p:sp>
      <p:sp>
        <p:nvSpPr>
          <p:cNvPr id="7" name="Oval 6"/>
          <p:cNvSpPr/>
          <p:nvPr/>
        </p:nvSpPr>
        <p:spPr>
          <a:xfrm>
            <a:off x="640080" y="338328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8" name="TextBox 7"/>
          <p:cNvSpPr txBox="1"/>
          <p:nvPr/>
        </p:nvSpPr>
        <p:spPr>
          <a:xfrm>
            <a:off x="1325880" y="336499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Solicitud de información mínima para propuesta indicativa: estructura societaria por proyecto (SPV), detalle de costes (suelo/obra/soft costs), cronograma de obra, plan de ventas y situación de deuda actual.</a:t>
            </a:r>
          </a:p>
        </p:txBody>
      </p:sp>
      <p:sp>
        <p:nvSpPr>
          <p:cNvPr id="9" name="Oval 8"/>
          <p:cNvSpPr/>
          <p:nvPr/>
        </p:nvSpPr>
        <p:spPr>
          <a:xfrm>
            <a:off x="640080" y="438912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0" name="TextBox 9"/>
          <p:cNvSpPr txBox="1"/>
          <p:nvPr/>
        </p:nvSpPr>
        <p:spPr>
          <a:xfrm>
            <a:off x="1325880" y="437083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Emisión de una propuesta indicativa no vinculante (importe, estructura, garantías, hitos y calendario) y definición de un plan de cierre con due diligence y documentación.</a:t>
            </a:r>
          </a:p>
        </p:txBody>
      </p:sp>
      <p:sp>
        <p:nvSpPr>
          <p:cNvPr id="11" name="TextBox 10"/>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
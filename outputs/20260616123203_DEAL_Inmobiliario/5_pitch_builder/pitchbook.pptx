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INMOBILIARIO</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Propuesta comercial | Financiación promotor para Promotora Levante Residencial (promociones 2025)</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Entrada temprana como financiador y asesor para estructurar la deuda de construcción de dos promociones en 2025 y construir una relación recurrente por pipeline.</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Promotora Levante Residencial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La compañía prevé lanzar dos promociones residenciales en 2025 y está buscando activamente entidades financiadoras, lo que apunta a una necesidad inmediata de financiación promotor. Dada la limitada trazabilidad de históricos corporativos, existe una ventana clara para posicionarnos desde fase temprana con una estructura por proyecto (disposiciones por hitos, garantías y covenants) y capturar recurrencia en futuras promociones. El objetivo es liderar la estructuración y ejecución de la financiación, reduciendo fricción de cierre y asegurando capacidad de acompañamiento del pipeline.</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Solicitar paquete mínimo por promoción (1-2 semanas): presupuesto detallado, cronograma de obra, plan comercial/preventas, situación del suelo (título, cargas), licencias/estado urbanístico, contratista y esquema de costes/contingencias.</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~18,0 M€</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Ingresos estimados</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Inmobiliario</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~18,0 M€</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Nuevas promociones previstas (2025)</a:t>
            </a:r>
          </a:p>
        </p:txBody>
      </p:sp>
      <p:sp>
        <p:nvSpPr>
          <p:cNvPr id="12" name="TextBox 11"/>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3" name="TextBox 12"/>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Aceleración de la actividad de desarrollo con ampliación del pipeline de promociones.</a:t>
            </a:r>
          </a:p>
          <a:p>
            <a:pPr>
              <a:lnSpc>
                <a:spcPct val="115000"/>
              </a:lnSpc>
              <a:spcAft>
                <a:spcPts val="600"/>
              </a:spcAft>
            </a:pPr>
            <a:r>
              <a:rPr sz="1300">
                <a:solidFill>
                  <a:srgbClr val="222A39"/>
                </a:solidFill>
                <a:latin typeface="Calibri"/>
              </a:rPr>
              <a:t>—  Mayor intensidad de inversión típica en promotoras (suelo/obra en curso y desembolsos de construcción) asociada a fase de expansión.</a:t>
            </a:r>
          </a:p>
          <a:p>
            <a:pPr>
              <a:lnSpc>
                <a:spcPct val="115000"/>
              </a:lnSpc>
              <a:spcAft>
                <a:spcPts val="600"/>
              </a:spcAft>
            </a:pPr>
            <a:r>
              <a:rPr sz="1300">
                <a:solidFill>
                  <a:srgbClr val="222A39"/>
                </a:solidFill>
                <a:latin typeface="Calibri"/>
              </a:rPr>
              <a:t>—  Búsqueda activa de financiadores con potencial recurrencia ligada a futuras promociones.</a:t>
            </a:r>
          </a:p>
        </p:txBody>
      </p:sp>
      <p:sp>
        <p:nvSpPr>
          <p:cNvPr id="14" name="Rounded Rectangle 13"/>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6" name="TextBox 15"/>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información disponible apunta a una fase de crecimiento impulsada por el lanzamiento de nuevas promociones, pero sin detalle de márgenes, liquidez o apalancamiento no puede evaluarse la rentabilidad ni la capacidad de servicio de deuda. En este contexto, es razonable anticipar necesidades de financiación promotor a corto plazo (principalmente deuda de construcción y estructura de capital por proyecto) para ejecutar el pipeline. La ausencia de datos de endeudamiento y caja sugiere que cualquier estructuración deberá apoyarse en métricas y garantías a nivel de promoción (preventas, costes, calendario de obra) más que en históricos corporativos.</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Promotora Levante Residencial SL es una compañía del sector inmobiliario enfocada en desarrollo/promoción residencial. Se encuentra en una fase de expansión de su pipeline, con dos promociones previstas para 2025 y una búsqueda activa de entidades financiadoras.</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compañía prevé lanzar dos promociones en 2025, lo que apunta a una aceleración relevante de la actividad y a mayores necesidades de inversión típicas de promotora (suelo/obra en curso y desembolsos de construcción). La información financiera disponible es limitada: solo se dispone de ingresos estimados de ~18,0 M€ sin detalle temporal ni de márgenes, y no hay visibilidad sobre liquidez, endeudamiento o estructura de capital.</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Financiación promotor para las promociones 2025: deuda de construcción y estructura de capital por proyecto.</a:t>
            </a:r>
          </a:p>
          <a:p>
            <a:pPr>
              <a:lnSpc>
                <a:spcPct val="115000"/>
              </a:lnSpc>
              <a:spcAft>
                <a:spcPts val="800"/>
              </a:spcAft>
            </a:pPr>
            <a:r>
              <a:rPr sz="1300">
                <a:solidFill>
                  <a:srgbClr val="222A39"/>
                </a:solidFill>
                <a:latin typeface="Calibri"/>
              </a:rPr>
              <a:t>—  Asesoramiento en estructuración de financiación a nivel de promoción (calendario de disposiciones, hitos de obra, garantías y condiciones).</a:t>
            </a:r>
          </a:p>
          <a:p>
            <a:pPr>
              <a:lnSpc>
                <a:spcPct val="115000"/>
              </a:lnSpc>
              <a:spcAft>
                <a:spcPts val="800"/>
              </a:spcAft>
            </a:pPr>
            <a:r>
              <a:rPr sz="1300">
                <a:solidFill>
                  <a:srgbClr val="222A39"/>
                </a:solidFill>
                <a:latin typeface="Calibri"/>
              </a:rPr>
              <a:t>—  Financiación puente/estructura para inversión inicial en suelo y obra en curso asociada al arranque del pipeline.</a:t>
            </a:r>
          </a:p>
          <a:p>
            <a:pPr>
              <a:lnSpc>
                <a:spcPct val="115000"/>
              </a:lnSpc>
              <a:spcAft>
                <a:spcPts val="800"/>
              </a:spcAft>
            </a:pPr>
            <a:r>
              <a:rPr sz="1300">
                <a:solidFill>
                  <a:srgbClr val="222A39"/>
                </a:solidFill>
                <a:latin typeface="Calibri"/>
              </a:rPr>
              <a:t>—  Plan de relación recurrente para financiar futuras promociones conforme se amplíe el pipeline.</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Falta de información sobre endeudamiento, caja y capacidad de servicio de deuda, lo que limita la evaluación de apalancamiento y solvencia corporativa.</a:t>
            </a:r>
          </a:p>
          <a:p>
            <a:pPr>
              <a:lnSpc>
                <a:spcPct val="115000"/>
              </a:lnSpc>
              <a:spcAft>
                <a:spcPts val="800"/>
              </a:spcAft>
            </a:pPr>
            <a:r>
              <a:rPr sz="1300">
                <a:solidFill>
                  <a:srgbClr val="222A39"/>
                </a:solidFill>
                <a:latin typeface="Calibri"/>
              </a:rPr>
              <a:t>—  Ausencia de cuenta de resultados detallada (márgenes/rentabilidad) y de desglose temporal de ingresos estimados (~18,0 M€).</a:t>
            </a:r>
          </a:p>
          <a:p>
            <a:pPr>
              <a:lnSpc>
                <a:spcPct val="115000"/>
              </a:lnSpc>
              <a:spcAft>
                <a:spcPts val="800"/>
              </a:spcAft>
            </a:pPr>
            <a:r>
              <a:rPr sz="1300">
                <a:solidFill>
                  <a:srgbClr val="222A39"/>
                </a:solidFill>
                <a:latin typeface="Calibri"/>
              </a:rPr>
              <a:t>—  Riesgo de ejecución propio de nuevas promociones (desembolsos de construcción y necesidades de circulante ligadas a obra en curso).</a:t>
            </a:r>
          </a:p>
          <a:p>
            <a:pPr>
              <a:lnSpc>
                <a:spcPct val="115000"/>
              </a:lnSpc>
              <a:spcAft>
                <a:spcPts val="800"/>
              </a:spcAft>
            </a:pPr>
            <a:r>
              <a:rPr sz="1300">
                <a:solidFill>
                  <a:srgbClr val="222A39"/>
                </a:solidFill>
                <a:latin typeface="Calibri"/>
              </a:rPr>
              <a:t>—  Dependencia de estructuración y métricas a nivel de proyecto ante la limitada trazabilidad de históricos corporativos.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promotor (préstamo de construcción por proyecto con disposiciones por certificaciones/hitos).</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puente para suelo y gastos iniciales (arranque de promoción y obra en curso).</a:t>
            </a:r>
          </a:p>
        </p:txBody>
      </p:sp>
      <p:sp>
        <p:nvSpPr>
          <p:cNvPr id="11" name="Oval 10"/>
          <p:cNvSpPr/>
          <p:nvPr/>
        </p:nvSpPr>
        <p:spPr>
          <a:xfrm>
            <a:off x="640080" y="3968496"/>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1188720" y="3968496"/>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Líneas de avales y garantías (licencias, acopios, contratistas y obligaciones frente a terceros).</a:t>
            </a:r>
          </a:p>
        </p:txBody>
      </p:sp>
      <p:sp>
        <p:nvSpPr>
          <p:cNvPr id="13" name="Oval 12"/>
          <p:cNvSpPr/>
          <p:nvPr/>
        </p:nvSpPr>
        <p:spPr>
          <a:xfrm>
            <a:off x="640080" y="4626864"/>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188720" y="4626864"/>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Asesoramiento en estructuración de capital del proyecto (mix deuda/capital, covenants, waterfall y documentación).</a:t>
            </a:r>
          </a:p>
        </p:txBody>
      </p:sp>
      <p:sp>
        <p:nvSpPr>
          <p:cNvPr id="15" name="Rounded Rectangle 14"/>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7" name="TextBox 16"/>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Aedas Homes</a:t>
            </a:r>
          </a:p>
        </p:txBody>
      </p:sp>
      <p:sp>
        <p:nvSpPr>
          <p:cNvPr id="18" name="TextBox 17"/>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Neinor Homes</a:t>
            </a:r>
          </a:p>
        </p:txBody>
      </p:sp>
      <p:sp>
        <p:nvSpPr>
          <p:cNvPr id="19" name="TextBox 18"/>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20" name="Rounded Rectangle 19"/>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Enfoque “project-first”: estructuración y análisis centrados en cada promoción (presupuesto, hitos, preventas y garantías), mitigando la falta de históricos corporativos.</a:t>
            </a:r>
          </a:p>
        </p:txBody>
      </p:sp>
      <p:sp>
        <p:nvSpPr>
          <p:cNvPr id="22" name="Rounded Rectangle 21"/>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Rapidez de ejecución: hoja de ruta de información mínima y term sheet preliminar para acortar tiempos hasta cierre y primera disposición.</a:t>
            </a:r>
          </a:p>
        </p:txBody>
      </p:sp>
      <p:sp>
        <p:nvSpPr>
          <p:cNvPr id="24" name="Rounded Rectangle 23"/>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Estructuras alineadas a la realidad de obra: calendario de disposiciones por certificaciones, control de costes y mecanismos de protección ante desviaciones.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Solicitar paquete mínimo por promoción (1-2 semanas): presupuesto detallado, cronograma de obra, plan comercial/preventas, situación del suelo (título, cargas), licencias/estado urbanístico, contratista y esquema de costes/contingencias.</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Realizar sesión de estructuración (60-90 min) para definir: importe objetivo, mix deuda/capital, hitos de disposición, garantías y calendario de cierre; emitir term sheet indicativa por promoción.</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Lanzar due diligence y proceso interno de aprobación con enfoque por proyecto (incluyendo valoración, sensibilidad de costes/plazos y escenarios de preventas) para llegar a oferta vinculante y cierre.</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
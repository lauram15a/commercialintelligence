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narangrande.png"/>
          <p:cNvPicPr>
            <a:picLocks noChangeAspect="1"/>
          </p:cNvPicPr>
          <p:nvPr/>
        </p:nvPicPr>
        <p:blipFill>
          <a:blip r:embed="rId2"/>
          <a:stretch>
            <a:fillRect/>
          </a:stretch>
        </p:blipFill>
        <p:spPr>
          <a:xfrm>
            <a:off x="713232" y="256032"/>
            <a:ext cx="2272986" cy="384048"/>
          </a:xfrm>
          <a:prstGeom prst="rect">
            <a:avLst/>
          </a:prstGeom>
        </p:spPr>
      </p:pic>
      <p:sp>
        <p:nvSpPr>
          <p:cNvPr id="4" name="Rectangle 3"/>
          <p:cNvSpPr/>
          <p:nvPr/>
        </p:nvSpPr>
        <p:spPr>
          <a:xfrm>
            <a:off x="713232" y="804672"/>
            <a:ext cx="10762488" cy="1905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13232" y="1234440"/>
            <a:ext cx="2011680" cy="256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l"/>
            <a:r>
              <a:rPr sz="1100" b="1">
                <a:solidFill>
                  <a:srgbClr val="FF6600"/>
                </a:solidFill>
                <a:latin typeface="Arial"/>
              </a:rPr>
              <a:t>NO ESPECIFICADO</a:t>
            </a:r>
          </a:p>
        </p:txBody>
      </p:sp>
      <p:sp>
        <p:nvSpPr>
          <p:cNvPr id="6" name="Rectangle 5"/>
          <p:cNvSpPr/>
          <p:nvPr/>
        </p:nvSpPr>
        <p:spPr>
          <a:xfrm>
            <a:off x="713232" y="1471422"/>
            <a:ext cx="2011680" cy="1905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057400"/>
            <a:ext cx="8686800" cy="1371600"/>
          </a:xfrm>
          <a:prstGeom prst="rect">
            <a:avLst/>
          </a:prstGeom>
          <a:noFill/>
        </p:spPr>
        <p:txBody>
          <a:bodyPr wrap="square" anchor="t" lIns="0" rIns="0" tIns="0" bIns="0">
            <a:spAutoFit/>
          </a:bodyPr>
          <a:lstStyle/>
          <a:p>
            <a:pPr algn="l">
              <a:lnSpc>
                <a:spcPct val="108000"/>
              </a:lnSpc>
            </a:pPr>
            <a:r>
              <a:rPr sz="4000" b="1" i="0">
                <a:solidFill>
                  <a:srgbClr val="222222"/>
                </a:solidFill>
                <a:latin typeface="Arial"/>
              </a:rPr>
              <a:t>Propuesta comercial | Energia Holdings SL</a:t>
            </a:r>
          </a:p>
        </p:txBody>
      </p:sp>
      <p:sp>
        <p:nvSpPr>
          <p:cNvPr id="8" name="TextBox 7"/>
          <p:cNvSpPr txBox="1"/>
          <p:nvPr/>
        </p:nvSpPr>
        <p:spPr>
          <a:xfrm>
            <a:off x="713232" y="4069080"/>
            <a:ext cx="9326880" cy="822960"/>
          </a:xfrm>
          <a:prstGeom prst="rect">
            <a:avLst/>
          </a:prstGeom>
          <a:noFill/>
        </p:spPr>
        <p:txBody>
          <a:bodyPr wrap="square" anchor="t" lIns="0" rIns="0" tIns="0" bIns="0">
            <a:spAutoFit/>
          </a:bodyPr>
          <a:lstStyle/>
          <a:p>
            <a:pPr algn="l">
              <a:lnSpc>
                <a:spcPct val="125000"/>
              </a:lnSpc>
            </a:pPr>
            <a:r>
              <a:rPr sz="1700" b="0" i="0">
                <a:solidFill>
                  <a:srgbClr val="5A6B7B"/>
                </a:solidFill>
                <a:latin typeface="Arial"/>
              </a:rPr>
              <a:t>Estructurar financiación y optimizar la deuda para sostener el crecimiento rentable manteniendo el apalancamiento bajo control</a:t>
            </a:r>
          </a:p>
        </p:txBody>
      </p:sp>
      <p:sp>
        <p:nvSpPr>
          <p:cNvPr id="9" name="TextBox 8"/>
          <p:cNvSpPr txBox="1"/>
          <p:nvPr/>
        </p:nvSpPr>
        <p:spPr>
          <a:xfrm>
            <a:off x="713232" y="6400800"/>
            <a:ext cx="8229600" cy="228600"/>
          </a:xfrm>
          <a:prstGeom prst="rect">
            <a:avLst/>
          </a:prstGeom>
          <a:noFill/>
        </p:spPr>
        <p:txBody>
          <a:bodyPr wrap="square" anchor="t" lIns="0" rIns="0" tIns="0" bIns="0">
            <a:spAutoFit/>
          </a:bodyPr>
          <a:lstStyle/>
          <a:p>
            <a:pPr algn="l"/>
            <a:r>
              <a:rPr sz="950" b="0" i="0">
                <a:solidFill>
                  <a:srgbClr val="8A96A3"/>
                </a:solidFill>
                <a:latin typeface="Arial"/>
              </a:rPr>
              <a:t>Corporate &amp; Deal Intelligence  ·  Documento de uso interno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narangrande.png"/>
          <p:cNvPicPr>
            <a:picLocks noChangeAspect="1"/>
          </p:cNvPicPr>
          <p:nvPr/>
        </p:nvPicPr>
        <p:blipFill>
          <a:blip r:embed="rId2"/>
          <a:stretch>
            <a:fillRect/>
          </a:stretch>
        </p:blipFill>
        <p:spPr>
          <a:xfrm>
            <a:off x="713232" y="256032"/>
            <a:ext cx="2272986" cy="384048"/>
          </a:xfrm>
          <a:prstGeom prst="rect">
            <a:avLst/>
          </a:prstGeom>
        </p:spPr>
      </p:pic>
      <p:sp>
        <p:nvSpPr>
          <p:cNvPr id="4" name="Rectangle 3"/>
          <p:cNvSpPr/>
          <p:nvPr/>
        </p:nvSpPr>
        <p:spPr>
          <a:xfrm>
            <a:off x="713232" y="804672"/>
            <a:ext cx="10762488" cy="1905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005840"/>
            <a:ext cx="5943600" cy="347472"/>
          </a:xfrm>
          <a:prstGeom prst="rect">
            <a:avLst/>
          </a:prstGeom>
          <a:noFill/>
        </p:spPr>
        <p:txBody>
          <a:bodyPr wrap="square" anchor="t" lIns="0" rIns="0" tIns="0" bIns="0">
            <a:spAutoFit/>
          </a:bodyPr>
          <a:lstStyle/>
          <a:p>
            <a:pPr algn="l"/>
            <a:r>
              <a:rPr sz="2000" b="1" i="0">
                <a:solidFill>
                  <a:srgbClr val="FF6600"/>
                </a:solidFill>
                <a:latin typeface="Arial"/>
              </a:rPr>
              <a:t>OPORTUNIDAD DETECTADA</a:t>
            </a:r>
          </a:p>
        </p:txBody>
      </p:sp>
      <p:sp>
        <p:nvSpPr>
          <p:cNvPr id="6" name="Rectangle 5"/>
          <p:cNvSpPr/>
          <p:nvPr/>
        </p:nvSpPr>
        <p:spPr>
          <a:xfrm>
            <a:off x="713232" y="1353312"/>
            <a:ext cx="1828800" cy="1905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627632"/>
            <a:ext cx="6400800" cy="594360"/>
          </a:xfrm>
          <a:prstGeom prst="rect">
            <a:avLst/>
          </a:prstGeom>
          <a:noFill/>
        </p:spPr>
        <p:txBody>
          <a:bodyPr wrap="square" anchor="t" lIns="0" rIns="0" tIns="0" bIns="0">
            <a:spAutoFit/>
          </a:bodyPr>
          <a:lstStyle/>
          <a:p>
            <a:pPr algn="l"/>
            <a:r>
              <a:rPr sz="3000" b="1" i="0">
                <a:solidFill>
                  <a:srgbClr val="222222"/>
                </a:solidFill>
                <a:latin typeface="Arial"/>
              </a:rPr>
              <a:t>Energia Holdings SL</a:t>
            </a:r>
          </a:p>
        </p:txBody>
      </p:sp>
      <p:sp>
        <p:nvSpPr>
          <p:cNvPr id="8" name="TextBox 7"/>
          <p:cNvSpPr txBox="1"/>
          <p:nvPr/>
        </p:nvSpPr>
        <p:spPr>
          <a:xfrm>
            <a:off x="713232" y="2240280"/>
            <a:ext cx="6400800" cy="2194560"/>
          </a:xfrm>
          <a:prstGeom prst="rect">
            <a:avLst/>
          </a:prstGeom>
          <a:noFill/>
        </p:spPr>
        <p:txBody>
          <a:bodyPr wrap="square" anchor="t" lIns="0" rIns="0" tIns="0" bIns="0">
            <a:spAutoFit/>
          </a:bodyPr>
          <a:lstStyle/>
          <a:p>
            <a:pPr algn="l">
              <a:lnSpc>
                <a:spcPct val="135000"/>
              </a:lnSpc>
            </a:pPr>
            <a:r>
              <a:rPr sz="1500" b="0" i="0">
                <a:solidFill>
                  <a:srgbClr val="222222"/>
                </a:solidFill>
                <a:latin typeface="Arial"/>
              </a:rPr>
              <a:t>Energia Holdings SL presenta un crecimiento sostenido de ingresos y una mejora gradual del margen EBITDA, con un aumento de deuda que no ha elevado el apalancamiento gracias al avance del resultado operativo. La oportunidad consiste en acompañar el plan de expansión con una solución de financiación y/o refinanciación que mejore plazos, coste y flexibilidad, incorporando visibilidad de CAPEX y caja para dimensionar correctamente la estructura.</a:t>
            </a:r>
          </a:p>
        </p:txBody>
      </p:sp>
      <p:sp>
        <p:nvSpPr>
          <p:cNvPr id="9" name="TextBox 8"/>
          <p:cNvSpPr txBox="1"/>
          <p:nvPr/>
        </p:nvSpPr>
        <p:spPr>
          <a:xfrm>
            <a:off x="713232" y="5257800"/>
            <a:ext cx="6400800" cy="274320"/>
          </a:xfrm>
          <a:prstGeom prst="rect">
            <a:avLst/>
          </a:prstGeom>
          <a:noFill/>
        </p:spPr>
        <p:txBody>
          <a:bodyPr wrap="square" anchor="t" lIns="0" rIns="0" tIns="0" bIns="0">
            <a:spAutoFit/>
          </a:bodyPr>
          <a:lstStyle/>
          <a:p>
            <a:pPr algn="l"/>
            <a:r>
              <a:rPr sz="1100" b="1" i="0">
                <a:solidFill>
                  <a:srgbClr val="5A6B7B"/>
                </a:solidFill>
                <a:latin typeface="Arial"/>
              </a:rPr>
              <a:t>PRÓXIMA ACCIÓN</a:t>
            </a:r>
          </a:p>
        </p:txBody>
      </p:sp>
      <p:sp>
        <p:nvSpPr>
          <p:cNvPr id="10" name="TextBox 9"/>
          <p:cNvSpPr txBox="1"/>
          <p:nvPr/>
        </p:nvSpPr>
        <p:spPr>
          <a:xfrm>
            <a:off x="713232" y="5559552"/>
            <a:ext cx="6400800" cy="777240"/>
          </a:xfrm>
          <a:prstGeom prst="rect">
            <a:avLst/>
          </a:prstGeom>
          <a:noFill/>
        </p:spPr>
        <p:txBody>
          <a:bodyPr wrap="square" anchor="t" lIns="0" rIns="0" tIns="0" bIns="0">
            <a:spAutoFit/>
          </a:bodyPr>
          <a:lstStyle/>
          <a:p>
            <a:pPr algn="l">
              <a:lnSpc>
                <a:spcPct val="125000"/>
              </a:lnSpc>
            </a:pPr>
            <a:r>
              <a:rPr sz="1400" b="0" i="0">
                <a:solidFill>
                  <a:srgbClr val="FF6600"/>
                </a:solidFill>
                <a:latin typeface="Arial"/>
              </a:rPr>
              <a:t>Solicitud de información para diagnóstico: detalle de deuda (vencimientos, coste, garantías, covenants), EBIT, CAPEX (mantenimiento vs. crecimiento), flujo de caja y capital de trabajo</a:t>
            </a:r>
          </a:p>
        </p:txBody>
      </p:sp>
      <p:sp>
        <p:nvSpPr>
          <p:cNvPr id="11" name="Rectangle 10"/>
          <p:cNvSpPr/>
          <p:nvPr/>
        </p:nvSpPr>
        <p:spPr>
          <a:xfrm>
            <a:off x="7818120" y="1627632"/>
            <a:ext cx="3657600" cy="4480560"/>
          </a:xfrm>
          <a:prstGeom prst="rect">
            <a:avLst/>
          </a:prstGeom>
          <a:solidFill>
            <a:srgbClr val="FFFFFF"/>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38160" y="1874519"/>
            <a:ext cx="2926080" cy="274320"/>
          </a:xfrm>
          <a:prstGeom prst="rect">
            <a:avLst/>
          </a:prstGeom>
          <a:noFill/>
        </p:spPr>
        <p:txBody>
          <a:bodyPr wrap="square" anchor="t" lIns="0" rIns="0" tIns="0" bIns="0">
            <a:spAutoFit/>
          </a:bodyPr>
          <a:lstStyle/>
          <a:p>
            <a:pPr algn="l"/>
            <a:r>
              <a:rPr sz="1100" b="1" i="0">
                <a:solidFill>
                  <a:srgbClr val="5A6B7B"/>
                </a:solidFill>
                <a:latin typeface="Arial"/>
              </a:rPr>
              <a:t>EN UNA CIFRA</a:t>
            </a:r>
          </a:p>
        </p:txBody>
      </p:sp>
      <p:sp>
        <p:nvSpPr>
          <p:cNvPr id="13" name="TextBox 12"/>
          <p:cNvSpPr txBox="1"/>
          <p:nvPr/>
        </p:nvSpPr>
        <p:spPr>
          <a:xfrm>
            <a:off x="8138160" y="2240280"/>
            <a:ext cx="2926080" cy="822960"/>
          </a:xfrm>
          <a:prstGeom prst="rect">
            <a:avLst/>
          </a:prstGeom>
          <a:noFill/>
        </p:spPr>
        <p:txBody>
          <a:bodyPr wrap="square" anchor="t" lIns="0" rIns="0" tIns="0" bIns="0">
            <a:spAutoFit/>
          </a:bodyPr>
          <a:lstStyle/>
          <a:p>
            <a:pPr algn="l">
              <a:lnSpc>
                <a:spcPct val="100000"/>
              </a:lnSpc>
            </a:pPr>
            <a:r>
              <a:rPr sz="2400" b="1" i="0">
                <a:solidFill>
                  <a:srgbClr val="FF6600"/>
                </a:solidFill>
                <a:latin typeface="Arial"/>
              </a:rPr>
              <a:t>10,0m€ (2022) → 11,8m€ (2023, +18% YoY) → 13,5m€ (2024, +14% YoY)</a:t>
            </a:r>
          </a:p>
        </p:txBody>
      </p:sp>
      <p:sp>
        <p:nvSpPr>
          <p:cNvPr id="14" name="TextBox 13"/>
          <p:cNvSpPr txBox="1"/>
          <p:nvPr/>
        </p:nvSpPr>
        <p:spPr>
          <a:xfrm>
            <a:off x="8138160" y="3063240"/>
            <a:ext cx="2926080" cy="640080"/>
          </a:xfrm>
          <a:prstGeom prst="rect">
            <a:avLst/>
          </a:prstGeom>
          <a:noFill/>
        </p:spPr>
        <p:txBody>
          <a:bodyPr wrap="square" anchor="t" lIns="0" rIns="0" tIns="0" bIns="0">
            <a:spAutoFit/>
          </a:bodyPr>
          <a:lstStyle/>
          <a:p>
            <a:pPr algn="l">
              <a:lnSpc>
                <a:spcPct val="120000"/>
              </a:lnSpc>
            </a:pPr>
            <a:r>
              <a:rPr sz="1300" b="0" i="0">
                <a:solidFill>
                  <a:srgbClr val="5A6B7B"/>
                </a:solidFill>
                <a:latin typeface="Arial"/>
              </a:rPr>
              <a:t>Ingresos</a:t>
            </a:r>
          </a:p>
        </p:txBody>
      </p:sp>
      <p:sp>
        <p:nvSpPr>
          <p:cNvPr id="15" name="Rectangle 14"/>
          <p:cNvSpPr/>
          <p:nvPr/>
        </p:nvSpPr>
        <p:spPr>
          <a:xfrm>
            <a:off x="8138160" y="3840480"/>
            <a:ext cx="2926080" cy="1270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38160" y="4005072"/>
            <a:ext cx="2926080" cy="228600"/>
          </a:xfrm>
          <a:prstGeom prst="rect">
            <a:avLst/>
          </a:prstGeom>
          <a:noFill/>
        </p:spPr>
        <p:txBody>
          <a:bodyPr wrap="square" anchor="t" lIns="0" rIns="0" tIns="0" bIns="0">
            <a:spAutoFit/>
          </a:bodyPr>
          <a:lstStyle/>
          <a:p>
            <a:pPr algn="l"/>
            <a:r>
              <a:rPr sz="1100" b="1" i="0">
                <a:solidFill>
                  <a:srgbClr val="5A6B7B"/>
                </a:solidFill>
                <a:latin typeface="Arial"/>
              </a:rPr>
              <a:t>SECTOR</a:t>
            </a:r>
          </a:p>
        </p:txBody>
      </p:sp>
      <p:sp>
        <p:nvSpPr>
          <p:cNvPr id="17" name="TextBox 16"/>
          <p:cNvSpPr txBox="1"/>
          <p:nvPr/>
        </p:nvSpPr>
        <p:spPr>
          <a:xfrm>
            <a:off x="8138160" y="4279392"/>
            <a:ext cx="2926080" cy="365760"/>
          </a:xfrm>
          <a:prstGeom prst="rect">
            <a:avLst/>
          </a:prstGeom>
          <a:noFill/>
        </p:spPr>
        <p:txBody>
          <a:bodyPr wrap="square" anchor="t" lIns="0" rIns="0" tIns="0" bIns="0">
            <a:spAutoFit/>
          </a:bodyPr>
          <a:lstStyle/>
          <a:p>
            <a:pPr algn="l"/>
            <a:r>
              <a:rPr sz="1600" b="1" i="0">
                <a:solidFill>
                  <a:srgbClr val="222222"/>
                </a:solidFill>
                <a:latin typeface="Arial"/>
              </a:rPr>
              <a:t>No especificado</a:t>
            </a:r>
          </a:p>
        </p:txBody>
      </p:sp>
      <p:sp>
        <p:nvSpPr>
          <p:cNvPr id="18" name="TextBox 17"/>
          <p:cNvSpPr txBox="1"/>
          <p:nvPr/>
        </p:nvSpPr>
        <p:spPr>
          <a:xfrm>
            <a:off x="8138160" y="4828032"/>
            <a:ext cx="2926080" cy="228600"/>
          </a:xfrm>
          <a:prstGeom prst="rect">
            <a:avLst/>
          </a:prstGeom>
          <a:noFill/>
        </p:spPr>
        <p:txBody>
          <a:bodyPr wrap="square" anchor="t" lIns="0" rIns="0" tIns="0" bIns="0">
            <a:spAutoFit/>
          </a:bodyPr>
          <a:lstStyle/>
          <a:p>
            <a:pPr algn="l"/>
            <a:r>
              <a:rPr sz="1100" b="1" i="0">
                <a:solidFill>
                  <a:srgbClr val="5A6B7B"/>
                </a:solidFill>
                <a:latin typeface="Arial"/>
              </a:rPr>
              <a:t>PRIORIDAD</a:t>
            </a:r>
          </a:p>
        </p:txBody>
      </p:sp>
      <p:sp>
        <p:nvSpPr>
          <p:cNvPr id="19" name="TextBox 18"/>
          <p:cNvSpPr txBox="1"/>
          <p:nvPr/>
        </p:nvSpPr>
        <p:spPr>
          <a:xfrm>
            <a:off x="8138160" y="5102352"/>
            <a:ext cx="2926080" cy="320040"/>
          </a:xfrm>
          <a:prstGeom prst="rect">
            <a:avLst/>
          </a:prstGeom>
          <a:noFill/>
        </p:spPr>
        <p:txBody>
          <a:bodyPr wrap="square" anchor="t" lIns="0" rIns="0" tIns="0" bIns="0">
            <a:spAutoFit/>
          </a:bodyPr>
          <a:lstStyle/>
          <a:p>
            <a:pPr algn="l"/>
            <a:r>
              <a:rPr sz="1400" b="1" i="0">
                <a:solidFill>
                  <a:srgbClr val="FF6600"/>
                </a:solidFill>
                <a:latin typeface="Arial"/>
              </a:rPr>
              <a:t>ALTA</a:t>
            </a:r>
          </a:p>
        </p:txBody>
      </p:sp>
      <p:sp>
        <p:nvSpPr>
          <p:cNvPr id="20" name="TextBox 19"/>
          <p:cNvSpPr txBox="1"/>
          <p:nvPr/>
        </p:nvSpPr>
        <p:spPr>
          <a:xfrm>
            <a:off x="713232" y="6400800"/>
            <a:ext cx="8229600" cy="228600"/>
          </a:xfrm>
          <a:prstGeom prst="rect">
            <a:avLst/>
          </a:prstGeom>
          <a:noFill/>
        </p:spPr>
        <p:txBody>
          <a:bodyPr wrap="square" anchor="t" lIns="0" rIns="0" tIns="0" bIns="0">
            <a:spAutoFit/>
          </a:bodyPr>
          <a:lstStyle/>
          <a:p>
            <a:pPr algn="l"/>
            <a:r>
              <a:rPr sz="950" b="0" i="0">
                <a:solidFill>
                  <a:srgbClr val="8A96A3"/>
                </a:solidFill>
                <a:latin typeface="Arial"/>
              </a:rPr>
              <a:t>Corporate &amp; Deal Intelligence  ·  Documento de uso interno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narangrande.png"/>
          <p:cNvPicPr>
            <a:picLocks noChangeAspect="1"/>
          </p:cNvPicPr>
          <p:nvPr/>
        </p:nvPicPr>
        <p:blipFill>
          <a:blip r:embed="rId2"/>
          <a:stretch>
            <a:fillRect/>
          </a:stretch>
        </p:blipFill>
        <p:spPr>
          <a:xfrm>
            <a:off x="713232" y="256032"/>
            <a:ext cx="2272986" cy="384048"/>
          </a:xfrm>
          <a:prstGeom prst="rect">
            <a:avLst/>
          </a:prstGeom>
        </p:spPr>
      </p:pic>
      <p:sp>
        <p:nvSpPr>
          <p:cNvPr id="4" name="Rectangle 3"/>
          <p:cNvSpPr/>
          <p:nvPr/>
        </p:nvSpPr>
        <p:spPr>
          <a:xfrm>
            <a:off x="713232" y="804672"/>
            <a:ext cx="10762488" cy="1905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005840"/>
            <a:ext cx="5943600" cy="347472"/>
          </a:xfrm>
          <a:prstGeom prst="rect">
            <a:avLst/>
          </a:prstGeom>
          <a:noFill/>
        </p:spPr>
        <p:txBody>
          <a:bodyPr wrap="square" anchor="t" lIns="0" rIns="0" tIns="0" bIns="0">
            <a:spAutoFit/>
          </a:bodyPr>
          <a:lstStyle/>
          <a:p>
            <a:pPr algn="l"/>
            <a:r>
              <a:rPr sz="2000" b="1" i="0">
                <a:solidFill>
                  <a:srgbClr val="FF6600"/>
                </a:solidFill>
                <a:latin typeface="Arial"/>
              </a:rPr>
              <a:t>CONTEXTO FINANCIERO</a:t>
            </a:r>
          </a:p>
        </p:txBody>
      </p:sp>
      <p:sp>
        <p:nvSpPr>
          <p:cNvPr id="6" name="Rectangle 5"/>
          <p:cNvSpPr/>
          <p:nvPr/>
        </p:nvSpPr>
        <p:spPr>
          <a:xfrm>
            <a:off x="713232" y="1353312"/>
            <a:ext cx="1828800" cy="1905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627632"/>
            <a:ext cx="10762488" cy="548640"/>
          </a:xfrm>
          <a:prstGeom prst="rect">
            <a:avLst/>
          </a:prstGeom>
          <a:noFill/>
        </p:spPr>
        <p:txBody>
          <a:bodyPr wrap="square" anchor="t" lIns="0" rIns="0" tIns="0" bIns="0">
            <a:spAutoFit/>
          </a:bodyPr>
          <a:lstStyle/>
          <a:p>
            <a:pPr algn="l"/>
            <a:r>
              <a:rPr sz="3000" b="1" i="0">
                <a:solidFill>
                  <a:srgbClr val="222222"/>
                </a:solidFill>
                <a:latin typeface="Arial"/>
              </a:rPr>
              <a:t>Lo que dicen los números</a:t>
            </a:r>
          </a:p>
        </p:txBody>
      </p:sp>
      <p:sp>
        <p:nvSpPr>
          <p:cNvPr id="8" name="Rectangle 7"/>
          <p:cNvSpPr/>
          <p:nvPr/>
        </p:nvSpPr>
        <p:spPr>
          <a:xfrm>
            <a:off x="640080" y="2240280"/>
            <a:ext cx="3520440" cy="2103120"/>
          </a:xfrm>
          <a:prstGeom prst="rect">
            <a:avLst/>
          </a:prstGeom>
          <a:solidFill>
            <a:srgbClr val="F5F5F5"/>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487168"/>
            <a:ext cx="3008376" cy="685800"/>
          </a:xfrm>
          <a:prstGeom prst="rect">
            <a:avLst/>
          </a:prstGeom>
          <a:noFill/>
        </p:spPr>
        <p:txBody>
          <a:bodyPr wrap="square" anchor="t" lIns="0" rIns="0" tIns="0" bIns="0">
            <a:spAutoFit/>
          </a:bodyPr>
          <a:lstStyle/>
          <a:p>
            <a:pPr algn="l">
              <a:lnSpc>
                <a:spcPct val="100000"/>
              </a:lnSpc>
            </a:pPr>
            <a:r>
              <a:rPr sz="2200" b="1" i="0">
                <a:solidFill>
                  <a:srgbClr val="FF6600"/>
                </a:solidFill>
                <a:latin typeface="Arial"/>
              </a:rPr>
              <a:t>10,0m€ (2022) → 11,8m€ (2023, +18% YoY) → 13,5m€ (2024, +14% YoY)</a:t>
            </a:r>
          </a:p>
        </p:txBody>
      </p:sp>
      <p:sp>
        <p:nvSpPr>
          <p:cNvPr id="10" name="TextBox 9"/>
          <p:cNvSpPr txBox="1"/>
          <p:nvPr/>
        </p:nvSpPr>
        <p:spPr>
          <a:xfrm>
            <a:off x="896112" y="3611880"/>
            <a:ext cx="3008376" cy="548640"/>
          </a:xfrm>
          <a:prstGeom prst="rect">
            <a:avLst/>
          </a:prstGeom>
          <a:noFill/>
        </p:spPr>
        <p:txBody>
          <a:bodyPr wrap="square" anchor="t" lIns="0" rIns="0" tIns="0" bIns="0">
            <a:spAutoFit/>
          </a:bodyPr>
          <a:lstStyle/>
          <a:p>
            <a:pPr algn="l">
              <a:lnSpc>
                <a:spcPct val="115000"/>
              </a:lnSpc>
            </a:pPr>
            <a:r>
              <a:rPr sz="1300" b="0" i="0">
                <a:solidFill>
                  <a:srgbClr val="5A6B7B"/>
                </a:solidFill>
                <a:latin typeface="Arial"/>
              </a:rPr>
              <a:t>Ingresos</a:t>
            </a:r>
          </a:p>
        </p:txBody>
      </p:sp>
      <p:sp>
        <p:nvSpPr>
          <p:cNvPr id="11" name="Rectangle 10"/>
          <p:cNvSpPr/>
          <p:nvPr/>
        </p:nvSpPr>
        <p:spPr>
          <a:xfrm>
            <a:off x="4434840" y="2240280"/>
            <a:ext cx="3520440" cy="2103120"/>
          </a:xfrm>
          <a:prstGeom prst="rect">
            <a:avLst/>
          </a:prstGeom>
          <a:solidFill>
            <a:srgbClr val="F5F5F5"/>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90872" y="2487168"/>
            <a:ext cx="3008376" cy="685800"/>
          </a:xfrm>
          <a:prstGeom prst="rect">
            <a:avLst/>
          </a:prstGeom>
          <a:noFill/>
        </p:spPr>
        <p:txBody>
          <a:bodyPr wrap="square" anchor="t" lIns="0" rIns="0" tIns="0" bIns="0">
            <a:spAutoFit/>
          </a:bodyPr>
          <a:lstStyle/>
          <a:p>
            <a:pPr algn="l">
              <a:lnSpc>
                <a:spcPct val="100000"/>
              </a:lnSpc>
            </a:pPr>
            <a:r>
              <a:rPr sz="2200" b="1" i="0">
                <a:solidFill>
                  <a:srgbClr val="FF6600"/>
                </a:solidFill>
                <a:latin typeface="Arial"/>
              </a:rPr>
              <a:t>1,6m€ (2022) → 1,9m€ (2023, +19%) → 2,3m€ (2024, +21%)</a:t>
            </a:r>
          </a:p>
        </p:txBody>
      </p:sp>
      <p:sp>
        <p:nvSpPr>
          <p:cNvPr id="13" name="TextBox 12"/>
          <p:cNvSpPr txBox="1"/>
          <p:nvPr/>
        </p:nvSpPr>
        <p:spPr>
          <a:xfrm>
            <a:off x="4690872" y="3611880"/>
            <a:ext cx="3008376" cy="548640"/>
          </a:xfrm>
          <a:prstGeom prst="rect">
            <a:avLst/>
          </a:prstGeom>
          <a:noFill/>
        </p:spPr>
        <p:txBody>
          <a:bodyPr wrap="square" anchor="t" lIns="0" rIns="0" tIns="0" bIns="0">
            <a:spAutoFit/>
          </a:bodyPr>
          <a:lstStyle/>
          <a:p>
            <a:pPr algn="l">
              <a:lnSpc>
                <a:spcPct val="115000"/>
              </a:lnSpc>
            </a:pPr>
            <a:r>
              <a:rPr sz="1300" b="0" i="0">
                <a:solidFill>
                  <a:srgbClr val="5A6B7B"/>
                </a:solidFill>
                <a:latin typeface="Arial"/>
              </a:rPr>
              <a:t>EBITDA</a:t>
            </a:r>
          </a:p>
        </p:txBody>
      </p:sp>
      <p:sp>
        <p:nvSpPr>
          <p:cNvPr id="14" name="Rectangle 13"/>
          <p:cNvSpPr/>
          <p:nvPr/>
        </p:nvSpPr>
        <p:spPr>
          <a:xfrm>
            <a:off x="8229600" y="2240280"/>
            <a:ext cx="3520440" cy="2103120"/>
          </a:xfrm>
          <a:prstGeom prst="rect">
            <a:avLst/>
          </a:prstGeom>
          <a:solidFill>
            <a:srgbClr val="F5F5F5"/>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85632" y="2487168"/>
            <a:ext cx="3008376" cy="685800"/>
          </a:xfrm>
          <a:prstGeom prst="rect">
            <a:avLst/>
          </a:prstGeom>
          <a:noFill/>
        </p:spPr>
        <p:txBody>
          <a:bodyPr wrap="square" anchor="t" lIns="0" rIns="0" tIns="0" bIns="0">
            <a:spAutoFit/>
          </a:bodyPr>
          <a:lstStyle/>
          <a:p>
            <a:pPr algn="l">
              <a:lnSpc>
                <a:spcPct val="100000"/>
              </a:lnSpc>
            </a:pPr>
            <a:r>
              <a:rPr sz="2200" b="1" i="0">
                <a:solidFill>
                  <a:srgbClr val="FF6600"/>
                </a:solidFill>
                <a:latin typeface="Arial"/>
              </a:rPr>
              <a:t>~16,0% (2022) → ~16,1% (2023) → ~17,0% (2024)</a:t>
            </a:r>
          </a:p>
        </p:txBody>
      </p:sp>
      <p:sp>
        <p:nvSpPr>
          <p:cNvPr id="16" name="TextBox 15"/>
          <p:cNvSpPr txBox="1"/>
          <p:nvPr/>
        </p:nvSpPr>
        <p:spPr>
          <a:xfrm>
            <a:off x="8485632" y="3611880"/>
            <a:ext cx="3008376" cy="548640"/>
          </a:xfrm>
          <a:prstGeom prst="rect">
            <a:avLst/>
          </a:prstGeom>
          <a:noFill/>
        </p:spPr>
        <p:txBody>
          <a:bodyPr wrap="square" anchor="t" lIns="0" rIns="0" tIns="0" bIns="0">
            <a:spAutoFit/>
          </a:bodyPr>
          <a:lstStyle/>
          <a:p>
            <a:pPr algn="l">
              <a:lnSpc>
                <a:spcPct val="115000"/>
              </a:lnSpc>
            </a:pPr>
            <a:r>
              <a:rPr sz="1300" b="0" i="0">
                <a:solidFill>
                  <a:srgbClr val="5A6B7B"/>
                </a:solidFill>
                <a:latin typeface="Arial"/>
              </a:rPr>
              <a:t>Margen EBITDA</a:t>
            </a:r>
          </a:p>
        </p:txBody>
      </p:sp>
      <p:sp>
        <p:nvSpPr>
          <p:cNvPr id="17" name="TextBox 16"/>
          <p:cNvSpPr txBox="1"/>
          <p:nvPr/>
        </p:nvSpPr>
        <p:spPr>
          <a:xfrm>
            <a:off x="713232" y="4800600"/>
            <a:ext cx="5212080" cy="274320"/>
          </a:xfrm>
          <a:prstGeom prst="rect">
            <a:avLst/>
          </a:prstGeom>
          <a:noFill/>
        </p:spPr>
        <p:txBody>
          <a:bodyPr wrap="square" anchor="t" lIns="0" rIns="0" tIns="0" bIns="0">
            <a:spAutoFit/>
          </a:bodyPr>
          <a:lstStyle/>
          <a:p>
            <a:pPr algn="l"/>
            <a:r>
              <a:rPr sz="1100" b="1" i="0">
                <a:solidFill>
                  <a:srgbClr val="5A6B7B"/>
                </a:solidFill>
                <a:latin typeface="Arial"/>
              </a:rPr>
              <a:t>TENDENCIAS ESTRUCTURALES</a:t>
            </a:r>
          </a:p>
        </p:txBody>
      </p:sp>
      <p:sp>
        <p:nvSpPr>
          <p:cNvPr id="18" name="TextBox 17"/>
          <p:cNvSpPr txBox="1"/>
          <p:nvPr/>
        </p:nvSpPr>
        <p:spPr>
          <a:xfrm>
            <a:off x="713232" y="5102352"/>
            <a:ext cx="5212080" cy="1234440"/>
          </a:xfrm>
          <a:prstGeom prst="rect">
            <a:avLst/>
          </a:prstGeom>
          <a:noFill/>
        </p:spPr>
        <p:txBody>
          <a:bodyPr wrap="square" lIns="0" rIns="0" tIns="0" bIns="0">
            <a:spAutoFit/>
          </a:bodyPr>
          <a:lstStyle/>
          <a:p>
            <a:pPr>
              <a:lnSpc>
                <a:spcPct val="115000"/>
              </a:lnSpc>
              <a:spcAft>
                <a:spcPts val="800"/>
              </a:spcAft>
            </a:pPr>
            <a:r>
              <a:rPr sz="1300">
                <a:solidFill>
                  <a:srgbClr val="222222"/>
                </a:solidFill>
                <a:latin typeface="Arial"/>
              </a:rPr>
              <a:t>• Crecimiento sostenido de ingresos con expansión comercial consistente.</a:t>
            </a:r>
          </a:p>
          <a:p>
            <a:pPr>
              <a:lnSpc>
                <a:spcPct val="115000"/>
              </a:lnSpc>
              <a:spcAft>
                <a:spcPts val="800"/>
              </a:spcAft>
            </a:pPr>
            <a:r>
              <a:rPr sz="1300">
                <a:solidFill>
                  <a:srgbClr val="222222"/>
                </a:solidFill>
                <a:latin typeface="Arial"/>
              </a:rPr>
              <a:t>• Aceleración del EBITDA y ligera mejora del margen, sugiriendo apalancamiento operativo positivo.</a:t>
            </a:r>
          </a:p>
          <a:p>
            <a:pPr>
              <a:lnSpc>
                <a:spcPct val="115000"/>
              </a:lnSpc>
              <a:spcAft>
                <a:spcPts val="800"/>
              </a:spcAft>
            </a:pPr>
            <a:r>
              <a:rPr sz="1300">
                <a:solidFill>
                  <a:srgbClr val="222222"/>
                </a:solidFill>
                <a:latin typeface="Arial"/>
              </a:rPr>
              <a:t>• Aumento de deuda financiera, pero con apalancamiento (Deuda/EBITDA) en descenso gracias al crecimiento del resultado operativo.</a:t>
            </a:r>
          </a:p>
          <a:p>
            <a:pPr>
              <a:lnSpc>
                <a:spcPct val="115000"/>
              </a:lnSpc>
              <a:spcAft>
                <a:spcPts val="800"/>
              </a:spcAft>
            </a:pPr>
            <a:r>
              <a:rPr sz="1300">
                <a:solidFill>
                  <a:srgbClr val="222222"/>
                </a:solidFill>
                <a:latin typeface="Arial"/>
              </a:rPr>
              <a:t>• Refuerzo del patrimonio neto, ampliando la base de capital para absorber crecimiento del balance.</a:t>
            </a:r>
          </a:p>
        </p:txBody>
      </p:sp>
      <p:sp>
        <p:nvSpPr>
          <p:cNvPr id="19" name="Rectangle 18"/>
          <p:cNvSpPr/>
          <p:nvPr/>
        </p:nvSpPr>
        <p:spPr>
          <a:xfrm>
            <a:off x="6263640" y="4800600"/>
            <a:ext cx="5212080" cy="1645920"/>
          </a:xfrm>
          <a:prstGeom prst="rect">
            <a:avLst/>
          </a:prstGeom>
          <a:solidFill>
            <a:srgbClr val="FFFFFF"/>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37960" y="4983480"/>
            <a:ext cx="4663440" cy="228600"/>
          </a:xfrm>
          <a:prstGeom prst="rect">
            <a:avLst/>
          </a:prstGeom>
          <a:noFill/>
        </p:spPr>
        <p:txBody>
          <a:bodyPr wrap="square" anchor="t" lIns="0" rIns="0" tIns="0" bIns="0">
            <a:spAutoFit/>
          </a:bodyPr>
          <a:lstStyle/>
          <a:p>
            <a:pPr algn="l"/>
            <a:r>
              <a:rPr sz="1100" b="1" i="0">
                <a:solidFill>
                  <a:srgbClr val="FF6600"/>
                </a:solidFill>
                <a:latin typeface="Arial"/>
              </a:rPr>
              <a:t>INTERPRETACIÓN</a:t>
            </a:r>
          </a:p>
        </p:txBody>
      </p:sp>
      <p:sp>
        <p:nvSpPr>
          <p:cNvPr id="21" name="TextBox 20"/>
          <p:cNvSpPr txBox="1"/>
          <p:nvPr/>
        </p:nvSpPr>
        <p:spPr>
          <a:xfrm>
            <a:off x="6537960" y="5285232"/>
            <a:ext cx="4663440" cy="914400"/>
          </a:xfrm>
          <a:prstGeom prst="rect">
            <a:avLst/>
          </a:prstGeom>
          <a:noFill/>
        </p:spPr>
        <p:txBody>
          <a:bodyPr wrap="square" anchor="t" lIns="0" rIns="0" tIns="0" bIns="0">
            <a:spAutoFit/>
          </a:bodyPr>
          <a:lstStyle/>
          <a:p>
            <a:pPr algn="l">
              <a:lnSpc>
                <a:spcPct val="125000"/>
              </a:lnSpc>
            </a:pPr>
            <a:r>
              <a:rPr sz="1300" b="0" i="0">
                <a:solidFill>
                  <a:srgbClr val="222222"/>
                </a:solidFill>
                <a:latin typeface="Arial"/>
              </a:rPr>
              <a:t>La compañía combina crecimiento y mejora de rentabilidad, con un incremento de deuda que no se traduce en mayor apalancamiento por el avance del EBITDA. El aumento del endeudamiento junto con la expansión podría apuntar a necesidades de financiación para sostener el crecimiento, especialmente si el CAPEX estuviera aumentando (dato no disponible). En ausencia de información de EBIT y CAPEX, la lectura sobre intensidad inversora y sostenibilidad del flujo de caja queda limitada.</a:t>
            </a:r>
          </a:p>
        </p:txBody>
      </p:sp>
      <p:sp>
        <p:nvSpPr>
          <p:cNvPr id="22" name="TextBox 21"/>
          <p:cNvSpPr txBox="1"/>
          <p:nvPr/>
        </p:nvSpPr>
        <p:spPr>
          <a:xfrm>
            <a:off x="713232" y="6400800"/>
            <a:ext cx="8229600" cy="228600"/>
          </a:xfrm>
          <a:prstGeom prst="rect">
            <a:avLst/>
          </a:prstGeom>
          <a:noFill/>
        </p:spPr>
        <p:txBody>
          <a:bodyPr wrap="square" anchor="t" lIns="0" rIns="0" tIns="0" bIns="0">
            <a:spAutoFit/>
          </a:bodyPr>
          <a:lstStyle/>
          <a:p>
            <a:pPr algn="l"/>
            <a:r>
              <a:rPr sz="950" b="0" i="0">
                <a:solidFill>
                  <a:srgbClr val="8A96A3"/>
                </a:solidFill>
                <a:latin typeface="Arial"/>
              </a:rPr>
              <a:t>Corporate &amp; Deal Intelligence  ·  Documento de uso interno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narangrande.png"/>
          <p:cNvPicPr>
            <a:picLocks noChangeAspect="1"/>
          </p:cNvPicPr>
          <p:nvPr/>
        </p:nvPicPr>
        <p:blipFill>
          <a:blip r:embed="rId2"/>
          <a:stretch>
            <a:fillRect/>
          </a:stretch>
        </p:blipFill>
        <p:spPr>
          <a:xfrm>
            <a:off x="713232" y="256032"/>
            <a:ext cx="2272986" cy="384048"/>
          </a:xfrm>
          <a:prstGeom prst="rect">
            <a:avLst/>
          </a:prstGeom>
        </p:spPr>
      </p:pic>
      <p:sp>
        <p:nvSpPr>
          <p:cNvPr id="4" name="Rectangle 3"/>
          <p:cNvSpPr/>
          <p:nvPr/>
        </p:nvSpPr>
        <p:spPr>
          <a:xfrm>
            <a:off x="713232" y="804672"/>
            <a:ext cx="10762488" cy="1905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005840"/>
            <a:ext cx="5943600" cy="347472"/>
          </a:xfrm>
          <a:prstGeom prst="rect">
            <a:avLst/>
          </a:prstGeom>
          <a:noFill/>
        </p:spPr>
        <p:txBody>
          <a:bodyPr wrap="square" anchor="t" lIns="0" rIns="0" tIns="0" bIns="0">
            <a:spAutoFit/>
          </a:bodyPr>
          <a:lstStyle/>
          <a:p>
            <a:pPr algn="l"/>
            <a:r>
              <a:rPr sz="2000" b="1" i="0">
                <a:solidFill>
                  <a:srgbClr val="FF6600"/>
                </a:solidFill>
                <a:latin typeface="Arial"/>
              </a:rPr>
              <a:t>BRIEFING DE CLIENTE</a:t>
            </a:r>
          </a:p>
        </p:txBody>
      </p:sp>
      <p:sp>
        <p:nvSpPr>
          <p:cNvPr id="6" name="Rectangle 5"/>
          <p:cNvSpPr/>
          <p:nvPr/>
        </p:nvSpPr>
        <p:spPr>
          <a:xfrm>
            <a:off x="713232" y="1353312"/>
            <a:ext cx="1828800" cy="1905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627632"/>
            <a:ext cx="10762488" cy="548640"/>
          </a:xfrm>
          <a:prstGeom prst="rect">
            <a:avLst/>
          </a:prstGeom>
          <a:noFill/>
        </p:spPr>
        <p:txBody>
          <a:bodyPr wrap="square" anchor="t" lIns="0" rIns="0" tIns="0" bIns="0">
            <a:spAutoFit/>
          </a:bodyPr>
          <a:lstStyle/>
          <a:p>
            <a:pPr algn="l"/>
            <a:r>
              <a:rPr sz="3000" b="1" i="0">
                <a:solidFill>
                  <a:srgbClr val="222222"/>
                </a:solidFill>
                <a:latin typeface="Arial"/>
              </a:rPr>
              <a:t>Perfil y situación actual</a:t>
            </a:r>
          </a:p>
        </p:txBody>
      </p:sp>
      <p:sp>
        <p:nvSpPr>
          <p:cNvPr id="8" name="TextBox 7"/>
          <p:cNvSpPr txBox="1"/>
          <p:nvPr/>
        </p:nvSpPr>
        <p:spPr>
          <a:xfrm>
            <a:off x="713232" y="2148840"/>
            <a:ext cx="10762488" cy="822960"/>
          </a:xfrm>
          <a:prstGeom prst="rect">
            <a:avLst/>
          </a:prstGeom>
          <a:noFill/>
        </p:spPr>
        <p:txBody>
          <a:bodyPr wrap="square" anchor="t" lIns="0" rIns="0" tIns="0" bIns="0">
            <a:spAutoFit/>
          </a:bodyPr>
          <a:lstStyle/>
          <a:p>
            <a:pPr algn="l">
              <a:lnSpc>
                <a:spcPct val="130000"/>
              </a:lnSpc>
            </a:pPr>
            <a:r>
              <a:rPr sz="1400" b="0" i="0">
                <a:solidFill>
                  <a:srgbClr val="222222"/>
                </a:solidFill>
                <a:latin typeface="Arial"/>
              </a:rPr>
              <a:t>Energia Holdings SL es una compañía con trayectoria bancaria desde 2011 y rating interno A-, sin historial de impagos. Presenta un perfil de crecimiento rentable, con mejora gradual de márgenes y refuerzo de patrimonio neto en el periodo analizado.</a:t>
            </a:r>
          </a:p>
        </p:txBody>
      </p:sp>
      <p:sp>
        <p:nvSpPr>
          <p:cNvPr id="9" name="TextBox 8"/>
          <p:cNvSpPr txBox="1"/>
          <p:nvPr/>
        </p:nvSpPr>
        <p:spPr>
          <a:xfrm>
            <a:off x="713232" y="2834640"/>
            <a:ext cx="10762488" cy="731520"/>
          </a:xfrm>
          <a:prstGeom prst="rect">
            <a:avLst/>
          </a:prstGeom>
          <a:noFill/>
        </p:spPr>
        <p:txBody>
          <a:bodyPr wrap="square" anchor="t" lIns="0" rIns="0" tIns="0" bIns="0">
            <a:spAutoFit/>
          </a:bodyPr>
          <a:lstStyle/>
          <a:p>
            <a:pPr algn="l">
              <a:lnSpc>
                <a:spcPct val="130000"/>
              </a:lnSpc>
            </a:pPr>
            <a:r>
              <a:rPr sz="1400" b="0" i="0">
                <a:solidFill>
                  <a:srgbClr val="5A6B7B"/>
                </a:solidFill>
                <a:latin typeface="Arial"/>
              </a:rPr>
              <a:t>La empresa muestra expansión sostenida de ingresos (10,0m€ en 2022 a 13,5m€ en 2024) y aceleración del EBITDA (1,6m€ a 2,3m€), con margen EBITDA al alza (~16,0% a ~17,0%). La deuda financiera aumenta (4,2m€ a 5,2m€), pero el apalancamiento Deuda/EBITDA desciende (~2,6x a ~2,3x), sugiriendo que el crecimiento operativo está absorbiendo el mayor endeudamiento.</a:t>
            </a:r>
          </a:p>
        </p:txBody>
      </p:sp>
      <p:sp>
        <p:nvSpPr>
          <p:cNvPr id="10" name="Rectangle 9"/>
          <p:cNvSpPr/>
          <p:nvPr/>
        </p:nvSpPr>
        <p:spPr>
          <a:xfrm>
            <a:off x="640080" y="3703320"/>
            <a:ext cx="5349240" cy="2697480"/>
          </a:xfrm>
          <a:prstGeom prst="rect">
            <a:avLst/>
          </a:prstGeom>
          <a:solidFill>
            <a:srgbClr val="FFFFFF"/>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977639"/>
            <a:ext cx="4480560" cy="274320"/>
          </a:xfrm>
          <a:prstGeom prst="rect">
            <a:avLst/>
          </a:prstGeom>
          <a:noFill/>
        </p:spPr>
        <p:txBody>
          <a:bodyPr wrap="square" anchor="t" lIns="0" rIns="0" tIns="0" bIns="0">
            <a:spAutoFit/>
          </a:bodyPr>
          <a:lstStyle/>
          <a:p>
            <a:pPr algn="l"/>
            <a:r>
              <a:rPr sz="1200" b="1" i="0">
                <a:solidFill>
                  <a:srgbClr val="FF6600"/>
                </a:solidFill>
                <a:latin typeface="Arial"/>
              </a:rPr>
              <a:t>NECESIDADES POTENCIALES</a:t>
            </a:r>
          </a:p>
        </p:txBody>
      </p:sp>
      <p:sp>
        <p:nvSpPr>
          <p:cNvPr id="12" name="TextBox 11"/>
          <p:cNvSpPr txBox="1"/>
          <p:nvPr/>
        </p:nvSpPr>
        <p:spPr>
          <a:xfrm>
            <a:off x="914400" y="4407408"/>
            <a:ext cx="4754880" cy="1737360"/>
          </a:xfrm>
          <a:prstGeom prst="rect">
            <a:avLst/>
          </a:prstGeom>
          <a:noFill/>
        </p:spPr>
        <p:txBody>
          <a:bodyPr wrap="square" lIns="0" rIns="0" tIns="0" bIns="0">
            <a:spAutoFit/>
          </a:bodyPr>
          <a:lstStyle/>
          <a:p>
            <a:pPr>
              <a:lnSpc>
                <a:spcPct val="115000"/>
              </a:lnSpc>
              <a:spcAft>
                <a:spcPts val="1000"/>
              </a:spcAft>
            </a:pPr>
            <a:r>
              <a:rPr sz="1300">
                <a:solidFill>
                  <a:srgbClr val="222222"/>
                </a:solidFill>
                <a:latin typeface="Arial"/>
              </a:rPr>
              <a:t>• Financiación para sostener la expansión comercial (especialmente si el CAPEX estuviera creciendo, dato no disponible).</a:t>
            </a:r>
          </a:p>
          <a:p>
            <a:pPr>
              <a:lnSpc>
                <a:spcPct val="115000"/>
              </a:lnSpc>
              <a:spcAft>
                <a:spcPts val="1000"/>
              </a:spcAft>
            </a:pPr>
            <a:r>
              <a:rPr sz="1300">
                <a:solidFill>
                  <a:srgbClr val="222222"/>
                </a:solidFill>
                <a:latin typeface="Arial"/>
              </a:rPr>
              <a:t>• Optimización de estructura de capital ante el aumento de deuda con apalancamiento contenido (posible refinanciación/ajuste de plazos o condiciones).</a:t>
            </a:r>
          </a:p>
          <a:p>
            <a:pPr>
              <a:lnSpc>
                <a:spcPct val="115000"/>
              </a:lnSpc>
              <a:spcAft>
                <a:spcPts val="1000"/>
              </a:spcAft>
            </a:pPr>
            <a:r>
              <a:rPr sz="1300">
                <a:solidFill>
                  <a:srgbClr val="222222"/>
                </a:solidFill>
                <a:latin typeface="Arial"/>
              </a:rPr>
              <a:t>• Revisión de necesidades de liquidez y planificación financiera para acompañar el crecimiento del balance (sin datos de flujo de caja/CAPEX).</a:t>
            </a:r>
          </a:p>
        </p:txBody>
      </p:sp>
      <p:sp>
        <p:nvSpPr>
          <p:cNvPr id="13" name="Rectangle 12"/>
          <p:cNvSpPr/>
          <p:nvPr/>
        </p:nvSpPr>
        <p:spPr>
          <a:xfrm>
            <a:off x="6217920" y="3703320"/>
            <a:ext cx="5349240" cy="2697480"/>
          </a:xfrm>
          <a:prstGeom prst="rect">
            <a:avLst/>
          </a:prstGeom>
          <a:solidFill>
            <a:srgbClr val="FFFFFF"/>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3977639"/>
            <a:ext cx="4480560" cy="274320"/>
          </a:xfrm>
          <a:prstGeom prst="rect">
            <a:avLst/>
          </a:prstGeom>
          <a:noFill/>
        </p:spPr>
        <p:txBody>
          <a:bodyPr wrap="square" anchor="t" lIns="0" rIns="0" tIns="0" bIns="0">
            <a:spAutoFit/>
          </a:bodyPr>
          <a:lstStyle/>
          <a:p>
            <a:pPr algn="l"/>
            <a:r>
              <a:rPr sz="1200" b="1" i="0">
                <a:solidFill>
                  <a:srgbClr val="FF6600"/>
                </a:solidFill>
                <a:latin typeface="Arial"/>
              </a:rPr>
              <a:t>RIESGOS Y PUNTOS DE ATENCIÓN</a:t>
            </a:r>
          </a:p>
        </p:txBody>
      </p:sp>
      <p:sp>
        <p:nvSpPr>
          <p:cNvPr id="15" name="TextBox 14"/>
          <p:cNvSpPr txBox="1"/>
          <p:nvPr/>
        </p:nvSpPr>
        <p:spPr>
          <a:xfrm>
            <a:off x="6492240" y="4407408"/>
            <a:ext cx="4754880" cy="1737360"/>
          </a:xfrm>
          <a:prstGeom prst="rect">
            <a:avLst/>
          </a:prstGeom>
          <a:noFill/>
        </p:spPr>
        <p:txBody>
          <a:bodyPr wrap="square" lIns="0" rIns="0" tIns="0" bIns="0">
            <a:spAutoFit/>
          </a:bodyPr>
          <a:lstStyle/>
          <a:p>
            <a:pPr>
              <a:lnSpc>
                <a:spcPct val="115000"/>
              </a:lnSpc>
              <a:spcAft>
                <a:spcPts val="1000"/>
              </a:spcAft>
            </a:pPr>
            <a:r>
              <a:rPr sz="1300">
                <a:solidFill>
                  <a:srgbClr val="222222"/>
                </a:solidFill>
                <a:latin typeface="Arial"/>
              </a:rPr>
              <a:t>• Incremento de endeudamiento financiero (4,2m€ → 5,2m€) que podría tensionar la capacidad financiera si el crecimiento se desacelera.</a:t>
            </a:r>
          </a:p>
          <a:p>
            <a:pPr>
              <a:lnSpc>
                <a:spcPct val="115000"/>
              </a:lnSpc>
              <a:spcAft>
                <a:spcPts val="1000"/>
              </a:spcAft>
            </a:pPr>
            <a:r>
              <a:rPr sz="1300">
                <a:solidFill>
                  <a:srgbClr val="222222"/>
                </a:solidFill>
                <a:latin typeface="Arial"/>
              </a:rPr>
              <a:t>• Falta de visibilidad sobre EBIT, CAPEX e intensidad inversora, limitando la evaluación de sostenibilidad del flujo de caja.</a:t>
            </a:r>
          </a:p>
          <a:p>
            <a:pPr>
              <a:lnSpc>
                <a:spcPct val="115000"/>
              </a:lnSpc>
              <a:spcAft>
                <a:spcPts val="1000"/>
              </a:spcAft>
            </a:pPr>
            <a:r>
              <a:rPr sz="1300">
                <a:solidFill>
                  <a:srgbClr val="222222"/>
                </a:solidFill>
                <a:latin typeface="Arial"/>
              </a:rPr>
              <a:t>• Dependencia implícita de mantener el ritmo de crecimiento para conservar el apalancamiento en niveles contenidos.</a:t>
            </a:r>
          </a:p>
        </p:txBody>
      </p:sp>
      <p:sp>
        <p:nvSpPr>
          <p:cNvPr id="16" name="TextBox 15"/>
          <p:cNvSpPr txBox="1"/>
          <p:nvPr/>
        </p:nvSpPr>
        <p:spPr>
          <a:xfrm>
            <a:off x="713232" y="6400800"/>
            <a:ext cx="8229600" cy="228600"/>
          </a:xfrm>
          <a:prstGeom prst="rect">
            <a:avLst/>
          </a:prstGeom>
          <a:noFill/>
        </p:spPr>
        <p:txBody>
          <a:bodyPr wrap="square" anchor="t" lIns="0" rIns="0" tIns="0" bIns="0">
            <a:spAutoFit/>
          </a:bodyPr>
          <a:lstStyle/>
          <a:p>
            <a:pPr algn="l"/>
            <a:r>
              <a:rPr sz="950" b="0" i="0">
                <a:solidFill>
                  <a:srgbClr val="8A96A3"/>
                </a:solidFill>
                <a:latin typeface="Arial"/>
              </a:rPr>
              <a:t>Corporate &amp; Deal Intelligence  ·  Documento de uso interno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narangrande.png"/>
          <p:cNvPicPr>
            <a:picLocks noChangeAspect="1"/>
          </p:cNvPicPr>
          <p:nvPr/>
        </p:nvPicPr>
        <p:blipFill>
          <a:blip r:embed="rId2"/>
          <a:stretch>
            <a:fillRect/>
          </a:stretch>
        </p:blipFill>
        <p:spPr>
          <a:xfrm>
            <a:off x="713232" y="256032"/>
            <a:ext cx="2272986" cy="384048"/>
          </a:xfrm>
          <a:prstGeom prst="rect">
            <a:avLst/>
          </a:prstGeom>
        </p:spPr>
      </p:pic>
      <p:sp>
        <p:nvSpPr>
          <p:cNvPr id="4" name="Rectangle 3"/>
          <p:cNvSpPr/>
          <p:nvPr/>
        </p:nvSpPr>
        <p:spPr>
          <a:xfrm>
            <a:off x="713232" y="804672"/>
            <a:ext cx="10762488" cy="1905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005840"/>
            <a:ext cx="5943600" cy="347472"/>
          </a:xfrm>
          <a:prstGeom prst="rect">
            <a:avLst/>
          </a:prstGeom>
          <a:noFill/>
        </p:spPr>
        <p:txBody>
          <a:bodyPr wrap="square" anchor="t" lIns="0" rIns="0" tIns="0" bIns="0">
            <a:spAutoFit/>
          </a:bodyPr>
          <a:lstStyle/>
          <a:p>
            <a:pPr algn="l"/>
            <a:r>
              <a:rPr sz="2000" b="1" i="0">
                <a:solidFill>
                  <a:srgbClr val="FF6600"/>
                </a:solidFill>
                <a:latin typeface="Arial"/>
              </a:rPr>
              <a:t>ENCAJE Y COMPARABLES</a:t>
            </a:r>
          </a:p>
        </p:txBody>
      </p:sp>
      <p:sp>
        <p:nvSpPr>
          <p:cNvPr id="6" name="Rectangle 5"/>
          <p:cNvSpPr/>
          <p:nvPr/>
        </p:nvSpPr>
        <p:spPr>
          <a:xfrm>
            <a:off x="713232" y="1353312"/>
            <a:ext cx="1828800" cy="1905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627632"/>
            <a:ext cx="10762488" cy="548640"/>
          </a:xfrm>
          <a:prstGeom prst="rect">
            <a:avLst/>
          </a:prstGeom>
          <a:noFill/>
        </p:spPr>
        <p:txBody>
          <a:bodyPr wrap="square" anchor="t" lIns="0" rIns="0" tIns="0" bIns="0">
            <a:spAutoFit/>
          </a:bodyPr>
          <a:lstStyle/>
          <a:p>
            <a:pPr algn="l"/>
            <a:r>
              <a:rPr sz="3000" b="1" i="0">
                <a:solidFill>
                  <a:srgbClr val="222222"/>
                </a:solidFill>
                <a:latin typeface="Arial"/>
              </a:rPr>
              <a:t>Cómo podemos ayudar</a:t>
            </a:r>
          </a:p>
        </p:txBody>
      </p:sp>
      <p:sp>
        <p:nvSpPr>
          <p:cNvPr id="8" name="Rectangle 7"/>
          <p:cNvSpPr/>
          <p:nvPr/>
        </p:nvSpPr>
        <p:spPr>
          <a:xfrm>
            <a:off x="640080" y="2194560"/>
            <a:ext cx="6400800" cy="2880360"/>
          </a:xfrm>
          <a:prstGeom prst="rect">
            <a:avLst/>
          </a:prstGeom>
          <a:solidFill>
            <a:srgbClr val="FFFFFF"/>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450592"/>
            <a:ext cx="5852160" cy="228600"/>
          </a:xfrm>
          <a:prstGeom prst="rect">
            <a:avLst/>
          </a:prstGeom>
          <a:noFill/>
        </p:spPr>
        <p:txBody>
          <a:bodyPr wrap="square" anchor="t" lIns="0" rIns="0" tIns="0" bIns="0">
            <a:spAutoFit/>
          </a:bodyPr>
          <a:lstStyle/>
          <a:p>
            <a:pPr algn="l"/>
            <a:r>
              <a:rPr sz="1100" b="1" i="0">
                <a:solidFill>
                  <a:srgbClr val="FF6600"/>
                </a:solidFill>
                <a:latin typeface="Arial"/>
              </a:rPr>
              <a:t>ENCAJE CON PRODUCTOS DEL BANCO</a:t>
            </a:r>
          </a:p>
        </p:txBody>
      </p:sp>
      <p:sp>
        <p:nvSpPr>
          <p:cNvPr id="10" name="TextBox 9"/>
          <p:cNvSpPr txBox="1"/>
          <p:nvPr/>
        </p:nvSpPr>
        <p:spPr>
          <a:xfrm>
            <a:off x="914400" y="2816352"/>
            <a:ext cx="5669280" cy="1920240"/>
          </a:xfrm>
          <a:prstGeom prst="rect">
            <a:avLst/>
          </a:prstGeom>
          <a:noFill/>
        </p:spPr>
        <p:txBody>
          <a:bodyPr wrap="square" lIns="0" rIns="0" tIns="0" bIns="0">
            <a:spAutoFit/>
          </a:bodyPr>
          <a:lstStyle/>
          <a:p>
            <a:pPr>
              <a:lnSpc>
                <a:spcPct val="115000"/>
              </a:lnSpc>
              <a:spcAft>
                <a:spcPts val="1000"/>
              </a:spcAft>
            </a:pPr>
            <a:r>
              <a:rPr sz="1350">
                <a:solidFill>
                  <a:srgbClr val="222222"/>
                </a:solidFill>
                <a:latin typeface="Arial"/>
              </a:rPr>
              <a:t>• Financiación corporativa para crecimiento (línea de inversión y/o préstamo a medio-largo plazo) con estructura alineada al calendario de CAPEX y generación de EBITDA</a:t>
            </a:r>
          </a:p>
          <a:p>
            <a:pPr>
              <a:lnSpc>
                <a:spcPct val="115000"/>
              </a:lnSpc>
              <a:spcAft>
                <a:spcPts val="1000"/>
              </a:spcAft>
            </a:pPr>
            <a:r>
              <a:rPr sz="1350">
                <a:solidFill>
                  <a:srgbClr val="222222"/>
                </a:solidFill>
                <a:latin typeface="Arial"/>
              </a:rPr>
              <a:t>• Refinanciación y optimización de estructura de deuda (reperfilado de vencimientos, mejora de coste, covenants y flexibilidad) complementada con líneas de circulante si el crecimiento tensiona el capital de trabajo</a:t>
            </a:r>
          </a:p>
        </p:txBody>
      </p:sp>
      <p:sp>
        <p:nvSpPr>
          <p:cNvPr id="11" name="Rectangle 10"/>
          <p:cNvSpPr/>
          <p:nvPr/>
        </p:nvSpPr>
        <p:spPr>
          <a:xfrm>
            <a:off x="7406640" y="2194560"/>
            <a:ext cx="4160520" cy="3200400"/>
          </a:xfrm>
          <a:prstGeom prst="rect">
            <a:avLst/>
          </a:prstGeom>
          <a:solidFill>
            <a:srgbClr val="F5F5F5"/>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99248" y="2450592"/>
            <a:ext cx="3566160" cy="228600"/>
          </a:xfrm>
          <a:prstGeom prst="rect">
            <a:avLst/>
          </a:prstGeom>
          <a:noFill/>
        </p:spPr>
        <p:txBody>
          <a:bodyPr wrap="square" anchor="t" lIns="0" rIns="0" tIns="0" bIns="0">
            <a:spAutoFit/>
          </a:bodyPr>
          <a:lstStyle/>
          <a:p>
            <a:pPr algn="l"/>
            <a:r>
              <a:rPr sz="1100" b="1" i="0">
                <a:solidFill>
                  <a:srgbClr val="FF6600"/>
                </a:solidFill>
                <a:latin typeface="Arial"/>
              </a:rPr>
              <a:t>COMPARABLES SECTORIALES</a:t>
            </a:r>
          </a:p>
        </p:txBody>
      </p:sp>
      <p:sp>
        <p:nvSpPr>
          <p:cNvPr id="13" name="TextBox 12"/>
          <p:cNvSpPr txBox="1"/>
          <p:nvPr/>
        </p:nvSpPr>
        <p:spPr>
          <a:xfrm>
            <a:off x="7699248" y="2971800"/>
            <a:ext cx="3566160" cy="1371600"/>
          </a:xfrm>
          <a:prstGeom prst="rect">
            <a:avLst/>
          </a:prstGeom>
          <a:noFill/>
        </p:spPr>
        <p:txBody>
          <a:bodyPr wrap="square" anchor="t" lIns="0" rIns="0" tIns="0" bIns="0">
            <a:spAutoFit/>
          </a:bodyPr>
          <a:lstStyle/>
          <a:p>
            <a:pPr algn="l">
              <a:lnSpc>
                <a:spcPct val="130000"/>
              </a:lnSpc>
            </a:pPr>
            <a:r>
              <a:rPr sz="1250" b="0" i="0">
                <a:solidFill>
                  <a:srgbClr val="222222"/>
                </a:solidFill>
                <a:latin typeface="Arial"/>
              </a:rPr>
              <a:t>Grupos regionales de servicios energéticos y mantenimiento industrial con ingresos 10–50m€ y margen EBITDA 12–20% (privados)</a:t>
            </a:r>
          </a:p>
        </p:txBody>
      </p:sp>
      <p:sp>
        <p:nvSpPr>
          <p:cNvPr id="14" name="TextBox 13"/>
          <p:cNvSpPr txBox="1"/>
          <p:nvPr/>
        </p:nvSpPr>
        <p:spPr>
          <a:xfrm>
            <a:off x="7699248" y="4251960"/>
            <a:ext cx="3566160" cy="1371600"/>
          </a:xfrm>
          <a:prstGeom prst="rect">
            <a:avLst/>
          </a:prstGeom>
          <a:noFill/>
        </p:spPr>
        <p:txBody>
          <a:bodyPr wrap="square" anchor="t" lIns="0" rIns="0" tIns="0" bIns="0">
            <a:spAutoFit/>
          </a:bodyPr>
          <a:lstStyle/>
          <a:p>
            <a:pPr algn="l">
              <a:lnSpc>
                <a:spcPct val="130000"/>
              </a:lnSpc>
            </a:pPr>
            <a:r>
              <a:rPr sz="1250" b="0" i="0">
                <a:solidFill>
                  <a:srgbClr val="222222"/>
                </a:solidFill>
                <a:latin typeface="Arial"/>
              </a:rPr>
              <a:t>Plataformas de eficiencia energética / ingeniería y servicios técnicos con crecimiento orgánico de doble dígito y apalancamiento 2,0–3,5x Deuda/EBITDA (privados)</a:t>
            </a:r>
          </a:p>
        </p:txBody>
      </p:sp>
      <p:sp>
        <p:nvSpPr>
          <p:cNvPr id="15" name="TextBox 14"/>
          <p:cNvSpPr txBox="1"/>
          <p:nvPr/>
        </p:nvSpPr>
        <p:spPr>
          <a:xfrm>
            <a:off x="713232" y="5532120"/>
            <a:ext cx="10762488" cy="228600"/>
          </a:xfrm>
          <a:prstGeom prst="rect">
            <a:avLst/>
          </a:prstGeom>
          <a:noFill/>
        </p:spPr>
        <p:txBody>
          <a:bodyPr wrap="square" anchor="t" lIns="0" rIns="0" tIns="0" bIns="0">
            <a:spAutoFit/>
          </a:bodyPr>
          <a:lstStyle/>
          <a:p>
            <a:pPr algn="l"/>
            <a:r>
              <a:rPr sz="1100" b="1" i="0">
                <a:solidFill>
                  <a:srgbClr val="5A6B7B"/>
                </a:solidFill>
                <a:latin typeface="Arial"/>
              </a:rPr>
              <a:t>ARGUMENTOS DE VALOR</a:t>
            </a:r>
          </a:p>
        </p:txBody>
      </p:sp>
      <p:sp>
        <p:nvSpPr>
          <p:cNvPr id="16" name="Rectangle 15"/>
          <p:cNvSpPr/>
          <p:nvPr/>
        </p:nvSpPr>
        <p:spPr>
          <a:xfrm>
            <a:off x="640080" y="5806440"/>
            <a:ext cx="3520440" cy="914400"/>
          </a:xfrm>
          <a:prstGeom prst="rect">
            <a:avLst/>
          </a:prstGeom>
          <a:solidFill>
            <a:srgbClr val="FFFFFF"/>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 y="5943600"/>
            <a:ext cx="3118104" cy="566928"/>
          </a:xfrm>
          <a:prstGeom prst="rect">
            <a:avLst/>
          </a:prstGeom>
          <a:noFill/>
        </p:spPr>
        <p:txBody>
          <a:bodyPr wrap="square" anchor="ctr" lIns="0" rIns="0" tIns="0" bIns="0">
            <a:spAutoFit/>
          </a:bodyPr>
          <a:lstStyle/>
          <a:p>
            <a:pPr algn="l">
              <a:lnSpc>
                <a:spcPct val="115000"/>
              </a:lnSpc>
            </a:pPr>
            <a:r>
              <a:rPr sz="1150" b="0" i="0">
                <a:solidFill>
                  <a:srgbClr val="222222"/>
                </a:solidFill>
                <a:latin typeface="Arial"/>
              </a:rPr>
              <a:t>Alineación de la estructura financiera con el crecimiento: dimensionar deuda y plazos a partir del plan de inversión (CAPEX) y la capacidad de generación de caja, evitando tensiones de liquidez durante la expansión</a:t>
            </a:r>
          </a:p>
        </p:txBody>
      </p:sp>
      <p:sp>
        <p:nvSpPr>
          <p:cNvPr id="18" name="Rectangle 17"/>
          <p:cNvSpPr/>
          <p:nvPr/>
        </p:nvSpPr>
        <p:spPr>
          <a:xfrm>
            <a:off x="4434840" y="5806440"/>
            <a:ext cx="3520440" cy="914400"/>
          </a:xfrm>
          <a:prstGeom prst="rect">
            <a:avLst/>
          </a:prstGeom>
          <a:solidFill>
            <a:srgbClr val="FFFFFF"/>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36008" y="5943600"/>
            <a:ext cx="3118104" cy="566928"/>
          </a:xfrm>
          <a:prstGeom prst="rect">
            <a:avLst/>
          </a:prstGeom>
          <a:noFill/>
        </p:spPr>
        <p:txBody>
          <a:bodyPr wrap="square" anchor="ctr" lIns="0" rIns="0" tIns="0" bIns="0">
            <a:spAutoFit/>
          </a:bodyPr>
          <a:lstStyle/>
          <a:p>
            <a:pPr algn="l">
              <a:lnSpc>
                <a:spcPct val="115000"/>
              </a:lnSpc>
            </a:pPr>
            <a:r>
              <a:rPr sz="1150" b="0" i="0">
                <a:solidFill>
                  <a:srgbClr val="222222"/>
                </a:solidFill>
                <a:latin typeface="Arial"/>
              </a:rPr>
              <a:t>Optimización de coste y flexibilidad: con apalancamiento contenido (~2,3x), existe margen para mejorar condiciones (precio, vencimientos, covenants) y reducir riesgo de refinanciación</a:t>
            </a:r>
          </a:p>
        </p:txBody>
      </p:sp>
      <p:sp>
        <p:nvSpPr>
          <p:cNvPr id="20" name="Rectangle 19"/>
          <p:cNvSpPr/>
          <p:nvPr/>
        </p:nvSpPr>
        <p:spPr>
          <a:xfrm>
            <a:off x="8229600" y="5806440"/>
            <a:ext cx="3520440" cy="914400"/>
          </a:xfrm>
          <a:prstGeom prst="rect">
            <a:avLst/>
          </a:prstGeom>
          <a:solidFill>
            <a:srgbClr val="FFFFFF"/>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30768" y="5943600"/>
            <a:ext cx="3118104" cy="566928"/>
          </a:xfrm>
          <a:prstGeom prst="rect">
            <a:avLst/>
          </a:prstGeom>
          <a:noFill/>
        </p:spPr>
        <p:txBody>
          <a:bodyPr wrap="square" anchor="ctr" lIns="0" rIns="0" tIns="0" bIns="0">
            <a:spAutoFit/>
          </a:bodyPr>
          <a:lstStyle/>
          <a:p>
            <a:pPr algn="l">
              <a:lnSpc>
                <a:spcPct val="115000"/>
              </a:lnSpc>
            </a:pPr>
            <a:r>
              <a:rPr sz="1150" b="0" i="0">
                <a:solidFill>
                  <a:srgbClr val="222222"/>
                </a:solidFill>
                <a:latin typeface="Arial"/>
              </a:rPr>
              <a:t>Mejora de visibilidad y gobernanza financiera: construir un marco de planificación (EBIT, CAPEX, flujo de caja, escenarios) que permita anticipar necesidades y negociar desde una posición de fortaleza</a:t>
            </a:r>
          </a:p>
        </p:txBody>
      </p:sp>
      <p:sp>
        <p:nvSpPr>
          <p:cNvPr id="22" name="TextBox 21"/>
          <p:cNvSpPr txBox="1"/>
          <p:nvPr/>
        </p:nvSpPr>
        <p:spPr>
          <a:xfrm>
            <a:off x="713232" y="6400800"/>
            <a:ext cx="8229600" cy="228600"/>
          </a:xfrm>
          <a:prstGeom prst="rect">
            <a:avLst/>
          </a:prstGeom>
          <a:noFill/>
        </p:spPr>
        <p:txBody>
          <a:bodyPr wrap="square" anchor="t" lIns="0" rIns="0" tIns="0" bIns="0">
            <a:spAutoFit/>
          </a:bodyPr>
          <a:lstStyle/>
          <a:p>
            <a:pPr algn="l"/>
            <a:r>
              <a:rPr sz="950" b="0" i="0">
                <a:solidFill>
                  <a:srgbClr val="8A96A3"/>
                </a:solidFill>
                <a:latin typeface="Arial"/>
              </a:rPr>
              <a:t>Corporate &amp; Deal Intelligence  ·  Documento de uso interno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narangrande.png"/>
          <p:cNvPicPr>
            <a:picLocks noChangeAspect="1"/>
          </p:cNvPicPr>
          <p:nvPr/>
        </p:nvPicPr>
        <p:blipFill>
          <a:blip r:embed="rId2"/>
          <a:stretch>
            <a:fillRect/>
          </a:stretch>
        </p:blipFill>
        <p:spPr>
          <a:xfrm>
            <a:off x="713232" y="256032"/>
            <a:ext cx="2272986" cy="384048"/>
          </a:xfrm>
          <a:prstGeom prst="rect">
            <a:avLst/>
          </a:prstGeom>
        </p:spPr>
      </p:pic>
      <p:sp>
        <p:nvSpPr>
          <p:cNvPr id="4" name="Rectangle 3"/>
          <p:cNvSpPr/>
          <p:nvPr/>
        </p:nvSpPr>
        <p:spPr>
          <a:xfrm>
            <a:off x="713232" y="804672"/>
            <a:ext cx="10762488" cy="1905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417320"/>
            <a:ext cx="10762488" cy="640080"/>
          </a:xfrm>
          <a:prstGeom prst="rect">
            <a:avLst/>
          </a:prstGeom>
          <a:noFill/>
        </p:spPr>
        <p:txBody>
          <a:bodyPr wrap="square" anchor="t" lIns="0" rIns="0" tIns="0" bIns="0">
            <a:spAutoFit/>
          </a:bodyPr>
          <a:lstStyle/>
          <a:p>
            <a:pPr algn="l"/>
            <a:r>
              <a:rPr sz="3400" b="1" i="0">
                <a:solidFill>
                  <a:srgbClr val="FF6600"/>
                </a:solidFill>
                <a:latin typeface="Arial"/>
              </a:rPr>
              <a:t>Next steps</a:t>
            </a:r>
          </a:p>
        </p:txBody>
      </p:sp>
      <p:sp>
        <p:nvSpPr>
          <p:cNvPr id="6" name="TextBox 5"/>
          <p:cNvSpPr txBox="1"/>
          <p:nvPr/>
        </p:nvSpPr>
        <p:spPr>
          <a:xfrm>
            <a:off x="713232" y="1993392"/>
            <a:ext cx="9784080" cy="640080"/>
          </a:xfrm>
          <a:prstGeom prst="rect">
            <a:avLst/>
          </a:prstGeom>
          <a:noFill/>
        </p:spPr>
        <p:txBody>
          <a:bodyPr wrap="square" anchor="t" lIns="0" rIns="0" tIns="0" bIns="0">
            <a:spAutoFit/>
          </a:bodyPr>
          <a:lstStyle/>
          <a:p>
            <a:pPr algn="l">
              <a:lnSpc>
                <a:spcPct val="130000"/>
              </a:lnSpc>
            </a:pPr>
            <a:r>
              <a:rPr sz="1500" b="0" i="0">
                <a:solidFill>
                  <a:srgbClr val="5A6B7B"/>
                </a:solidFill>
                <a:latin typeface="Arial"/>
              </a:rPr>
              <a:t>El equipo comercial revisa, ajusta y personaliza esta propuesta antes de cualquier interacción con el cliente.</a:t>
            </a:r>
          </a:p>
        </p:txBody>
      </p:sp>
      <p:sp>
        <p:nvSpPr>
          <p:cNvPr id="7" name="TextBox 6"/>
          <p:cNvSpPr txBox="1"/>
          <p:nvPr/>
        </p:nvSpPr>
        <p:spPr>
          <a:xfrm>
            <a:off x="713232" y="2743200"/>
            <a:ext cx="274320" cy="274320"/>
          </a:xfrm>
          <a:prstGeom prst="rect">
            <a:avLst/>
          </a:prstGeom>
          <a:noFill/>
        </p:spPr>
        <p:txBody>
          <a:bodyPr wrap="square" anchor="t" lIns="0" rIns="0" tIns="0" bIns="0">
            <a:spAutoFit/>
          </a:bodyPr>
          <a:lstStyle/>
          <a:p>
            <a:pPr algn="l"/>
            <a:r>
              <a:rPr sz="1700" b="1" i="0">
                <a:solidFill>
                  <a:srgbClr val="FF6600"/>
                </a:solidFill>
                <a:latin typeface="Arial"/>
              </a:rPr>
              <a:t>1.</a:t>
            </a:r>
          </a:p>
        </p:txBody>
      </p:sp>
      <p:sp>
        <p:nvSpPr>
          <p:cNvPr id="8" name="TextBox 7"/>
          <p:cNvSpPr txBox="1"/>
          <p:nvPr/>
        </p:nvSpPr>
        <p:spPr>
          <a:xfrm>
            <a:off x="1060704" y="2743200"/>
            <a:ext cx="9619488" cy="457200"/>
          </a:xfrm>
          <a:prstGeom prst="rect">
            <a:avLst/>
          </a:prstGeom>
          <a:noFill/>
        </p:spPr>
        <p:txBody>
          <a:bodyPr wrap="square" anchor="t" lIns="0" rIns="0" tIns="0" bIns="0">
            <a:spAutoFit/>
          </a:bodyPr>
          <a:lstStyle/>
          <a:p>
            <a:pPr algn="l">
              <a:lnSpc>
                <a:spcPct val="120000"/>
              </a:lnSpc>
            </a:pPr>
            <a:r>
              <a:rPr sz="1700" b="0" i="0">
                <a:solidFill>
                  <a:srgbClr val="222222"/>
                </a:solidFill>
                <a:latin typeface="Arial"/>
              </a:rPr>
              <a:t>Solicitud de información para diagnóstico: detalle de deuda (vencimientos, coste, garantías, covenants), EBIT, CAPEX (mantenimiento vs. crecimiento), flujo de caja y capital de trabajo</a:t>
            </a:r>
          </a:p>
        </p:txBody>
      </p:sp>
      <p:sp>
        <p:nvSpPr>
          <p:cNvPr id="9" name="TextBox 8"/>
          <p:cNvSpPr txBox="1"/>
          <p:nvPr/>
        </p:nvSpPr>
        <p:spPr>
          <a:xfrm>
            <a:off x="713232" y="3584448"/>
            <a:ext cx="274320" cy="274320"/>
          </a:xfrm>
          <a:prstGeom prst="rect">
            <a:avLst/>
          </a:prstGeom>
          <a:noFill/>
        </p:spPr>
        <p:txBody>
          <a:bodyPr wrap="square" anchor="t" lIns="0" rIns="0" tIns="0" bIns="0">
            <a:spAutoFit/>
          </a:bodyPr>
          <a:lstStyle/>
          <a:p>
            <a:pPr algn="l"/>
            <a:r>
              <a:rPr sz="1700" b="1" i="0">
                <a:solidFill>
                  <a:srgbClr val="FF6600"/>
                </a:solidFill>
                <a:latin typeface="Arial"/>
              </a:rPr>
              <a:t>2.</a:t>
            </a:r>
          </a:p>
        </p:txBody>
      </p:sp>
      <p:sp>
        <p:nvSpPr>
          <p:cNvPr id="10" name="TextBox 9"/>
          <p:cNvSpPr txBox="1"/>
          <p:nvPr/>
        </p:nvSpPr>
        <p:spPr>
          <a:xfrm>
            <a:off x="1060704" y="3584448"/>
            <a:ext cx="9619488" cy="457200"/>
          </a:xfrm>
          <a:prstGeom prst="rect">
            <a:avLst/>
          </a:prstGeom>
          <a:noFill/>
        </p:spPr>
        <p:txBody>
          <a:bodyPr wrap="square" anchor="t" lIns="0" rIns="0" tIns="0" bIns="0">
            <a:spAutoFit/>
          </a:bodyPr>
          <a:lstStyle/>
          <a:p>
            <a:pPr algn="l">
              <a:lnSpc>
                <a:spcPct val="120000"/>
              </a:lnSpc>
            </a:pPr>
            <a:r>
              <a:rPr sz="1700" b="0" i="0">
                <a:solidFill>
                  <a:srgbClr val="222222"/>
                </a:solidFill>
                <a:latin typeface="Arial"/>
              </a:rPr>
              <a:t>Sesión de trabajo para validar drivers del crecimiento y plan 12–36 meses (inversión, expansión comercial, necesidades de circulante) y definir objetivos de apalancamiento y liquidez</a:t>
            </a:r>
          </a:p>
        </p:txBody>
      </p:sp>
      <p:sp>
        <p:nvSpPr>
          <p:cNvPr id="11" name="TextBox 10"/>
          <p:cNvSpPr txBox="1"/>
          <p:nvPr/>
        </p:nvSpPr>
        <p:spPr>
          <a:xfrm>
            <a:off x="713232" y="4425696"/>
            <a:ext cx="274320" cy="274320"/>
          </a:xfrm>
          <a:prstGeom prst="rect">
            <a:avLst/>
          </a:prstGeom>
          <a:noFill/>
        </p:spPr>
        <p:txBody>
          <a:bodyPr wrap="square" anchor="t" lIns="0" rIns="0" tIns="0" bIns="0">
            <a:spAutoFit/>
          </a:bodyPr>
          <a:lstStyle/>
          <a:p>
            <a:pPr algn="l"/>
            <a:r>
              <a:rPr sz="1700" b="1" i="0">
                <a:solidFill>
                  <a:srgbClr val="FF6600"/>
                </a:solidFill>
                <a:latin typeface="Arial"/>
              </a:rPr>
              <a:t>3.</a:t>
            </a:r>
          </a:p>
        </p:txBody>
      </p:sp>
      <p:sp>
        <p:nvSpPr>
          <p:cNvPr id="12" name="TextBox 11"/>
          <p:cNvSpPr txBox="1"/>
          <p:nvPr/>
        </p:nvSpPr>
        <p:spPr>
          <a:xfrm>
            <a:off x="1060704" y="4425696"/>
            <a:ext cx="9619488" cy="457200"/>
          </a:xfrm>
          <a:prstGeom prst="rect">
            <a:avLst/>
          </a:prstGeom>
          <a:noFill/>
        </p:spPr>
        <p:txBody>
          <a:bodyPr wrap="square" anchor="t" lIns="0" rIns="0" tIns="0" bIns="0">
            <a:spAutoFit/>
          </a:bodyPr>
          <a:lstStyle/>
          <a:p>
            <a:pPr algn="l">
              <a:lnSpc>
                <a:spcPct val="120000"/>
              </a:lnSpc>
            </a:pPr>
            <a:r>
              <a:rPr sz="1700" b="0" i="0">
                <a:solidFill>
                  <a:srgbClr val="222222"/>
                </a:solidFill>
                <a:latin typeface="Arial"/>
              </a:rPr>
              <a:t>Presentación de alternativas estructurales (financiación de inversión, refinanciación, líneas de circulante) con comparativa de términos y recomendación de estructura objetivo</a:t>
            </a:r>
          </a:p>
        </p:txBody>
      </p:sp>
      <p:sp>
        <p:nvSpPr>
          <p:cNvPr id="13" name="TextBox 12"/>
          <p:cNvSpPr txBox="1"/>
          <p:nvPr/>
        </p:nvSpPr>
        <p:spPr>
          <a:xfrm>
            <a:off x="713232" y="6400800"/>
            <a:ext cx="8229600" cy="228600"/>
          </a:xfrm>
          <a:prstGeom prst="rect">
            <a:avLst/>
          </a:prstGeom>
          <a:noFill/>
        </p:spPr>
        <p:txBody>
          <a:bodyPr wrap="square" anchor="t" lIns="0" rIns="0" tIns="0" bIns="0">
            <a:spAutoFit/>
          </a:bodyPr>
          <a:lstStyle/>
          <a:p>
            <a:pPr algn="l"/>
            <a:r>
              <a:rPr sz="950" b="0" i="0">
                <a:solidFill>
                  <a:srgbClr val="8A96A3"/>
                </a:solidFill>
                <a:latin typeface="Arial"/>
              </a:rPr>
              <a:t>Corporate &amp; Deal Intelligence  ·  Documento de uso interno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
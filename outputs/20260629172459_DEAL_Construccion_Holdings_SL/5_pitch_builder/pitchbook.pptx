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NO ESPECIFICADO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Refinanciación y optimización de deuda para Construccion Holdings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Reordenar vencimientos y suavizar amortizaciones para reducir riesgo de refinanciación, mejorar coste financiero y alinear la deuda con el ciclo de proyectos.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Construccion Holdings 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Construccion Holdings SL presenta una necesidad prioritaria de refinanciación y optimización de su estructura de deuda, con foco en vencimientos próximos y un calendario de amortización potencialmente exigente para un negocio con cobros por hitos. El momento es oportuno porque la compañía ha incrementado ingresos y EBITDA de forma sostenida (2022–2024) y ha reforzado patrimonio neto, lo que permite negociar mejores condiciones y mayor flexibilidad. La propuesta busca reducir picos de caja, mejorar visibilidad de liquidez a 12–36 meses y separar financiación estructural de necesidades operativas (circulante y avales).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Solicitud de información (cliente, 48–72h): detalle de deuda por tramo (importe, tipo fijo/variable, vencimiento, amortización, garantías, covenants) y cuadro de amortización vigente.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10,0m€ → 13,5m€ (+35,0% vs.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No especificado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10,0m€ → 13,5m€ (+35,0% vs. 2022)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(2022→2024)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+18,0% (2023) ; +14,4%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Crecimiento ingresos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1,6m€ → 2,3m€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EBITDA (2022→2024)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Crecimiento sostenido de ingresos 2022–2024 con desaceleración moderada del YoY (18,0% a 14,4%) pero expansión acumulada relevante (+35,0% vs. 2022).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Mejora gradual de rentabilidad operativa (EBITDA y margen EBITDA) consistente con apalancamiento operativo y/o mejor ejecución de proyectos.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Aumento de deuda financiera en términos absolutos (4,2m€ a 5,2m€) pero apalancamiento relativamente estable gracias al crecimiento del EBITDA.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Refuerzo de la base de capital vía crecimiento del patrimonio neto (3,2m€ a 4,2m€), lo que sugiere capacidad de absorber parte del crecimiento del balance.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La compañía combina expansión de actividad con mejora gradual de márgenes, lo que apunta a una trayectoria operativa positiva y cierta disciplina en la gestión del apalancamiento (Deuda/EBITDA estable pese al aumento de deuda). El crecimiento del endeudamiento y la naturaleza del negocio de construcción sugieren potencial necesidad de financiación para circulante y garantías de obra, además de posible optimización de la estructura de deuda. Falta información de CAPEX y EBIT/amortizaciones para evaluar intensidad inversora, generación de caja y sostenibilidad del crecimiento sin presión adicional de financiación.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Construccion Holdings SL es una compañía del sector construcción con trayectoria bancaria desde 2018 y un perfil de riesgo interno BBB+. Presenta crecimiento sostenido (ingresos 10,0m€ en 2022 a 13,5m€ en 2024) y mejora gradual de rentabilidad (EBITDA 1,6m€ a 2,3m€), con endeudamiento en aumento pero apalancamiento estable (~2,6x–2,7x Deuda/EBITDA).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La oportunidad prioritaria es una refinanciación y optimización de la estructura de deuda, con foco en vencimientos próximos y calendario de amortización. La empresa está creciendo y mejorando márgenes, mientras la deuda financiera sube (4,2m€ a 5,2m€ en 2022–2024) sin deterioro aparente del apalancamiento, lo que abre margen para reordenar plazos/costes y alinear la deuda con el ciclo de proyectos. No registra impagos y mantiene 2 operaciones activas, lo que sugiere una relación estable y capacidad de ejecución si se estructura bien la solución.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Refinanciación de vencimientos próximos: extensión de plazos y rediseño del calendario de amortización para reducir picos de caja y riesgo de refinanciación, manteniendo Deuda/EBITDA en torno a ~2,6x–2,7x.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Optimización del coste financiero y condiciones (pricing/covenants) aprovechando la mejora de EBITDA (1,6m€→2,3m€) y el refuerzo de patrimonio neto (3,2m€→4,2m€) como argumentos de crédito.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Líneas de circulante específicas para construcción (póliza/confirming/anticipo de certificaciones) para acompañar el crecimiento de actividad y mitigar tensiones de caja típicas del ciclo de cobros/pagos del sector.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Instrumentos para garantías/avales de obra vinculados a nuevos proyectos, evitando consumir capacidad de deuda amortizable y separando necesidades operativas de financiación estructural.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de liquidez por concentración de amortizaciones en el corto plazo (picos de vencimiento) en un negocio con cobros por hitos y potencial descalce de circulante.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Riesgo sectorial/ejecución de proyectos: desviaciones de costes, retrasos o disputas pueden erosionar márgenes y tensionar el servicio de deuda pese a la mejora reciente del EBITDA.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Visibilidad limitada de CAPEX, EBIT y amortizaciones: posible presión de caja no reflejada en EBITDA que afecte la capacidad real de repago y el diseño óptimo de plazos.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Préstamo a plazo / tramo amortizable para refinanciar vencimientos próximos y extender plazos, reduciendo picos de caja y alineando amortización con la generación operativa.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Tramo con amortización parcial bullet (o carencia parcial) para suavizar el perfil de repago en periodos de mayor consumo de circulante por ejecución de obra.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Líneas de circulante (póliza de crédito, confirming, anticipo de certificaciones) para financiar el descalce cobros/pagos típico del sector sin tensionar la deuda estructural.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Líneas de avales y garantías de obra para licitaciones/ejecución, separando necesidades de garantías de la capacidad de endeudamiento amortizable.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sectorial: compañías de construcción/contratistas de tamaño medio suelen estructurar deuda con mix de financiación a plazo + líneas de circulante + avales para gestionar estacionalidad y cobros por hitos.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de mercado: en perfiles con apalancamiento ~2,5x–3,0x Deuda/EBITDA y tendencia positiva de EBITDA, es habitual buscar extensión de plazos y mayor flexibilidad de covenants para mitigar riesgo de refinanciación y volatilidad de proyectos.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Reducción del riesgo de liquidez: construcción de un calendario de deuda 12–36 meses para identificar picos de vencimiento y rediseñar amortizaciones, disminuyendo el riesgo de tensiones de caja.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Mejora de condiciones: aprovechar el crecimiento de EBITDA (1,6m€ → 2,3m€) y el refuerzo de equity (3,2m€ → 4,2m€) para optimizar pricing, covenants y flexibilidad contractual.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Estructura “paquetizada” y eficiente: separar deuda estructural (plazo) de necesidades operativas (circulante y avales) para evitar sobredimensionar la deuda amortizable y proteger capacidad de ejecución de nuevos proyectos.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Solicitud de información (cliente, 48–72h): detalle de deuda por tramo (importe, tipo fijo/variable, vencimiento, amortización, garantías, covenants) y cuadro de amortización vigente.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Diagnóstico financiero (banco, 3–5 días laborables): modelizar calendario de caja 12–36 meses con foco en picos de amortización y necesidades de circulante; identificar opciones de extensión de plazo y suavización de amortización.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Diseño de solución (banco + cliente, 1 semana): propuesta de nueva estructura (tramo a plazo + posible bullet parcial + líneas de circulante + avales) y term sheet indicativo con escenarios de sensibilidad.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Aprobación y ejecución (banco, 2–4 semanas sujeto a documentación): due diligence de riesgos de proyecto (pipeline, principales contratos, calendario cobros/pagos) y formalización de la refinanciación.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
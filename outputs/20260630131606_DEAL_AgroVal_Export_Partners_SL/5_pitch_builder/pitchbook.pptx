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narangran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256032"/>
            <a:ext cx="2272986" cy="38404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13232" y="804672"/>
            <a:ext cx="10762488" cy="190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13232" y="1234440"/>
            <a:ext cx="2011680" cy="2560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100" b="1">
                <a:solidFill>
                  <a:srgbClr val="FF6600"/>
                </a:solidFill>
                <a:latin typeface="Arial"/>
              </a:rPr>
              <a:t>NO ESPECIFICADO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71422"/>
            <a:ext cx="2011680" cy="19050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2057400"/>
            <a:ext cx="86868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600" b="1" i="0">
                <a:solidFill>
                  <a:srgbClr val="222222"/>
                </a:solidFill>
                <a:latin typeface="Arial"/>
              </a:rPr>
              <a:t>Propuesta comercial | Refinanciación y optimización de deuda para suavizar vencimientos y reducir coste financiero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4069080"/>
            <a:ext cx="93268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 i="0">
                <a:solidFill>
                  <a:srgbClr val="5A6B7B"/>
                </a:solidFill>
                <a:latin typeface="Arial"/>
              </a:rPr>
              <a:t>Estructuramos una refinanciación que alinee el calendario de amortización con la estacionalidad del negocio exportador, preserve liquidez y mejore el coste medio de la deuda sin comprometer el crecimiento.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8A96A3"/>
                </a:solidFill>
                <a:latin typeface="Arial"/>
              </a:rPr>
              <a:t>Corporate &amp; Deal Intelligence  ·  Documento de uso interno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narangran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256032"/>
            <a:ext cx="2272986" cy="38404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13232" y="804672"/>
            <a:ext cx="10762488" cy="190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005840"/>
            <a:ext cx="59436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F6600"/>
                </a:solidFill>
                <a:latin typeface="Arial"/>
              </a:rPr>
              <a:t>OPORTUNIDAD DETECTADA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353312"/>
            <a:ext cx="1828800" cy="19050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627632"/>
            <a:ext cx="64008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222222"/>
                </a:solidFill>
                <a:latin typeface="Arial"/>
              </a:rPr>
              <a:t>AgroVal Export Partners SL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240280"/>
            <a:ext cx="64008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222222"/>
                </a:solidFill>
                <a:latin typeface="Arial"/>
              </a:rPr>
              <a:t>AgroVal Export Partners SL combina crecimiento orgánico de doble dígito y rentabilidad operativa estable, pero con un aumento de deuda y de gastos financieros que sugiere presión creciente sobre el servicio de la deuda. La prioridad inmediata es anticipar vencimientos próximos y evitar concentraciones de amortización en los próximos 12–24 meses, protegiendo la liquidez en periodos de mayor necesidad de capital circulante. El momento es oportuno porque el apalancamiento se mantiene controlado (~2,9x Deuda/EBITDA en 2024) y el historial bancario/rating interno A permite negociar extensión de plazos y repricing desde una posición de fortaleza.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525780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5A6B7B"/>
                </a:solidFill>
                <a:latin typeface="Arial"/>
              </a:rPr>
              <a:t>PRÓXIMA ACCIÓN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5559552"/>
            <a:ext cx="6400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FF6600"/>
                </a:solidFill>
                <a:latin typeface="Arial"/>
              </a:rPr>
              <a:t>Semana 1 (AgroVal + Banco): recopilar “debt pack” por tramo (importe, tipo, vencimiento, amortización, garantías, covenants) y calendario de pagos 24–36 meses; confirmar estacionalidad de circulante y picos de caja.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18120" y="1627632"/>
            <a:ext cx="3657600" cy="4480560"/>
          </a:xfrm>
          <a:prstGeom prst="rect">
            <a:avLst/>
          </a:prstGeom>
          <a:solidFill>
            <a:srgbClr val="FFFFFF"/>
          </a:solidFill>
          <a:ln w="1016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0" y="1874519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5A6B7B"/>
                </a:solidFill>
                <a:latin typeface="Arial"/>
              </a:rPr>
              <a:t>EN UNA CIFRA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2240280"/>
            <a:ext cx="29260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FF6600"/>
                </a:solidFill>
                <a:latin typeface="Arial"/>
              </a:rPr>
              <a:t>21,3m€ (2022) → 24,1m€ (2023, +13,1% YoY) → 26,8m€ (2024, +11,2% YoY)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3063240"/>
            <a:ext cx="2926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5A6B7B"/>
                </a:solidFill>
                <a:latin typeface="Arial"/>
              </a:rPr>
              <a:t>Ingresos (2022→2024)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38160" y="3840480"/>
            <a:ext cx="2926080" cy="127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38160" y="4005072"/>
            <a:ext cx="2926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5A6B7B"/>
                </a:solidFill>
                <a:latin typeface="Arial"/>
              </a:rPr>
              <a:t>SECTOR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4279392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222222"/>
                </a:solidFill>
                <a:latin typeface="Arial"/>
              </a:rPr>
              <a:t>No especificado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4828032"/>
            <a:ext cx="2926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5A6B7B"/>
                </a:solidFill>
                <a:latin typeface="Arial"/>
              </a:rPr>
              <a:t>PRIORIDAD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60" y="5102352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6600"/>
                </a:solidFill>
                <a:latin typeface="Arial"/>
              </a:rPr>
              <a:t>ALTA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8A96A3"/>
                </a:solidFill>
                <a:latin typeface="Arial"/>
              </a:rPr>
              <a:t>Corporate &amp; Deal Intelligence  ·  Documento de uso interno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narangran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256032"/>
            <a:ext cx="2272986" cy="38404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13232" y="804672"/>
            <a:ext cx="10762488" cy="190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005840"/>
            <a:ext cx="59436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F6600"/>
                </a:solidFill>
                <a:latin typeface="Arial"/>
              </a:rPr>
              <a:t>CONTEXTO FINANCIERO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353312"/>
            <a:ext cx="1828800" cy="19050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627632"/>
            <a:ext cx="1076248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222222"/>
                </a:solidFill>
                <a:latin typeface="Arial"/>
              </a:rPr>
              <a:t>Lo que dicen los números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240280"/>
            <a:ext cx="3520440" cy="2103120"/>
          </a:xfrm>
          <a:prstGeom prst="rect">
            <a:avLst/>
          </a:prstGeom>
          <a:solidFill>
            <a:srgbClr val="F5F5F5"/>
          </a:solidFill>
          <a:ln w="1016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487168"/>
            <a:ext cx="3008376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6600"/>
                </a:solidFill>
                <a:latin typeface="Arial"/>
              </a:rPr>
              <a:t>21,3m€ (2022) → 24,1m€ (2023, +13,1% YoY) → 26,8m€ (2024, +11,2% YoY)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3611880"/>
            <a:ext cx="300837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A6B7B"/>
                </a:solidFill>
                <a:latin typeface="Arial"/>
              </a:rPr>
              <a:t>Ingresos (2022→2024)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34840" y="2240280"/>
            <a:ext cx="3520440" cy="2103120"/>
          </a:xfrm>
          <a:prstGeom prst="rect">
            <a:avLst/>
          </a:prstGeom>
          <a:solidFill>
            <a:srgbClr val="F5F5F5"/>
          </a:solidFill>
          <a:ln w="1016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90872" y="2487168"/>
            <a:ext cx="3008376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6600"/>
                </a:solidFill>
                <a:latin typeface="Arial"/>
              </a:rPr>
              <a:t>1,86m€ (2022) → 2,17m€ (2023) → 2,49m€ (2024)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90872" y="3611880"/>
            <a:ext cx="300837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A6B7B"/>
                </a:solidFill>
                <a:latin typeface="Arial"/>
              </a:rPr>
              <a:t>EBITDA (2022→2024)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2240280"/>
            <a:ext cx="3520440" cy="2103120"/>
          </a:xfrm>
          <a:prstGeom prst="rect">
            <a:avLst/>
          </a:prstGeom>
          <a:solidFill>
            <a:srgbClr val="F5F5F5"/>
          </a:solidFill>
          <a:ln w="1016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85632" y="2487168"/>
            <a:ext cx="3008376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6600"/>
                </a:solidFill>
                <a:latin typeface="Arial"/>
              </a:rPr>
              <a:t>8,7% (2022) → 9,0% (2023) → 9,3% (2024)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85632" y="3611880"/>
            <a:ext cx="300837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A6B7B"/>
                </a:solidFill>
                <a:latin typeface="Arial"/>
              </a:rPr>
              <a:t>Margen EBITDA (2022→2024)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4800600"/>
            <a:ext cx="5212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5A6B7B"/>
                </a:solidFill>
                <a:latin typeface="Arial"/>
              </a:rPr>
              <a:t>TENDENCIAS ESTRUCTURALES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5102352"/>
            <a:ext cx="5212080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00">
                <a:solidFill>
                  <a:srgbClr val="222222"/>
                </a:solidFill>
                <a:latin typeface="Arial"/>
              </a:rPr>
              <a:t>• Crecimiento sostenido de ingresos con tracción comercial estable (doble dígito YoY en 2023 y 2024).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00">
                <a:solidFill>
                  <a:srgbClr val="222222"/>
                </a:solidFill>
                <a:latin typeface="Arial"/>
              </a:rPr>
              <a:t>• Rentabilidad operativa estable con ligera mejora del margen EBITDA y margen EBIT en torno a ~6,5% en 2023-2024.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00">
                <a:solidFill>
                  <a:srgbClr val="222222"/>
                </a:solidFill>
                <a:latin typeface="Arial"/>
              </a:rPr>
              <a:t>• Aumento de amortizaciones (0,56m€ → 0,75m€) consistente con mayor base de activos y posible ciclo de inversión, sin dato explícito de CAPEX para confirmarlo.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00">
                <a:solidFill>
                  <a:srgbClr val="222222"/>
                </a:solidFill>
                <a:latin typeface="Arial"/>
              </a:rPr>
              <a:t>• Endeudamiento al alza pero apalancamiento relativamente estable/mejorando (deuda/EBITDA ~3,2x → ~2,9x), con presión por mayores gastos financieros (290k€ → 380k€).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4800600"/>
            <a:ext cx="5212080" cy="1645920"/>
          </a:xfrm>
          <a:prstGeom prst="rect">
            <a:avLst/>
          </a:prstGeom>
          <a:solidFill>
            <a:srgbClr val="FFFFFF"/>
          </a:solidFill>
          <a:ln w="1016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4983480"/>
            <a:ext cx="46634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F6600"/>
                </a:solidFill>
                <a:latin typeface="Arial"/>
              </a:rPr>
              <a:t>INTERPRETACIÓN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5285232"/>
            <a:ext cx="46634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222222"/>
                </a:solidFill>
                <a:latin typeface="Arial"/>
              </a:rPr>
              <a:t>AgroVal combina crecimiento orgánico con márgenes operativos estables, lo que sugiere un modelo con capacidad de generar beneficios y reforzar patrimonio neto. Sin embargo, el aumento de deuda y del coste financiero apunta a una posible necesidad de financiación para sostener inversión/expansión y/o refinanciación para optimizar la estructura de deuda. Para afinar la recomendación sería clave contar con CAPEX, evolución de capital circulante y generación de caja (CFO/FCF) para evaluar la capacidad real de desapalancamiento.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8A96A3"/>
                </a:solidFill>
                <a:latin typeface="Arial"/>
              </a:rPr>
              <a:t>Corporate &amp; Deal Intelligence  ·  Documento de uso interno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narangran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256032"/>
            <a:ext cx="2272986" cy="38404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13232" y="804672"/>
            <a:ext cx="10762488" cy="190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005840"/>
            <a:ext cx="59436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F6600"/>
                </a:solidFill>
                <a:latin typeface="Arial"/>
              </a:rPr>
              <a:t>BRIEFING DE CLIENTE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353312"/>
            <a:ext cx="1828800" cy="19050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627632"/>
            <a:ext cx="1076248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222222"/>
                </a:solidFill>
                <a:latin typeface="Arial"/>
              </a:rPr>
              <a:t>Perfil y situación actual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148840"/>
            <a:ext cx="1076248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222222"/>
                </a:solidFill>
                <a:latin typeface="Arial"/>
              </a:rPr>
              <a:t>AgroVal Export Partners SL es una compañía del sector agro/exportación con crecimiento orgánico sostenido y tracción comercial estable. Entre 2022 y 2024 incrementa ingresos de 21,3m€ a 26,8m€ y mantiene rentabilidad operativa estable (margen EBITDA ~8,7%→9,3%). Es cliente bancario desde 2011, con rating interno A, 2 operaciones activas y sin impagos, lo que sugiere un perfil de riesgo históricamente sólido.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834640"/>
            <a:ext cx="1076248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5A6B7B"/>
                </a:solidFill>
                <a:latin typeface="Arial"/>
              </a:rPr>
              <a:t>La oportunidad prioritaria es una refinanciación y optimización de la estructura de deuda, con foco en vencimientos próximos y calendario de amortización. La deuda financiera crece de 5,9m€ (2022) a 7,2m€ (2024), mientras el apalancamiento se mantiene controlado/mejora ligeramente (deuda/EBITDA ~3,2x→~2,9x), pero con presión por mayores gastos financieros (290k€→380k€). El aumento de amortizaciones (0,56m€→0,75m€) apunta a una base de activos en expansión y posible ciclo inversor que puede estar tensionando la estructura de financiación.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703320"/>
            <a:ext cx="5349240" cy="2697480"/>
          </a:xfrm>
          <a:prstGeom prst="rect">
            <a:avLst/>
          </a:prstGeom>
          <a:solidFill>
            <a:srgbClr val="FFFFFF"/>
          </a:solidFill>
          <a:ln w="1016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977639"/>
            <a:ext cx="4480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6600"/>
                </a:solidFill>
                <a:latin typeface="Arial"/>
              </a:rPr>
              <a:t>NECESIDADES POTENCIALES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407408"/>
            <a:ext cx="475488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00">
                <a:solidFill>
                  <a:srgbClr val="222222"/>
                </a:solidFill>
                <a:latin typeface="Arial"/>
              </a:rPr>
              <a:t>• Refinanciación de los vencimientos próximos para suavizar el perfil de amortización y reducir riesgo de liquidez, manteniendo el apalancamiento en niveles compatibles con el crecimiento (deuda/EBITDA ~2,9x en 2024).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00">
                <a:solidFill>
                  <a:srgbClr val="222222"/>
                </a:solidFill>
                <a:latin typeface="Arial"/>
              </a:rPr>
              <a:t>• Optimización del coste financiero: con gastos financieros al alza (290k€→380k€), explorar repricing, extensión de plazos y/o sustitución de tramos más caros para proteger el resultado antes de impuestos.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00">
                <a:solidFill>
                  <a:srgbClr val="222222"/>
                </a:solidFill>
                <a:latin typeface="Arial"/>
              </a:rPr>
              <a:t>• Revisión de estructura de deuda vs. ciclo de inversión: el incremento de amortizaciones (0,56m€→0,75m€) sugiere mayor base de activos; potencial necesidad de financiar CAPEX y/o capital circulante asociado al crecimiento de ventas (21,3m€→26,8m€).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00">
                <a:solidFill>
                  <a:srgbClr val="222222"/>
                </a:solidFill>
                <a:latin typeface="Arial"/>
              </a:rPr>
              <a:t>• Ajuste de covenants y flexibilidad financiera: al crecer deuda absoluta (5,9m€→7,2m€) y mantener márgenes, puede convenir alinear covenants con estacionalidad del negocio exportador y con el plan de crecimiento para evitar restricciones operativas.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3703320"/>
            <a:ext cx="5349240" cy="2697480"/>
          </a:xfrm>
          <a:prstGeom prst="rect">
            <a:avLst/>
          </a:prstGeom>
          <a:solidFill>
            <a:srgbClr val="FFFFFF"/>
          </a:solidFill>
          <a:ln w="1016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3977639"/>
            <a:ext cx="4480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6600"/>
                </a:solidFill>
                <a:latin typeface="Arial"/>
              </a:rPr>
              <a:t>RIESGOS Y PUNTOS DE ATENCIÓN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4407408"/>
            <a:ext cx="475488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00">
                <a:solidFill>
                  <a:srgbClr val="222222"/>
                </a:solidFill>
                <a:latin typeface="Arial"/>
              </a:rPr>
              <a:t>• Riesgo de presión de caja por calendario de amortización y vencimientos cercanos: aunque el apalancamiento está controlado, una concentración de pagos podría tensionar liquidez si coincide con picos de capital circulante.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00">
                <a:solidFill>
                  <a:srgbClr val="222222"/>
                </a:solidFill>
                <a:latin typeface="Arial"/>
              </a:rPr>
              <a:t>• Riesgo de sensibilidad a tipos/coste de financiación: el aumento de gastos financieros (290k€→380k€) puede seguir erosionando el beneficio si no se optimiza la estructura o si persisten condiciones de financiación menos favorables.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00">
                <a:solidFill>
                  <a:srgbClr val="222222"/>
                </a:solidFill>
                <a:latin typeface="Arial"/>
              </a:rPr>
              <a:t>• Riesgo de inversión sin visibilidad de CAPEX/FCF: el aumento de amortizaciones sugiere inversión; sin datos de CAPEX y generación de caja, existe riesgo de que el crecimiento requiera más deuda de la prevista.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00">
                <a:solidFill>
                  <a:srgbClr val="222222"/>
                </a:solidFill>
                <a:latin typeface="Arial"/>
              </a:rPr>
              <a:t>• Riesgo de margen operativo: aunque el margen EBITDA mejora ligeramente (~8,7%→9,3%), cualquier compresión por costes/logística/commodities podría deteriorar la capacidad de servicio de deuda.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8A96A3"/>
                </a:solidFill>
                <a:latin typeface="Arial"/>
              </a:rPr>
              <a:t>Corporate &amp; Deal Intelligence  ·  Documento de uso interno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narangran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256032"/>
            <a:ext cx="2272986" cy="38404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13232" y="804672"/>
            <a:ext cx="10762488" cy="190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005840"/>
            <a:ext cx="59436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F6600"/>
                </a:solidFill>
                <a:latin typeface="Arial"/>
              </a:rPr>
              <a:t>ENCAJE Y COMPARABLES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353312"/>
            <a:ext cx="1828800" cy="19050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627632"/>
            <a:ext cx="1076248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222222"/>
                </a:solidFill>
                <a:latin typeface="Arial"/>
              </a:rPr>
              <a:t>Cómo podemos ayudar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194560"/>
            <a:ext cx="6400800" cy="2880360"/>
          </a:xfrm>
          <a:prstGeom prst="rect">
            <a:avLst/>
          </a:prstGeom>
          <a:solidFill>
            <a:srgbClr val="FFFFFF"/>
          </a:solidFill>
          <a:ln w="1016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450592"/>
            <a:ext cx="58521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F6600"/>
                </a:solidFill>
                <a:latin typeface="Arial"/>
              </a:rPr>
              <a:t>ENCAJE CON PRODUCTOS DEL BANCO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816352"/>
            <a:ext cx="5669280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50">
                <a:solidFill>
                  <a:srgbClr val="222222"/>
                </a:solidFill>
                <a:latin typeface="Arial"/>
              </a:rPr>
              <a:t>• Refinanciación de deuda (préstamo a plazo / tramo amortizable) para extender vencimientos, reducir picos de amortización y adaptar el perfil de pagos a la generación de caja y estacionalidad del negocio.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50">
                <a:solidFill>
                  <a:srgbClr val="222222"/>
                </a:solidFill>
                <a:latin typeface="Arial"/>
              </a:rPr>
              <a:t>• Repricing y reestructuración de tramos (sustitución de deuda más cara, extensión de plazo, posible carencia parcial de principal) para reducir el coste financiero y estabilizar el resultado antes de impuestos.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50">
                <a:solidFill>
                  <a:srgbClr val="222222"/>
                </a:solidFill>
                <a:latin typeface="Arial"/>
              </a:rPr>
              <a:t>• Cobertura de tipos de interés (estructura de tipo fijo/variable o cobertura parcial) para limitar sensibilidad a subidas de tipos y dar visibilidad al gasto financiero.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50">
                <a:solidFill>
                  <a:srgbClr val="222222"/>
                </a:solidFill>
                <a:latin typeface="Arial"/>
              </a:rPr>
              <a:t>• Financiación de circulante (línea de crédito / confirming / anticipo de exportaciones) para absorber picos estacionales y evitar que el crecimiento de ventas tensione la caja durante la campaña.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06640" y="2194560"/>
            <a:ext cx="4160520" cy="3200400"/>
          </a:xfrm>
          <a:prstGeom prst="rect">
            <a:avLst/>
          </a:prstGeom>
          <a:solidFill>
            <a:srgbClr val="F5F5F5"/>
          </a:solidFill>
          <a:ln w="1016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99248" y="2450592"/>
            <a:ext cx="35661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F6600"/>
                </a:solidFill>
                <a:latin typeface="Arial"/>
              </a:rPr>
              <a:t>COMPARABLES SECTORIALES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99248" y="2971800"/>
            <a:ext cx="35661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222222"/>
                </a:solidFill>
                <a:latin typeface="Arial"/>
              </a:rPr>
              <a:t>Exportadores agroalimentarios medianos en España/UE con estacionalidad marcada suelen estructurar deuda con mayor peso de circulante y tramos a plazo alineados a activos, buscando evitar concentraciones de amortización en campaña.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99248" y="4251960"/>
            <a:ext cx="35661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222222"/>
                </a:solidFill>
                <a:latin typeface="Arial"/>
              </a:rPr>
              <a:t>Empresas de distribución/agro con márgenes EBITDA de un dígito alto (~8–10%) y apalancamiento ~2,5–3,5x suelen priorizar extensión de plazos y flexibilidad de covenants para proteger liquidez ante volatilidad de costes/logística.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5532120"/>
            <a:ext cx="1076248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5A6B7B"/>
                </a:solidFill>
                <a:latin typeface="Arial"/>
              </a:rPr>
              <a:t>ARGUMENTOS DE VALOR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5806440"/>
            <a:ext cx="3520440" cy="914400"/>
          </a:xfrm>
          <a:prstGeom prst="rect">
            <a:avLst/>
          </a:prstGeom>
          <a:solidFill>
            <a:srgbClr val="FFFFFF"/>
          </a:solidFill>
          <a:ln w="1016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" y="5943600"/>
            <a:ext cx="311810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222222"/>
                </a:solidFill>
                <a:latin typeface="Arial"/>
              </a:rPr>
              <a:t>Enfoque integral de estructura de capital: combinamos refinanciación de vencimientos, optimización de coste y ajuste de covenants para maximizar flexibilidad financiera sin aumentar el apalancamiento objetivo.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34840" y="5806440"/>
            <a:ext cx="3520440" cy="914400"/>
          </a:xfrm>
          <a:prstGeom prst="rect">
            <a:avLst/>
          </a:prstGeom>
          <a:solidFill>
            <a:srgbClr val="FFFFFF"/>
          </a:solidFill>
          <a:ln w="1016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36008" y="5943600"/>
            <a:ext cx="311810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222222"/>
                </a:solidFill>
                <a:latin typeface="Arial"/>
              </a:rPr>
              <a:t>Diseño de calendario de amortización “a medida”: propuesta de perfil de pagos compatible con estacionalidad exportadora y con el plan de inversión, reduciendo riesgo de liquidez en los próximos 12–24 meses.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0" y="5806440"/>
            <a:ext cx="3520440" cy="914400"/>
          </a:xfrm>
          <a:prstGeom prst="rect">
            <a:avLst/>
          </a:prstGeom>
          <a:solidFill>
            <a:srgbClr val="FFFFFF"/>
          </a:solidFill>
          <a:ln w="1016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30768" y="5943600"/>
            <a:ext cx="311810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222222"/>
                </a:solidFill>
                <a:latin typeface="Arial"/>
              </a:rPr>
              <a:t>Mejora de visibilidad y control: incorporamos un paquete de reporting y métricas (caja operativa, circulante, CAPEX) para anticipar tensiones y negociar condiciones desde datos, no desde urgencias.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8A96A3"/>
                </a:solidFill>
                <a:latin typeface="Arial"/>
              </a:rPr>
              <a:t>Corporate &amp; Deal Intelligence  ·  Documento de uso interno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narangran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256032"/>
            <a:ext cx="2272986" cy="38404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13232" y="804672"/>
            <a:ext cx="10762488" cy="190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417320"/>
            <a:ext cx="1076248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FF6600"/>
                </a:solidFill>
                <a:latin typeface="Arial"/>
              </a:rPr>
              <a:t>Next steps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993392"/>
            <a:ext cx="9784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5A6B7B"/>
                </a:solidFill>
                <a:latin typeface="Arial"/>
              </a:rPr>
              <a:t>El equipo comercial revisa, ajusta y personaliza esta propuesta antes de cualquier interacción con el cliente.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743200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FF6600"/>
                </a:solidFill>
                <a:latin typeface="Arial"/>
              </a:rPr>
              <a:t>1.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" y="2743200"/>
            <a:ext cx="961948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222222"/>
                </a:solidFill>
                <a:latin typeface="Arial"/>
              </a:rPr>
              <a:t>Semana 1 (AgroVal + Banco): recopilar “debt pack” por tramo (importe, tipo, vencimiento, amortización, garantías, covenants) y calendario de pagos 24–36 meses; confirmar estacionalidad de circulante y picos de caja.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3584448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FF6600"/>
                </a:solidFill>
                <a:latin typeface="Arial"/>
              </a:rPr>
              <a:t>2.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" y="3584448"/>
            <a:ext cx="961948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222222"/>
                </a:solidFill>
                <a:latin typeface="Arial"/>
              </a:rPr>
              <a:t>Semana 1–2 (Banco): análisis de capacidad de servicio (sensibilidades de EBITDA, tipos y circulante) y definición de estructura objetivo: plazo, amortización, carencias, mix fijo/variable y covenants propuestos.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4425696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FF6600"/>
                </a:solidFill>
                <a:latin typeface="Arial"/>
              </a:rPr>
              <a:t>3.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" y="4425696"/>
            <a:ext cx="961948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222222"/>
                </a:solidFill>
                <a:latin typeface="Arial"/>
              </a:rPr>
              <a:t>Semana 2 (AgroVal): facilitar CAPEX histórico/planificado, CFO/FCF y evolución de capital circulante 2022–2024 para validar capacidad real de desapalancamiento y dimensionar circulante.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5266944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FF6600"/>
                </a:solidFill>
                <a:latin typeface="Arial"/>
              </a:rPr>
              <a:t>4.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04" y="5266944"/>
            <a:ext cx="961948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222222"/>
                </a:solidFill>
                <a:latin typeface="Arial"/>
              </a:rPr>
              <a:t>Semana 3 (Banco): presentar term sheet indicativa con 2–3 alternativas (base / conservadora / crecimiento) y cuantificación del impacto en coste financiero y perfil de amortización.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8A96A3"/>
                </a:solidFill>
                <a:latin typeface="Arial"/>
              </a:rPr>
              <a:t>Corporate &amp; Deal Intelligence  ·  Documento de uso interno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
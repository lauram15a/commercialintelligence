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097280"/>
            <a:ext cx="3840480" cy="3840480"/>
          </a:xfrm>
          <a:prstGeom prst="ellipse">
            <a:avLst/>
          </a:prstGeom>
          <a:solidFill>
            <a:srgbClr val="2E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206240"/>
            <a:ext cx="2377440" cy="237744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640080"/>
            <a:ext cx="18288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TECNOLOGÍA</a:t>
            </a:r>
          </a:p>
        </p:txBody>
      </p:sp>
      <p:sp>
        <p:nvSpPr>
          <p:cNvPr id="6" name="TextBox 5"/>
          <p:cNvSpPr txBox="1"/>
          <p:nvPr/>
        </p:nvSpPr>
        <p:spPr>
          <a:xfrm>
            <a:off x="640080" y="2286000"/>
            <a:ext cx="10515600" cy="2194560"/>
          </a:xfrm>
          <a:prstGeom prst="rect">
            <a:avLst/>
          </a:prstGeom>
          <a:noFill/>
        </p:spPr>
        <p:txBody>
          <a:bodyPr wrap="square" anchor="t" lIns="0" rIns="0" tIns="0" bIns="0">
            <a:spAutoFit/>
          </a:bodyPr>
          <a:lstStyle/>
          <a:p>
            <a:pPr algn="l">
              <a:lnSpc>
                <a:spcPct val="108000"/>
              </a:lnSpc>
            </a:pPr>
            <a:r>
              <a:rPr sz="4000" b="1" i="0">
                <a:solidFill>
                  <a:srgbClr val="FFFFFF"/>
                </a:solidFill>
                <a:latin typeface="Cambria"/>
              </a:rPr>
              <a:t>Datalyx Iberia SL | Propuesta comercial de financiación de crecimiento</a:t>
            </a:r>
          </a:p>
        </p:txBody>
      </p:sp>
      <p:sp>
        <p:nvSpPr>
          <p:cNvPr id="7" name="TextBox 6"/>
          <p:cNvSpPr txBox="1"/>
          <p:nvPr/>
        </p:nvSpPr>
        <p:spPr>
          <a:xfrm>
            <a:off x="640080" y="4480560"/>
            <a:ext cx="9875520" cy="914400"/>
          </a:xfrm>
          <a:prstGeom prst="rect">
            <a:avLst/>
          </a:prstGeom>
          <a:noFill/>
        </p:spPr>
        <p:txBody>
          <a:bodyPr wrap="square" anchor="t" lIns="0" rIns="0" tIns="0" bIns="0">
            <a:spAutoFit/>
          </a:bodyPr>
          <a:lstStyle/>
          <a:p>
            <a:pPr algn="l">
              <a:lnSpc>
                <a:spcPct val="125000"/>
              </a:lnSpc>
            </a:pPr>
            <a:r>
              <a:rPr sz="1800" b="0" i="1">
                <a:solidFill>
                  <a:srgbClr val="C9D2E6"/>
                </a:solidFill>
                <a:latin typeface="Calibri"/>
              </a:rPr>
              <a:t>Estructurar venture debt complementaria a la ronda reciente para extender runway y habilitar internacionalización y/o M&amp;A con mínima dilución</a:t>
            </a:r>
          </a:p>
        </p:txBody>
      </p:sp>
      <p:sp>
        <p:nvSpPr>
          <p:cNvPr id="8" name="TextBox 7"/>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OPORTUNIDAD DETECTADA</a:t>
            </a:r>
          </a:p>
        </p:txBody>
      </p:sp>
      <p:sp>
        <p:nvSpPr>
          <p:cNvPr id="5" name="TextBox 4"/>
          <p:cNvSpPr txBox="1"/>
          <p:nvPr/>
        </p:nvSpPr>
        <p:spPr>
          <a:xfrm>
            <a:off x="640080" y="1371600"/>
            <a:ext cx="6858000" cy="822960"/>
          </a:xfrm>
          <a:prstGeom prst="rect">
            <a:avLst/>
          </a:prstGeom>
          <a:noFill/>
        </p:spPr>
        <p:txBody>
          <a:bodyPr wrap="square" anchor="t" lIns="0" rIns="0" tIns="0" bIns="0">
            <a:spAutoFit/>
          </a:bodyPr>
          <a:lstStyle/>
          <a:p>
            <a:pPr algn="l"/>
            <a:r>
              <a:rPr sz="2800" b="1" i="0">
                <a:solidFill>
                  <a:srgbClr val="222A39"/>
                </a:solidFill>
                <a:latin typeface="Cambria"/>
              </a:rPr>
              <a:t>Datalyx Iberia SL</a:t>
            </a:r>
          </a:p>
        </p:txBody>
      </p:sp>
      <p:sp>
        <p:nvSpPr>
          <p:cNvPr id="6" name="TextBox 5"/>
          <p:cNvSpPr txBox="1"/>
          <p:nvPr/>
        </p:nvSpPr>
        <p:spPr>
          <a:xfrm>
            <a:off x="640080" y="2148840"/>
            <a:ext cx="6858000" cy="2468880"/>
          </a:xfrm>
          <a:prstGeom prst="rect">
            <a:avLst/>
          </a:prstGeom>
          <a:noFill/>
        </p:spPr>
        <p:txBody>
          <a:bodyPr wrap="square" anchor="t" lIns="0" rIns="0" tIns="0" bIns="0">
            <a:spAutoFit/>
          </a:bodyPr>
          <a:lstStyle/>
          <a:p>
            <a:pPr algn="l">
              <a:lnSpc>
                <a:spcPct val="135000"/>
              </a:lnSpc>
            </a:pPr>
            <a:r>
              <a:rPr sz="1500" b="0" i="0">
                <a:solidFill>
                  <a:srgbClr val="222A39"/>
                </a:solidFill>
                <a:latin typeface="Calibri"/>
              </a:rPr>
              <a:t>La ronda privada reciente sugiere que Datalyx Iberia SL entra en una fase de aceleración donde el consumo de caja suele aumentar por expansión comercial, apertura de mercados y potenciales operaciones inorgánicas. Esta ventana es especialmente adecuada para complementar el equity con venture debt, optimizando la estructura de capital y preservando flexibilidad para ejecutar el plan 12–24 meses. La combinación de crecimiento y posible M&amp;A incrementa la probabilidad de una necesidad de financiación en el corto plazo (prioridad alta).</a:t>
            </a:r>
          </a:p>
        </p:txBody>
      </p:sp>
      <p:sp>
        <p:nvSpPr>
          <p:cNvPr id="7" name="TextBox 6"/>
          <p:cNvSpPr txBox="1"/>
          <p:nvPr/>
        </p:nvSpPr>
        <p:spPr>
          <a:xfrm>
            <a:off x="640080" y="5212080"/>
            <a:ext cx="6858000" cy="365760"/>
          </a:xfrm>
          <a:prstGeom prst="rect">
            <a:avLst/>
          </a:prstGeom>
          <a:noFill/>
        </p:spPr>
        <p:txBody>
          <a:bodyPr wrap="square" anchor="t" lIns="0" rIns="0" tIns="0" bIns="0">
            <a:spAutoFit/>
          </a:bodyPr>
          <a:lstStyle/>
          <a:p>
            <a:pPr algn="l"/>
            <a:r>
              <a:rPr sz="1100" b="1" i="0">
                <a:solidFill>
                  <a:srgbClr val="6B7385"/>
                </a:solidFill>
                <a:latin typeface="Calibri"/>
              </a:rPr>
              <a:t>PRÓXIMA ACCIÓN</a:t>
            </a:r>
          </a:p>
        </p:txBody>
      </p:sp>
      <p:sp>
        <p:nvSpPr>
          <p:cNvPr id="8" name="TextBox 7"/>
          <p:cNvSpPr txBox="1"/>
          <p:nvPr/>
        </p:nvSpPr>
        <p:spPr>
          <a:xfrm>
            <a:off x="640080" y="5532120"/>
            <a:ext cx="6858000" cy="914400"/>
          </a:xfrm>
          <a:prstGeom prst="rect">
            <a:avLst/>
          </a:prstGeom>
          <a:noFill/>
        </p:spPr>
        <p:txBody>
          <a:bodyPr wrap="square" anchor="t" lIns="0" rIns="0" tIns="0" bIns="0">
            <a:spAutoFit/>
          </a:bodyPr>
          <a:lstStyle/>
          <a:p>
            <a:pPr algn="l">
              <a:lnSpc>
                <a:spcPct val="125000"/>
              </a:lnSpc>
            </a:pPr>
            <a:r>
              <a:rPr sz="1400" b="0" i="1">
                <a:solidFill>
                  <a:srgbClr val="1B2A4A"/>
                </a:solidFill>
                <a:latin typeface="Calibri"/>
              </a:rPr>
              <a:t>Sesión de trabajo (60–90 min) para confirmar detalles de la ronda (importe, valoración, inversores, uso de fondos), plan 12–24 meses (países, contratación, hitos) y pipeline de M&amp;A (tamaño, timing, estructura).</a:t>
            </a:r>
          </a:p>
        </p:txBody>
      </p:sp>
      <p:sp>
        <p:nvSpPr>
          <p:cNvPr id="9" name="Rounded Rectangle 8"/>
          <p:cNvSpPr/>
          <p:nvPr/>
        </p:nvSpPr>
        <p:spPr>
          <a:xfrm>
            <a:off x="7863840" y="1371600"/>
            <a:ext cx="3657600" cy="484632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91640"/>
            <a:ext cx="3017520" cy="365760"/>
          </a:xfrm>
          <a:prstGeom prst="rect">
            <a:avLst/>
          </a:prstGeom>
          <a:noFill/>
        </p:spPr>
        <p:txBody>
          <a:bodyPr wrap="square" anchor="t" lIns="0" rIns="0" tIns="0" bIns="0">
            <a:spAutoFit/>
          </a:bodyPr>
          <a:lstStyle/>
          <a:p>
            <a:pPr algn="l"/>
            <a:r>
              <a:rPr sz="1100" b="1" i="0">
                <a:solidFill>
                  <a:srgbClr val="6B7385"/>
                </a:solidFill>
                <a:latin typeface="Calibri"/>
              </a:rPr>
              <a:t>EN UNA CIFRA</a:t>
            </a:r>
          </a:p>
        </p:txBody>
      </p:sp>
      <p:sp>
        <p:nvSpPr>
          <p:cNvPr id="11" name="TextBox 10"/>
          <p:cNvSpPr txBox="1"/>
          <p:nvPr/>
        </p:nvSpPr>
        <p:spPr>
          <a:xfrm>
            <a:off x="8229600" y="2057400"/>
            <a:ext cx="3017520" cy="914400"/>
          </a:xfrm>
          <a:prstGeom prst="rect">
            <a:avLst/>
          </a:prstGeom>
          <a:noFill/>
        </p:spPr>
        <p:txBody>
          <a:bodyPr wrap="square" anchor="t" lIns="0" rIns="0" tIns="0" bIns="0">
            <a:spAutoFit/>
          </a:bodyPr>
          <a:lstStyle/>
          <a:p>
            <a:pPr algn="l">
              <a:lnSpc>
                <a:spcPct val="100000"/>
              </a:lnSpc>
            </a:pPr>
            <a:r>
              <a:rPr sz="4800" b="1" i="0">
                <a:solidFill>
                  <a:srgbClr val="C97B4A"/>
                </a:solidFill>
                <a:latin typeface="Cambria"/>
              </a:rPr>
              <a:t>~15,0 M€</a:t>
            </a:r>
          </a:p>
        </p:txBody>
      </p:sp>
      <p:sp>
        <p:nvSpPr>
          <p:cNvPr id="12" name="TextBox 11"/>
          <p:cNvSpPr txBox="1"/>
          <p:nvPr/>
        </p:nvSpPr>
        <p:spPr>
          <a:xfrm>
            <a:off x="8229600" y="3063240"/>
            <a:ext cx="3017520" cy="731520"/>
          </a:xfrm>
          <a:prstGeom prst="rect">
            <a:avLst/>
          </a:prstGeom>
          <a:noFill/>
        </p:spPr>
        <p:txBody>
          <a:bodyPr wrap="square" anchor="t" lIns="0" rIns="0" tIns="0" bIns="0">
            <a:spAutoFit/>
          </a:bodyPr>
          <a:lstStyle/>
          <a:p>
            <a:pPr algn="l">
              <a:lnSpc>
                <a:spcPct val="120000"/>
              </a:lnSpc>
            </a:pPr>
            <a:r>
              <a:rPr sz="1300" b="0" i="0">
                <a:solidFill>
                  <a:srgbClr val="6B7385"/>
                </a:solidFill>
                <a:latin typeface="Calibri"/>
              </a:rPr>
              <a:t>Ingresos estimados</a:t>
            </a:r>
          </a:p>
        </p:txBody>
      </p:sp>
      <p:sp>
        <p:nvSpPr>
          <p:cNvPr id="13" name="TextBox 12"/>
          <p:cNvSpPr txBox="1"/>
          <p:nvPr/>
        </p:nvSpPr>
        <p:spPr>
          <a:xfrm>
            <a:off x="8229600" y="4023360"/>
            <a:ext cx="3017520" cy="365760"/>
          </a:xfrm>
          <a:prstGeom prst="rect">
            <a:avLst/>
          </a:prstGeom>
          <a:noFill/>
        </p:spPr>
        <p:txBody>
          <a:bodyPr wrap="square" anchor="t" lIns="0" rIns="0" tIns="0" bIns="0">
            <a:spAutoFit/>
          </a:bodyPr>
          <a:lstStyle/>
          <a:p>
            <a:pPr algn="l"/>
            <a:r>
              <a:rPr sz="1100" b="1" i="0">
                <a:solidFill>
                  <a:srgbClr val="6B7385"/>
                </a:solidFill>
                <a:latin typeface="Calibri"/>
              </a:rPr>
              <a:t>SECTOR</a:t>
            </a:r>
          </a:p>
        </p:txBody>
      </p:sp>
      <p:sp>
        <p:nvSpPr>
          <p:cNvPr id="14" name="TextBox 13"/>
          <p:cNvSpPr txBox="1"/>
          <p:nvPr/>
        </p:nvSpPr>
        <p:spPr>
          <a:xfrm>
            <a:off x="8229600" y="4297680"/>
            <a:ext cx="3017520" cy="457200"/>
          </a:xfrm>
          <a:prstGeom prst="rect">
            <a:avLst/>
          </a:prstGeom>
          <a:noFill/>
        </p:spPr>
        <p:txBody>
          <a:bodyPr wrap="square" anchor="t" lIns="0" rIns="0" tIns="0" bIns="0">
            <a:spAutoFit/>
          </a:bodyPr>
          <a:lstStyle/>
          <a:p>
            <a:pPr algn="l"/>
            <a:r>
              <a:rPr sz="1600" b="1" i="0">
                <a:solidFill>
                  <a:srgbClr val="222A39"/>
                </a:solidFill>
                <a:latin typeface="Cambria"/>
              </a:rPr>
              <a:t>Tecnología</a:t>
            </a:r>
          </a:p>
        </p:txBody>
      </p:sp>
      <p:sp>
        <p:nvSpPr>
          <p:cNvPr id="15" name="TextBox 14"/>
          <p:cNvSpPr txBox="1"/>
          <p:nvPr/>
        </p:nvSpPr>
        <p:spPr>
          <a:xfrm>
            <a:off x="8229600" y="4937760"/>
            <a:ext cx="3017520" cy="365760"/>
          </a:xfrm>
          <a:prstGeom prst="rect">
            <a:avLst/>
          </a:prstGeom>
          <a:noFill/>
        </p:spPr>
        <p:txBody>
          <a:bodyPr wrap="square" anchor="t" lIns="0" rIns="0" tIns="0" bIns="0">
            <a:spAutoFit/>
          </a:bodyPr>
          <a:lstStyle/>
          <a:p>
            <a:pPr algn="l"/>
            <a:r>
              <a:rPr sz="1100" b="1" i="0">
                <a:solidFill>
                  <a:srgbClr val="6B7385"/>
                </a:solidFill>
                <a:latin typeface="Calibri"/>
              </a:rPr>
              <a:t>PRIORIDAD</a:t>
            </a:r>
          </a:p>
        </p:txBody>
      </p:sp>
      <p:sp>
        <p:nvSpPr>
          <p:cNvPr id="16" name="Rounded Rectangle 15"/>
          <p:cNvSpPr/>
          <p:nvPr/>
        </p:nvSpPr>
        <p:spPr>
          <a:xfrm>
            <a:off x="8229600" y="5212080"/>
            <a:ext cx="13716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ALTA</a:t>
            </a:r>
          </a:p>
        </p:txBody>
      </p:sp>
      <p:sp>
        <p:nvSpPr>
          <p:cNvPr id="17" name="TextBox 16"/>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CONTEXTO FINANCIERO</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Lo que dicen los números</a:t>
            </a:r>
          </a:p>
        </p:txBody>
      </p:sp>
      <p:sp>
        <p:nvSpPr>
          <p:cNvPr id="6" name="Rounded Rectangle 5"/>
          <p:cNvSpPr/>
          <p:nvPr/>
        </p:nvSpPr>
        <p:spPr>
          <a:xfrm>
            <a:off x="64008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~15,0 M€</a:t>
            </a:r>
          </a:p>
        </p:txBody>
      </p:sp>
      <p:sp>
        <p:nvSpPr>
          <p:cNvPr id="8" name="TextBox 7"/>
          <p:cNvSpPr txBox="1"/>
          <p:nvPr/>
        </p:nvSpPr>
        <p:spPr>
          <a:xfrm>
            <a:off x="91440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Ingresos estimados</a:t>
            </a:r>
          </a:p>
        </p:txBody>
      </p:sp>
      <p:sp>
        <p:nvSpPr>
          <p:cNvPr id="9" name="Rounded Rectangle 8"/>
          <p:cNvSpPr/>
          <p:nvPr/>
        </p:nvSpPr>
        <p:spPr>
          <a:xfrm>
            <a:off x="443484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~120</a:t>
            </a:r>
          </a:p>
        </p:txBody>
      </p:sp>
      <p:sp>
        <p:nvSpPr>
          <p:cNvPr id="11" name="TextBox 10"/>
          <p:cNvSpPr txBox="1"/>
          <p:nvPr/>
        </p:nvSpPr>
        <p:spPr>
          <a:xfrm>
            <a:off x="470916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Empleados</a:t>
            </a:r>
          </a:p>
        </p:txBody>
      </p:sp>
      <p:sp>
        <p:nvSpPr>
          <p:cNvPr id="12" name="Rounded Rectangle 11"/>
          <p:cNvSpPr/>
          <p:nvPr/>
        </p:nvSpPr>
        <p:spPr>
          <a:xfrm>
            <a:off x="822960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2560320"/>
            <a:ext cx="2971800" cy="822960"/>
          </a:xfrm>
          <a:prstGeom prst="rect">
            <a:avLst/>
          </a:prstGeom>
          <a:noFill/>
        </p:spPr>
        <p:txBody>
          <a:bodyPr wrap="square" anchor="t" lIns="0" rIns="0" tIns="0" bIns="0">
            <a:spAutoFit/>
          </a:bodyPr>
          <a:lstStyle/>
          <a:p>
            <a:pPr algn="l">
              <a:lnSpc>
                <a:spcPct val="100000"/>
              </a:lnSpc>
            </a:pPr>
            <a:r>
              <a:rPr sz="2200" b="1" i="0">
                <a:solidFill>
                  <a:srgbClr val="1B2A4A"/>
                </a:solidFill>
                <a:latin typeface="Cambria"/>
              </a:rPr>
              <a:t>Sí (fase de aceleración)</a:t>
            </a:r>
          </a:p>
        </p:txBody>
      </p:sp>
      <p:sp>
        <p:nvSpPr>
          <p:cNvPr id="14" name="TextBox 13"/>
          <p:cNvSpPr txBox="1"/>
          <p:nvPr/>
        </p:nvSpPr>
        <p:spPr>
          <a:xfrm>
            <a:off x="850392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Señal de ronda privada reciente</a:t>
            </a:r>
          </a:p>
        </p:txBody>
      </p:sp>
      <p:sp>
        <p:nvSpPr>
          <p:cNvPr id="15" name="TextBox 14"/>
          <p:cNvSpPr txBox="1"/>
          <p:nvPr/>
        </p:nvSpPr>
        <p:spPr>
          <a:xfrm>
            <a:off x="640080" y="4754880"/>
            <a:ext cx="5303520" cy="365760"/>
          </a:xfrm>
          <a:prstGeom prst="rect">
            <a:avLst/>
          </a:prstGeom>
          <a:noFill/>
        </p:spPr>
        <p:txBody>
          <a:bodyPr wrap="square" anchor="t" lIns="0" rIns="0" tIns="0" bIns="0">
            <a:spAutoFit/>
          </a:bodyPr>
          <a:lstStyle/>
          <a:p>
            <a:pPr algn="l"/>
            <a:r>
              <a:rPr sz="1100" b="1" i="0">
                <a:solidFill>
                  <a:srgbClr val="6B7385"/>
                </a:solidFill>
                <a:latin typeface="Calibri"/>
              </a:rPr>
              <a:t>TENDENCIAS ESTRUCTURALES</a:t>
            </a:r>
          </a:p>
        </p:txBody>
      </p:sp>
      <p:sp>
        <p:nvSpPr>
          <p:cNvPr id="16" name="TextBox 15"/>
          <p:cNvSpPr txBox="1"/>
          <p:nvPr/>
        </p:nvSpPr>
        <p:spPr>
          <a:xfrm>
            <a:off x="640080" y="5120640"/>
            <a:ext cx="5303520" cy="1463040"/>
          </a:xfrm>
          <a:prstGeom prst="rect">
            <a:avLst/>
          </a:prstGeom>
          <a:noFill/>
        </p:spPr>
        <p:txBody>
          <a:bodyPr wrap="square" lIns="0" rIns="0" tIns="0" bIns="0">
            <a:spAutoFit/>
          </a:bodyPr>
          <a:lstStyle/>
          <a:p>
            <a:pPr>
              <a:lnSpc>
                <a:spcPct val="115000"/>
              </a:lnSpc>
              <a:spcAft>
                <a:spcPts val="600"/>
              </a:spcAft>
            </a:pPr>
            <a:r>
              <a:rPr sz="1300">
                <a:solidFill>
                  <a:srgbClr val="222A39"/>
                </a:solidFill>
                <a:latin typeface="Calibri"/>
              </a:rPr>
              <a:t>—  Fase de aceleración tras ronda privada, con foco probable en internacionalización.</a:t>
            </a:r>
          </a:p>
          <a:p>
            <a:pPr>
              <a:lnSpc>
                <a:spcPct val="115000"/>
              </a:lnSpc>
              <a:spcAft>
                <a:spcPts val="600"/>
              </a:spcAft>
            </a:pPr>
            <a:r>
              <a:rPr sz="1300">
                <a:solidFill>
                  <a:srgbClr val="222A39"/>
                </a:solidFill>
                <a:latin typeface="Calibri"/>
              </a:rPr>
              <a:t>—  Posible estrategia de crecimiento inorgánico (M&amp;A) que podría elevar el consumo de caja en el corto plazo.</a:t>
            </a:r>
          </a:p>
          <a:p>
            <a:pPr>
              <a:lnSpc>
                <a:spcPct val="115000"/>
              </a:lnSpc>
              <a:spcAft>
                <a:spcPts val="600"/>
              </a:spcAft>
            </a:pPr>
            <a:r>
              <a:rPr sz="1300">
                <a:solidFill>
                  <a:srgbClr val="222A39"/>
                </a:solidFill>
                <a:latin typeface="Calibri"/>
              </a:rPr>
              <a:t>—  Perfil de inversión presumiblemente más OPEX (comercial/expansión) que CAPEX intensivo, según la estrategia descrita.</a:t>
            </a:r>
          </a:p>
        </p:txBody>
      </p:sp>
      <p:sp>
        <p:nvSpPr>
          <p:cNvPr id="17" name="Rounded Rectangle 16"/>
          <p:cNvSpPr/>
          <p:nvPr/>
        </p:nvSpPr>
        <p:spPr>
          <a:xfrm>
            <a:off x="6263640" y="4754880"/>
            <a:ext cx="5257800" cy="1737360"/>
          </a:xfrm>
          <a:prstGeom prst="roundRect">
            <a:avLst>
              <a:gd name="adj" fmla="val 6000"/>
            </a:avLst>
          </a:prstGeom>
          <a:solidFill>
            <a:srgbClr val="1B2A4A"/>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956048"/>
            <a:ext cx="4663440" cy="365760"/>
          </a:xfrm>
          <a:prstGeom prst="rect">
            <a:avLst/>
          </a:prstGeom>
          <a:noFill/>
        </p:spPr>
        <p:txBody>
          <a:bodyPr wrap="square" anchor="t" lIns="0" rIns="0" tIns="0" bIns="0">
            <a:spAutoFit/>
          </a:bodyPr>
          <a:lstStyle/>
          <a:p>
            <a:pPr algn="l"/>
            <a:r>
              <a:rPr sz="1100" b="1" i="0">
                <a:solidFill>
                  <a:srgbClr val="C9D2E6"/>
                </a:solidFill>
                <a:latin typeface="Calibri"/>
              </a:rPr>
              <a:t>INTERPRETACIÓN</a:t>
            </a:r>
          </a:p>
        </p:txBody>
      </p:sp>
      <p:sp>
        <p:nvSpPr>
          <p:cNvPr id="19" name="TextBox 18"/>
          <p:cNvSpPr txBox="1"/>
          <p:nvPr/>
        </p:nvSpPr>
        <p:spPr>
          <a:xfrm>
            <a:off x="6583680" y="5303520"/>
            <a:ext cx="4663440" cy="1097280"/>
          </a:xfrm>
          <a:prstGeom prst="rect">
            <a:avLst/>
          </a:prstGeom>
          <a:noFill/>
        </p:spPr>
        <p:txBody>
          <a:bodyPr wrap="square" anchor="t" lIns="0" rIns="0" tIns="0" bIns="0">
            <a:spAutoFit/>
          </a:bodyPr>
          <a:lstStyle/>
          <a:p>
            <a:pPr algn="l">
              <a:lnSpc>
                <a:spcPct val="125000"/>
              </a:lnSpc>
            </a:pPr>
            <a:r>
              <a:rPr sz="1300" b="0" i="1">
                <a:solidFill>
                  <a:srgbClr val="FFFFFF"/>
                </a:solidFill>
                <a:latin typeface="Calibri"/>
              </a:rPr>
              <a:t>La compañía parece estar entrando en una etapa de expansión post-ronda, lo que normalmente incrementa el ritmo de inversión y el consumo de caja a corto plazo. La ausencia de históricos y de métricas de margen impide evaluar si el crecimiento viene acompañado de apalancamiento operativo o presión en rentabilidad. Dado el potencial componente de internacionalización y/o M&amp;A y la falta de visibilidad sobre deuda/estructura de capital, es plausible que requiera financiación adicional en el corto plazo para sostener el plan de crecimiento.</a:t>
            </a:r>
          </a:p>
        </p:txBody>
      </p:sp>
      <p:sp>
        <p:nvSpPr>
          <p:cNvPr id="20" name="TextBox 19"/>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BRIEFING DE CLIENTE</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Perfil y situación actual</a:t>
            </a:r>
          </a:p>
        </p:txBody>
      </p:sp>
      <p:sp>
        <p:nvSpPr>
          <p:cNvPr id="6" name="TextBox 5"/>
          <p:cNvSpPr txBox="1"/>
          <p:nvPr/>
        </p:nvSpPr>
        <p:spPr>
          <a:xfrm>
            <a:off x="640080" y="2148840"/>
            <a:ext cx="10881360" cy="822960"/>
          </a:xfrm>
          <a:prstGeom prst="rect">
            <a:avLst/>
          </a:prstGeom>
          <a:noFill/>
        </p:spPr>
        <p:txBody>
          <a:bodyPr wrap="square" anchor="t" lIns="0" rIns="0" tIns="0" bIns="0">
            <a:spAutoFit/>
          </a:bodyPr>
          <a:lstStyle/>
          <a:p>
            <a:pPr algn="l">
              <a:lnSpc>
                <a:spcPct val="130000"/>
              </a:lnSpc>
            </a:pPr>
            <a:r>
              <a:rPr sz="1400" b="0" i="0">
                <a:solidFill>
                  <a:srgbClr val="222A39"/>
                </a:solidFill>
                <a:latin typeface="Calibri"/>
              </a:rPr>
              <a:t>Datalyx Iberia SL es una compañía tecnológica con una escala ya relevante, con ingresos estimados de ~15,0 M€ y ~120 empleados. La reciente ronda privada sugiere que se encuentra en una fase de aceleración, potencialmente orientada a internacionalización y/o crecimiento inorgánico (M&amp;A).</a:t>
            </a:r>
          </a:p>
        </p:txBody>
      </p:sp>
      <p:sp>
        <p:nvSpPr>
          <p:cNvPr id="7" name="TextBox 6"/>
          <p:cNvSpPr txBox="1"/>
          <p:nvPr/>
        </p:nvSpPr>
        <p:spPr>
          <a:xfrm>
            <a:off x="640080" y="2880360"/>
            <a:ext cx="10881360" cy="822960"/>
          </a:xfrm>
          <a:prstGeom prst="rect">
            <a:avLst/>
          </a:prstGeom>
          <a:noFill/>
        </p:spPr>
        <p:txBody>
          <a:bodyPr wrap="square" anchor="t" lIns="0" rIns="0" tIns="0" bIns="0">
            <a:spAutoFit/>
          </a:bodyPr>
          <a:lstStyle/>
          <a:p>
            <a:pPr algn="l">
              <a:lnSpc>
                <a:spcPct val="130000"/>
              </a:lnSpc>
            </a:pPr>
            <a:r>
              <a:rPr sz="1400" b="0" i="1">
                <a:solidFill>
                  <a:srgbClr val="6B7385"/>
                </a:solidFill>
                <a:latin typeface="Calibri"/>
              </a:rPr>
              <a:t>La señal de una ronda privada reciente apunta a un incremento del ritmo de inversión y, previsiblemente, del consumo de caja en el corto plazo para ejecutar el plan de expansión. No hay datos históricos de crecimiento, márgenes, CAPEX, ni de endeudamiento/estructura de capital, por lo que no es posible evaluar con precisión la rentabilidad, el apalancamiento operativo o la capacidad de asumir deuda adicional.</a:t>
            </a:r>
          </a:p>
        </p:txBody>
      </p:sp>
      <p:sp>
        <p:nvSpPr>
          <p:cNvPr id="8" name="Rounded Rectangle 7"/>
          <p:cNvSpPr/>
          <p:nvPr/>
        </p:nvSpPr>
        <p:spPr>
          <a:xfrm>
            <a:off x="640080" y="3794760"/>
            <a:ext cx="5349240" cy="269748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4069080"/>
            <a:ext cx="384048" cy="384048"/>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0" name="TextBox 9"/>
          <p:cNvSpPr txBox="1"/>
          <p:nvPr/>
        </p:nvSpPr>
        <p:spPr>
          <a:xfrm>
            <a:off x="146304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NECESIDADES POTENCIALES</a:t>
            </a:r>
          </a:p>
        </p:txBody>
      </p:sp>
      <p:sp>
        <p:nvSpPr>
          <p:cNvPr id="11" name="TextBox 10"/>
          <p:cNvSpPr txBox="1"/>
          <p:nvPr/>
        </p:nvSpPr>
        <p:spPr>
          <a:xfrm>
            <a:off x="91440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Estructuración de venture debt complementaria a equity para financiar expansión (internacionalización) sin dilución adicional inmediata.</a:t>
            </a:r>
          </a:p>
          <a:p>
            <a:pPr>
              <a:lnSpc>
                <a:spcPct val="115000"/>
              </a:lnSpc>
              <a:spcAft>
                <a:spcPts val="800"/>
              </a:spcAft>
            </a:pPr>
            <a:r>
              <a:rPr sz="1300">
                <a:solidFill>
                  <a:srgbClr val="222A39"/>
                </a:solidFill>
                <a:latin typeface="Calibri"/>
              </a:rPr>
              <a:t>—  Financiación puente o líneas para necesidades de liquidez derivadas de aceleración comercial (OPEX) y ramp-up de equipos.</a:t>
            </a:r>
          </a:p>
          <a:p>
            <a:pPr>
              <a:lnSpc>
                <a:spcPct val="115000"/>
              </a:lnSpc>
              <a:spcAft>
                <a:spcPts val="800"/>
              </a:spcAft>
            </a:pPr>
            <a:r>
              <a:rPr sz="1300">
                <a:solidFill>
                  <a:srgbClr val="222A39"/>
                </a:solidFill>
                <a:latin typeface="Calibri"/>
              </a:rPr>
              <a:t>—  Capacidad de financiación para oportunidades de M&amp;A (ticket de adquisición y/o costes de integración) en el corto plazo.</a:t>
            </a:r>
          </a:p>
          <a:p>
            <a:pPr>
              <a:lnSpc>
                <a:spcPct val="115000"/>
              </a:lnSpc>
              <a:spcAft>
                <a:spcPts val="800"/>
              </a:spcAft>
            </a:pPr>
            <a:r>
              <a:rPr sz="1300">
                <a:solidFill>
                  <a:srgbClr val="222A39"/>
                </a:solidFill>
                <a:latin typeface="Calibri"/>
              </a:rPr>
              <a:t>—  Revisión de estructura de capital y “headroom” de deuda para dimensionar un paquete de financiación alineado con el plan post-ronda.</a:t>
            </a:r>
          </a:p>
        </p:txBody>
      </p:sp>
      <p:sp>
        <p:nvSpPr>
          <p:cNvPr id="12" name="Rounded Rectangle 11"/>
          <p:cNvSpPr/>
          <p:nvPr/>
        </p:nvSpPr>
        <p:spPr>
          <a:xfrm>
            <a:off x="6217920" y="3794760"/>
            <a:ext cx="5349240" cy="2697480"/>
          </a:xfrm>
          <a:prstGeom prst="roundRect">
            <a:avLst>
              <a:gd name="adj" fmla="val 6000"/>
            </a:avLst>
          </a:prstGeom>
          <a:solidFill>
            <a:srgbClr val="FFFFFF"/>
          </a:solidFill>
          <a:ln w="9525">
            <a:solidFill>
              <a:srgbClr val="DDD2BE"/>
            </a:solid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92240" y="4069080"/>
            <a:ext cx="384048" cy="384048"/>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4" name="TextBox 13"/>
          <p:cNvSpPr txBox="1"/>
          <p:nvPr/>
        </p:nvSpPr>
        <p:spPr>
          <a:xfrm>
            <a:off x="704088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RIESGOS Y PUNTOS DE ATENCIÓN</a:t>
            </a:r>
          </a:p>
        </p:txBody>
      </p:sp>
      <p:sp>
        <p:nvSpPr>
          <p:cNvPr id="15" name="TextBox 14"/>
          <p:cNvSpPr txBox="1"/>
          <p:nvPr/>
        </p:nvSpPr>
        <p:spPr>
          <a:xfrm>
            <a:off x="649224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Falta de visibilidad sobre crecimiento interanual, márgenes y evolución de rentabilidad: riesgo de que la aceleración venga con compresión de márgenes.</a:t>
            </a:r>
          </a:p>
          <a:p>
            <a:pPr>
              <a:lnSpc>
                <a:spcPct val="115000"/>
              </a:lnSpc>
              <a:spcAft>
                <a:spcPts val="800"/>
              </a:spcAft>
            </a:pPr>
            <a:r>
              <a:rPr sz="1300">
                <a:solidFill>
                  <a:srgbClr val="222A39"/>
                </a:solidFill>
                <a:latin typeface="Calibri"/>
              </a:rPr>
              <a:t>—  Ausencia de información sobre endeudamiento actual y covenants: riesgo de limitaciones para incorporar nueva deuda o de encaje subóptimo del instrumento.</a:t>
            </a:r>
          </a:p>
          <a:p>
            <a:pPr>
              <a:lnSpc>
                <a:spcPct val="115000"/>
              </a:lnSpc>
              <a:spcAft>
                <a:spcPts val="800"/>
              </a:spcAft>
            </a:pPr>
            <a:r>
              <a:rPr sz="1300">
                <a:solidFill>
                  <a:srgbClr val="222A39"/>
                </a:solidFill>
                <a:latin typeface="Calibri"/>
              </a:rPr>
              <a:t>—  Ejecución de internacionalización y/o M&amp;A puede elevar el consumo de caja y aumentar la volatilidad de resultados en el corto plazo.</a:t>
            </a:r>
          </a:p>
          <a:p>
            <a:pPr>
              <a:lnSpc>
                <a:spcPct val="115000"/>
              </a:lnSpc>
              <a:spcAft>
                <a:spcPts val="800"/>
              </a:spcAft>
            </a:pPr>
            <a:r>
              <a:rPr sz="1300">
                <a:solidFill>
                  <a:srgbClr val="222A39"/>
                </a:solidFill>
                <a:latin typeface="Calibri"/>
              </a:rPr>
              <a:t>—  Si la inversión es mayoritariamente OPEX, el burn rate podría incrementarse antes de materializarse ingresos incrementales.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ENCAJE Y COMPARABLES</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Cómo podemos ayudar</a:t>
            </a:r>
          </a:p>
        </p:txBody>
      </p:sp>
      <p:sp>
        <p:nvSpPr>
          <p:cNvPr id="6" name="TextBox 5"/>
          <p:cNvSpPr txBox="1"/>
          <p:nvPr/>
        </p:nvSpPr>
        <p:spPr>
          <a:xfrm>
            <a:off x="640080" y="2240280"/>
            <a:ext cx="6400800" cy="365760"/>
          </a:xfrm>
          <a:prstGeom prst="rect">
            <a:avLst/>
          </a:prstGeom>
          <a:noFill/>
        </p:spPr>
        <p:txBody>
          <a:bodyPr wrap="square" anchor="t" lIns="0" rIns="0" tIns="0" bIns="0">
            <a:spAutoFit/>
          </a:bodyPr>
          <a:lstStyle/>
          <a:p>
            <a:pPr algn="l"/>
            <a:r>
              <a:rPr sz="1100" b="1" i="0">
                <a:solidFill>
                  <a:srgbClr val="6B7385"/>
                </a:solidFill>
                <a:latin typeface="Calibri"/>
              </a:rPr>
              <a:t>ENCAJE CON PRODUCTOS DEL BANCO</a:t>
            </a:r>
          </a:p>
        </p:txBody>
      </p:sp>
      <p:sp>
        <p:nvSpPr>
          <p:cNvPr id="7" name="Oval 6"/>
          <p:cNvSpPr/>
          <p:nvPr/>
        </p:nvSpPr>
        <p:spPr>
          <a:xfrm>
            <a:off x="640080" y="2651760"/>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1188720" y="2651760"/>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Venture debt / préstamo de crecimiento (tramo amortizable y/o bullet parcial) para extender runway y financiar expansión sin dilución adicional inmediata.</a:t>
            </a:r>
          </a:p>
        </p:txBody>
      </p:sp>
      <p:sp>
        <p:nvSpPr>
          <p:cNvPr id="9" name="Oval 8"/>
          <p:cNvSpPr/>
          <p:nvPr/>
        </p:nvSpPr>
        <p:spPr>
          <a:xfrm>
            <a:off x="640080" y="3310128"/>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1188720" y="3310128"/>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Línea de liquidez / revolving para necesidades de circulante y flexibilidad operativa durante el ramp-up comercial e internacionalización.</a:t>
            </a:r>
          </a:p>
        </p:txBody>
      </p:sp>
      <p:sp>
        <p:nvSpPr>
          <p:cNvPr id="11" name="Rounded Rectangle 10"/>
          <p:cNvSpPr/>
          <p:nvPr/>
        </p:nvSpPr>
        <p:spPr>
          <a:xfrm>
            <a:off x="7406640" y="2240280"/>
            <a:ext cx="4160520" cy="320040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514600"/>
            <a:ext cx="3566160" cy="365760"/>
          </a:xfrm>
          <a:prstGeom prst="rect">
            <a:avLst/>
          </a:prstGeom>
          <a:noFill/>
        </p:spPr>
        <p:txBody>
          <a:bodyPr wrap="square" anchor="t" lIns="0" rIns="0" tIns="0" bIns="0">
            <a:spAutoFit/>
          </a:bodyPr>
          <a:lstStyle/>
          <a:p>
            <a:pPr algn="l"/>
            <a:r>
              <a:rPr sz="1100" b="1" i="0">
                <a:solidFill>
                  <a:srgbClr val="6B7385"/>
                </a:solidFill>
                <a:latin typeface="Calibri"/>
              </a:rPr>
              <a:t>COMPARABLES SECTORIALES</a:t>
            </a:r>
          </a:p>
        </p:txBody>
      </p:sp>
      <p:sp>
        <p:nvSpPr>
          <p:cNvPr id="13" name="TextBox 12"/>
          <p:cNvSpPr txBox="1"/>
          <p:nvPr/>
        </p:nvSpPr>
        <p:spPr>
          <a:xfrm>
            <a:off x="7726679" y="297180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Compañías tecnológicas B2B de software y servicios digitales en fase de expansión con ~10–30 M€ de ingresos y 80–200 empleados</a:t>
            </a:r>
          </a:p>
        </p:txBody>
      </p:sp>
      <p:sp>
        <p:nvSpPr>
          <p:cNvPr id="14" name="TextBox 13"/>
          <p:cNvSpPr txBox="1"/>
          <p:nvPr/>
        </p:nvSpPr>
        <p:spPr>
          <a:xfrm>
            <a:off x="7726679" y="425196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Scale-ups tecnológicas post-ronda que combinan crecimiento orgánico con adquisiciones tácticas (buy-and-build) en mercados fragmentados</a:t>
            </a:r>
          </a:p>
        </p:txBody>
      </p:sp>
      <p:sp>
        <p:nvSpPr>
          <p:cNvPr id="15" name="TextBox 14"/>
          <p:cNvSpPr txBox="1"/>
          <p:nvPr/>
        </p:nvSpPr>
        <p:spPr>
          <a:xfrm>
            <a:off x="640080" y="5440680"/>
            <a:ext cx="10881360" cy="365760"/>
          </a:xfrm>
          <a:prstGeom prst="rect">
            <a:avLst/>
          </a:prstGeom>
          <a:noFill/>
        </p:spPr>
        <p:txBody>
          <a:bodyPr wrap="square" anchor="t" lIns="0" rIns="0" tIns="0" bIns="0">
            <a:spAutoFit/>
          </a:bodyPr>
          <a:lstStyle/>
          <a:p>
            <a:pPr algn="l"/>
            <a:r>
              <a:rPr sz="1100" b="1" i="0">
                <a:solidFill>
                  <a:srgbClr val="6B7385"/>
                </a:solidFill>
                <a:latin typeface="Calibri"/>
              </a:rPr>
              <a:t>ARGUMENTOS DE VALOR</a:t>
            </a:r>
          </a:p>
        </p:txBody>
      </p:sp>
      <p:sp>
        <p:nvSpPr>
          <p:cNvPr id="16" name="Rounded Rectangle 15"/>
          <p:cNvSpPr/>
          <p:nvPr/>
        </p:nvSpPr>
        <p:spPr>
          <a:xfrm>
            <a:off x="64008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Optimización de estructura de capital: complementar equity con deuda de crecimiento para maximizar runway y reducir dilución, manteniendo opcionalidad para futuras rondas.</a:t>
            </a:r>
          </a:p>
        </p:txBody>
      </p:sp>
      <p:sp>
        <p:nvSpPr>
          <p:cNvPr id="18" name="Rounded Rectangle 17"/>
          <p:cNvSpPr/>
          <p:nvPr/>
        </p:nvSpPr>
        <p:spPr>
          <a:xfrm>
            <a:off x="443484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Flexibilidad para ejecutar el plan: diseño de un paquete con calendario de amortización adaptado al ramp-up (posible carencia inicial) y covenants alineados a métricas operativas realistas.</a:t>
            </a:r>
          </a:p>
        </p:txBody>
      </p:sp>
      <p:sp>
        <p:nvSpPr>
          <p:cNvPr id="20" name="Rounded Rectangle 19"/>
          <p:cNvSpPr/>
          <p:nvPr/>
        </p:nvSpPr>
        <p:spPr>
          <a:xfrm>
            <a:off x="822960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Preparación para M&amp;A: capacidad de estructurar financiación para adquisición (ticket + integración) y un marco de financiación escalable para oportunidades futuras, sujeto a due diligence financiera y legal.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881360" cy="822960"/>
          </a:xfrm>
          <a:prstGeom prst="rect">
            <a:avLst/>
          </a:prstGeom>
          <a:noFill/>
        </p:spPr>
        <p:txBody>
          <a:bodyPr wrap="square" anchor="t" lIns="0" rIns="0" tIns="0" bIns="0">
            <a:spAutoFit/>
          </a:bodyPr>
          <a:lstStyle/>
          <a:p>
            <a:pPr algn="l"/>
            <a:r>
              <a:rPr sz="3400" b="1" i="0">
                <a:solidFill>
                  <a:srgbClr val="FFFFFF"/>
                </a:solidFill>
                <a:latin typeface="Cambria"/>
              </a:rPr>
              <a:t>Próximos pasos</a:t>
            </a:r>
          </a:p>
        </p:txBody>
      </p:sp>
      <p:sp>
        <p:nvSpPr>
          <p:cNvPr id="4" name="TextBox 3"/>
          <p:cNvSpPr txBox="1"/>
          <p:nvPr/>
        </p:nvSpPr>
        <p:spPr>
          <a:xfrm>
            <a:off x="640080" y="1463040"/>
            <a:ext cx="10058400" cy="548640"/>
          </a:xfrm>
          <a:prstGeom prst="rect">
            <a:avLst/>
          </a:prstGeom>
          <a:noFill/>
        </p:spPr>
        <p:txBody>
          <a:bodyPr wrap="square" anchor="t" lIns="0" rIns="0" tIns="0" bIns="0">
            <a:spAutoFit/>
          </a:bodyPr>
          <a:lstStyle/>
          <a:p>
            <a:pPr algn="l">
              <a:lnSpc>
                <a:spcPct val="130000"/>
              </a:lnSpc>
            </a:pPr>
            <a:r>
              <a:rPr sz="1500" b="0" i="1">
                <a:solidFill>
                  <a:srgbClr val="C9D2E6"/>
                </a:solidFill>
                <a:latin typeface="Calibri"/>
              </a:rPr>
              <a:t>El equipo comercial revisa, ajusta y personaliza esta propuesta antes de cualquier interacción con el cliente.</a:t>
            </a:r>
          </a:p>
        </p:txBody>
      </p:sp>
      <p:sp>
        <p:nvSpPr>
          <p:cNvPr id="5" name="Oval 4"/>
          <p:cNvSpPr/>
          <p:nvPr/>
        </p:nvSpPr>
        <p:spPr>
          <a:xfrm>
            <a:off x="640080" y="237744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1325880" y="235915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Sesión de trabajo (60–90 min) para confirmar detalles de la ronda (importe, valoración, inversores, uso de fondos), plan 12–24 meses (países, contratación, hitos) y pipeline de M&amp;A (tamaño, timing, estructura).</a:t>
            </a:r>
          </a:p>
        </p:txBody>
      </p:sp>
      <p:sp>
        <p:nvSpPr>
          <p:cNvPr id="7" name="Oval 6"/>
          <p:cNvSpPr/>
          <p:nvPr/>
        </p:nvSpPr>
        <p:spPr>
          <a:xfrm>
            <a:off x="640080" y="338328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8" name="TextBox 7"/>
          <p:cNvSpPr txBox="1"/>
          <p:nvPr/>
        </p:nvSpPr>
        <p:spPr>
          <a:xfrm>
            <a:off x="1325880" y="336499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Solicitud de información y diagnóstico: P&amp;L y balance últimos 24–36 meses, caja y runway, deuda existente y covenants, cohortes/retención si aplica, presupuesto y plan de tesorería 18–24 meses.</a:t>
            </a:r>
          </a:p>
        </p:txBody>
      </p:sp>
      <p:sp>
        <p:nvSpPr>
          <p:cNvPr id="9" name="Oval 8"/>
          <p:cNvSpPr/>
          <p:nvPr/>
        </p:nvSpPr>
        <p:spPr>
          <a:xfrm>
            <a:off x="640080" y="438912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0" name="TextBox 9"/>
          <p:cNvSpPr txBox="1"/>
          <p:nvPr/>
        </p:nvSpPr>
        <p:spPr>
          <a:xfrm>
            <a:off x="1325880" y="437083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Propuesta indicativa: rango de tamaño, estructura (amortización/carácter bullet), pricing orientativo, paquete de garantías y covenants; y cronograma de ejecución hasta cierre.</a:t>
            </a:r>
          </a:p>
        </p:txBody>
      </p:sp>
      <p:sp>
        <p:nvSpPr>
          <p:cNvPr id="11" name="TextBox 10"/>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
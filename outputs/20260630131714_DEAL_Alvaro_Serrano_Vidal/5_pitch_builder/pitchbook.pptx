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NO ESPECIFICADO</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3600" b="1" i="0">
                <a:solidFill>
                  <a:srgbClr val="222222"/>
                </a:solidFill>
                <a:latin typeface="Arial"/>
              </a:rPr>
              <a:t>Propuesta comercial | Financiación de segunda residencia y estructuración patrimonial para cliente de renta alta</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Diseñar una estructura de compra y financiación de segunda vivienda optimizando entrada, cuota y fiscalidad, alineada con su liquidez actual y su patrimonio invertible.</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Alvaro Serrano Vidal</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Cliente particular de renta alta con intención de compra de segunda residencia y necesidad asociada de planificación patrimonial. La combinación de ahorro líquido estimado (130.000 EUR), patrimonio invertible (410.000 EUR) y una bonificación extraordinaria prevista en el 2º semestre crea una ventana táctica para definir el calendario de compra y la estructura óptima de financiación/entrada. Prioridad alta: preestudio de viabilidad hipotecaria y propuesta de estructuración patrimonial para minimizar fricciones de liquidez y riesgos de sobreendeudamiento.</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Reunión de 30–45 minutos (gestor + cliente) para concretar: precio objetivo, ubicación, horizonte de compra, uso (propio/mixto) y preferencia de cuota/plazo; salida: rango de importe financiable y estructura preliminar.</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2400" b="1" i="0">
                <a:solidFill>
                  <a:srgbClr val="FF6600"/>
                </a:solidFill>
                <a:latin typeface="Arial"/>
              </a:rPr>
              <a:t>145.000 EUR</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 anuales estimados</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No especificado</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145.000 EUR</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 anuales estimados</a:t>
            </a:r>
          </a:p>
        </p:txBody>
      </p:sp>
      <p:sp>
        <p:nvSpPr>
          <p:cNvPr id="11" name="Rectangle 10"/>
          <p:cNvSpPr/>
          <p:nvPr/>
        </p:nvSpPr>
        <p:spPr>
          <a:xfrm>
            <a:off x="443484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130.000 EUR</a:t>
            </a:r>
          </a:p>
        </p:txBody>
      </p:sp>
      <p:sp>
        <p:nvSpPr>
          <p:cNvPr id="13" name="TextBox 12"/>
          <p:cNvSpPr txBox="1"/>
          <p:nvPr/>
        </p:nvSpPr>
        <p:spPr>
          <a:xfrm>
            <a:off x="469087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Ahorro líquido estimado</a:t>
            </a:r>
          </a:p>
        </p:txBody>
      </p:sp>
      <p:sp>
        <p:nvSpPr>
          <p:cNvPr id="14" name="Rectangle 13"/>
          <p:cNvSpPr/>
          <p:nvPr/>
        </p:nvSpPr>
        <p:spPr>
          <a:xfrm>
            <a:off x="822960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487168"/>
            <a:ext cx="3008376" cy="685800"/>
          </a:xfrm>
          <a:prstGeom prst="rect">
            <a:avLst/>
          </a:prstGeom>
          <a:noFill/>
        </p:spPr>
        <p:txBody>
          <a:bodyPr wrap="square" anchor="t" lIns="0" rIns="0" tIns="0" bIns="0">
            <a:spAutoFit/>
          </a:bodyPr>
          <a:lstStyle/>
          <a:p>
            <a:pPr algn="l">
              <a:lnSpc>
                <a:spcPct val="100000"/>
              </a:lnSpc>
            </a:pPr>
            <a:r>
              <a:rPr sz="2200" b="1" i="0">
                <a:solidFill>
                  <a:srgbClr val="FF6600"/>
                </a:solidFill>
                <a:latin typeface="Arial"/>
              </a:rPr>
              <a:t>410.000 EUR</a:t>
            </a:r>
          </a:p>
        </p:txBody>
      </p:sp>
      <p:sp>
        <p:nvSpPr>
          <p:cNvPr id="16" name="TextBox 15"/>
          <p:cNvSpPr txBox="1"/>
          <p:nvPr/>
        </p:nvSpPr>
        <p:spPr>
          <a:xfrm>
            <a:off x="848563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Patrimonio invertible estimado</a:t>
            </a:r>
          </a:p>
        </p:txBody>
      </p:sp>
      <p:sp>
        <p:nvSpPr>
          <p:cNvPr id="17" name="TextBox 16"/>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8" name="TextBox 17"/>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No hay estados financieros corporativos disponibles; el análisis se limita a métricas patrimoniales y de renta personal.</a:t>
            </a:r>
          </a:p>
          <a:p>
            <a:pPr>
              <a:lnSpc>
                <a:spcPct val="115000"/>
              </a:lnSpc>
              <a:spcAft>
                <a:spcPts val="800"/>
              </a:spcAft>
            </a:pPr>
            <a:r>
              <a:rPr sz="1300">
                <a:solidFill>
                  <a:srgbClr val="222222"/>
                </a:solidFill>
                <a:latin typeface="Arial"/>
              </a:rPr>
              <a:t>• Se observa incremento de saldos en productos de inversión en los últimos 12 meses, sugiriendo mayor canalización de excedentes hacia inversión.</a:t>
            </a:r>
          </a:p>
          <a:p>
            <a:pPr>
              <a:lnSpc>
                <a:spcPct val="115000"/>
              </a:lnSpc>
              <a:spcAft>
                <a:spcPts val="800"/>
              </a:spcAft>
            </a:pPr>
            <a:r>
              <a:rPr sz="1300">
                <a:solidFill>
                  <a:srgbClr val="222222"/>
                </a:solidFill>
                <a:latin typeface="Arial"/>
              </a:rPr>
              <a:t>• Existe un evento de liquidez a corto plazo (bonificación extraordinaria prevista en el 2º semestre) que podría elevar puntualmente liquidez y patrimonio invertible.</a:t>
            </a:r>
          </a:p>
          <a:p>
            <a:pPr>
              <a:lnSpc>
                <a:spcPct val="115000"/>
              </a:lnSpc>
              <a:spcAft>
                <a:spcPts val="800"/>
              </a:spcAft>
            </a:pPr>
            <a:r>
              <a:rPr sz="1300">
                <a:solidFill>
                  <a:srgbClr val="222222"/>
                </a:solidFill>
                <a:latin typeface="Arial"/>
              </a:rPr>
              <a:t>• Interés en segunda residencia y estructuración patrimonial apunta a potenciales necesidades de financiación y planificación en el corto/medio plazo.</a:t>
            </a:r>
          </a:p>
        </p:txBody>
      </p:sp>
      <p:sp>
        <p:nvSpPr>
          <p:cNvPr id="19" name="Rectangle 18"/>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21" name="TextBox 20"/>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La información disponible describe un perfil personal con alta capacidad de generación de renta y una base de liquidez/patrimonio invertible relevante, lo que sugiere margen para acometer inversión inmobiliaria y/o soluciones de planificación patrimonial. La bonificación extraordinaria prevista podría actuar como catalizador de liquidez para una entrada o amortización inicial, pero faltan datos clave (ingresos netos, gastos recurrentes, endeudamiento actual, activos/pasivos detallados y objetivos de compra) para dimensionar capacidad de endeudamiento, estructura óptima y calendario de financiación.</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Alvaro Serrano Vidal es un cliente particular del banco (segmento Personal) vinculado a la oficina Barcelona - Diagonal, con perfil de renta alta. Presenta ingresos anuales estimados de 145.000 EUR, ahorro líquido estimado de 130.000 EUR y patrimonio invertible estimado de 410.000 EUR, con aumento de saldos en productos de inversión en los últimos 12 meses.</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Existe una oportunidad prioritaria (alta) de financiación residencial y estructuración patrimonial asociada a la compra de una segunda vivienda. La combinación de liquidez relevante, crecimiento reciente de inversión y una bonificación extraordinaria prevista en el 2º semestre sugiere un momento propicio para definir estructura de entrada, calendario de compra y arquitectura de financiación/planificación patrimonial.</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hipotecaria para segunda residencia: dimensionar importe objetivo, porcentaje de financiación y plazo, optimizando cuota vs. capacidad de pago con ingresos estimados de 145.000 EUR y posible uso de parte del ahorro líquido (130.000 EUR) como entrada.</a:t>
            </a:r>
          </a:p>
          <a:p>
            <a:pPr>
              <a:lnSpc>
                <a:spcPct val="115000"/>
              </a:lnSpc>
              <a:spcAft>
                <a:spcPts val="1000"/>
              </a:spcAft>
            </a:pPr>
            <a:r>
              <a:rPr sz="1300">
                <a:solidFill>
                  <a:srgbClr val="222222"/>
                </a:solidFill>
                <a:latin typeface="Arial"/>
              </a:rPr>
              <a:t>• Estructuración patrimonial ligada al inmueble: definir titularidad (individual/compartida), protección patrimonial y planificación sucesoria para la segunda vivienda, alineada con el patrimonio invertible estimado (410.000 EUR).</a:t>
            </a:r>
          </a:p>
          <a:p>
            <a:pPr>
              <a:lnSpc>
                <a:spcPct val="115000"/>
              </a:lnSpc>
              <a:spcAft>
                <a:spcPts val="1000"/>
              </a:spcAft>
            </a:pPr>
            <a:r>
              <a:rPr sz="1300">
                <a:solidFill>
                  <a:srgbClr val="222222"/>
                </a:solidFill>
                <a:latin typeface="Arial"/>
              </a:rPr>
              <a:t>• Plan de liquidez y timing: anticipar la bonificación extraordinaria del 2º semestre para decidir si se destina a mayor entrada, reducción de LTV, amortización parcial o mantener liquidez para contingencias e inversión.</a:t>
            </a:r>
          </a:p>
          <a:p>
            <a:pPr>
              <a:lnSpc>
                <a:spcPct val="115000"/>
              </a:lnSpc>
              <a:spcAft>
                <a:spcPts val="1000"/>
              </a:spcAft>
            </a:pPr>
            <a:r>
              <a:rPr sz="1300">
                <a:solidFill>
                  <a:srgbClr val="222222"/>
                </a:solidFill>
                <a:latin typeface="Arial"/>
              </a:rPr>
              <a:t>• Optimización de la cartera y cash management: revisar el incremento de saldos en inversión de los últimos 12 meses para asegurar que la asignación de activos y la liquidez disponible son coherentes con el compromiso inmobiliario (entrada, impuestos, gastos de compra y colchón).</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Riesgo de dimensionamiento incompleto de la capacidad de endeudamiento por falta de datos clave (ingresos netos, gastos recurrentes, endeudamiento actual y detalle de activos/pasivos), lo que puede llevar a una estructura de financiación subóptima.</a:t>
            </a:r>
          </a:p>
          <a:p>
            <a:pPr>
              <a:lnSpc>
                <a:spcPct val="115000"/>
              </a:lnSpc>
              <a:spcAft>
                <a:spcPts val="1000"/>
              </a:spcAft>
            </a:pPr>
            <a:r>
              <a:rPr sz="1300">
                <a:solidFill>
                  <a:srgbClr val="222222"/>
                </a:solidFill>
                <a:latin typeface="Arial"/>
              </a:rPr>
              <a:t>• Riesgo de tensión de liquidez si se utiliza una parte elevada del ahorro líquido (130.000 EUR) como entrada sin reservar colchón para impuestos, gastos de compra, mantenimiento de la segunda vivienda y posibles variaciones de tipos/cuotas.</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hipotecaria residencial (segunda vivienda): estructurar importe, plazo y tipo (fijo/mixto/variable) para equilibrar cuota y coste total, con escenarios de entrada usando liquidez actual y bonificación futura.</a:t>
            </a:r>
          </a:p>
          <a:p>
            <a:pPr>
              <a:lnSpc>
                <a:spcPct val="115000"/>
              </a:lnSpc>
              <a:spcAft>
                <a:spcPts val="1000"/>
              </a:spcAft>
            </a:pPr>
            <a:r>
              <a:rPr sz="1350">
                <a:solidFill>
                  <a:srgbClr val="222222"/>
                </a:solidFill>
                <a:latin typeface="Arial"/>
              </a:rPr>
              <a:t>• Préstamo puente / financiación transitoria (si aplica): cubrir desfases temporales entre señal/arras, compra y cobro de bonificación del 2º semestre, evitando ventas forzadas de inversiones.</a:t>
            </a:r>
          </a:p>
          <a:p>
            <a:pPr>
              <a:lnSpc>
                <a:spcPct val="115000"/>
              </a:lnSpc>
              <a:spcAft>
                <a:spcPts val="1000"/>
              </a:spcAft>
            </a:pPr>
            <a:r>
              <a:rPr sz="1350">
                <a:solidFill>
                  <a:srgbClr val="222222"/>
                </a:solidFill>
                <a:latin typeface="Arial"/>
              </a:rPr>
              <a:t>• Soluciones de planificación patrimonial y sucesoria: definir titularidad del inmueble, esquema de protección patrimonial y planificación de herencia/donación conforme a objetivos familiares y tolerancia al riesgo.</a:t>
            </a:r>
          </a:p>
          <a:p>
            <a:pPr>
              <a:lnSpc>
                <a:spcPct val="115000"/>
              </a:lnSpc>
              <a:spcAft>
                <a:spcPts val="1000"/>
              </a:spcAft>
            </a:pPr>
            <a:r>
              <a:rPr sz="1350">
                <a:solidFill>
                  <a:srgbClr val="222222"/>
                </a:solidFill>
                <a:latin typeface="Arial"/>
              </a:rPr>
              <a:t>• Gestión de liquidez y cartera: reequilibrio de inversiones y reserva de liquidez objetivo para gastos de compra, mantenimiento de la segunda vivienda y amortizaciones, minimizando riesgo de tensión de caja.</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Referencia de mercado: prácticas habituales de financiación de segunda residencia en banca minorista/privada en España, con enfoque en LTV prudente y verificación de ratio de esfuerzo (cuota/ingreso neto) para estabilidad de largo plazo.</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Referencia de planificación patrimonial: estructuras de titularidad y planificación sucesoria comúnmente utilizadas por clientes de renta alta para inmuebles (titularidad individual/compartida, previsión hereditaria y protección frente a contingencias), adaptadas al marco fiscal aplicable.</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Enfoque integral (inmueble + balance personal): no solo se propone una hipoteca, sino un plan coordinado de entrada, liquidez, inversión y estructura patrimonial para que la compra no deteriore la estabilidad financiera.</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Optimización del timing con la bonificación del 2º semestre: diseño de escenarios para decidir entre mayor entrada inicial, amortización temprana o preservación de liquidez, reduciendo coste financiero y riesgo de liquidez.</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Gestión del riesgo y preaprobación: propuesta de 2–3 estructuras alternativas con sensibilidad de tipos y cuota, incorporando un colchón de liquidez y evitando decisiones que obliguen a desinvertir en momentos desfavorables.</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Reunión de 30–45 minutos (gestor + cliente) para concretar: precio objetivo, ubicación, horizonte de compra, uso (propio/mixto) y preferencia de cuota/plazo; salida: rango de importe financiable y estructura preliminar.</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Recopilación de documentación mínima en 72 horas: nóminas/ingresos, IRPF, extractos, detalle de endeudamiento actual, composición de patrimonio invertible y gastos recurrentes; salida: cálculo de capacidad y ratio de esfuerzo.</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Entrega de propuesta con 2–3 escenarios en 5 días laborables: (i) entrada con liquidez actual, (ii) entrada optimizada con bonificación futura, (iii) estructura conservadora con mayor colchón; incluir recomendación de tipo (fijo/mixto/variable) y plan de amortización.</a:t>
            </a:r>
          </a:p>
        </p:txBody>
      </p:sp>
      <p:sp>
        <p:nvSpPr>
          <p:cNvPr id="13" name="TextBox 12"/>
          <p:cNvSpPr txBox="1"/>
          <p:nvPr/>
        </p:nvSpPr>
        <p:spPr>
          <a:xfrm>
            <a:off x="713232" y="5266944"/>
            <a:ext cx="274320" cy="274320"/>
          </a:xfrm>
          <a:prstGeom prst="rect">
            <a:avLst/>
          </a:prstGeom>
          <a:noFill/>
        </p:spPr>
        <p:txBody>
          <a:bodyPr wrap="square" anchor="t" lIns="0" rIns="0" tIns="0" bIns="0">
            <a:spAutoFit/>
          </a:bodyPr>
          <a:lstStyle/>
          <a:p>
            <a:pPr algn="l"/>
            <a:r>
              <a:rPr sz="1700" b="1" i="0">
                <a:solidFill>
                  <a:srgbClr val="FF6600"/>
                </a:solidFill>
                <a:latin typeface="Arial"/>
              </a:rPr>
              <a:t>4.</a:t>
            </a:r>
          </a:p>
        </p:txBody>
      </p:sp>
      <p:sp>
        <p:nvSpPr>
          <p:cNvPr id="14" name="TextBox 13"/>
          <p:cNvSpPr txBox="1"/>
          <p:nvPr/>
        </p:nvSpPr>
        <p:spPr>
          <a:xfrm>
            <a:off x="1060704" y="5266944"/>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Sesión de estructuración patrimonial (especialista + gestor) para definir titularidad del inmueble, objetivos sucesorios y plan de implementación; salida: hoja de ruta patrimonial vinculada a la compra.</a:t>
            </a:r>
          </a:p>
        </p:txBody>
      </p:sp>
      <p:sp>
        <p:nvSpPr>
          <p:cNvPr id="15" name="TextBox 14"/>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
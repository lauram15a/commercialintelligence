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234440"/>
            <a:ext cx="201168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l"/>
            <a:r>
              <a:rPr sz="1100" b="1">
                <a:solidFill>
                  <a:srgbClr val="FF6600"/>
                </a:solidFill>
                <a:latin typeface="Arial"/>
              </a:rPr>
              <a:t>AGROINDUSTRIA</a:t>
            </a:r>
          </a:p>
        </p:txBody>
      </p:sp>
      <p:sp>
        <p:nvSpPr>
          <p:cNvPr id="6" name="Rectangle 5"/>
          <p:cNvSpPr/>
          <p:nvPr/>
        </p:nvSpPr>
        <p:spPr>
          <a:xfrm>
            <a:off x="713232" y="1471422"/>
            <a:ext cx="201168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57400"/>
            <a:ext cx="8686800" cy="1371600"/>
          </a:xfrm>
          <a:prstGeom prst="rect">
            <a:avLst/>
          </a:prstGeom>
          <a:noFill/>
        </p:spPr>
        <p:txBody>
          <a:bodyPr wrap="square" anchor="t" lIns="0" rIns="0" tIns="0" bIns="0">
            <a:spAutoFit/>
          </a:bodyPr>
          <a:lstStyle/>
          <a:p>
            <a:pPr algn="l">
              <a:lnSpc>
                <a:spcPct val="108000"/>
              </a:lnSpc>
            </a:pPr>
            <a:r>
              <a:rPr sz="4000" b="1" i="0">
                <a:solidFill>
                  <a:srgbClr val="222222"/>
                </a:solidFill>
                <a:latin typeface="Arial"/>
              </a:rPr>
              <a:t>Propuesta comercial | Mediterránea Foods Export SA</a:t>
            </a:r>
          </a:p>
        </p:txBody>
      </p:sp>
      <p:sp>
        <p:nvSpPr>
          <p:cNvPr id="8" name="TextBox 7"/>
          <p:cNvSpPr txBox="1"/>
          <p:nvPr/>
        </p:nvSpPr>
        <p:spPr>
          <a:xfrm>
            <a:off x="713232" y="4069080"/>
            <a:ext cx="9326880" cy="822960"/>
          </a:xfrm>
          <a:prstGeom prst="rect">
            <a:avLst/>
          </a:prstGeom>
          <a:noFill/>
        </p:spPr>
        <p:txBody>
          <a:bodyPr wrap="square" anchor="t" lIns="0" rIns="0" tIns="0" bIns="0">
            <a:spAutoFit/>
          </a:bodyPr>
          <a:lstStyle/>
          <a:p>
            <a:pPr algn="l">
              <a:lnSpc>
                <a:spcPct val="125000"/>
              </a:lnSpc>
            </a:pPr>
            <a:r>
              <a:rPr sz="1700" b="0" i="0">
                <a:solidFill>
                  <a:srgbClr val="5A6B7B"/>
                </a:solidFill>
                <a:latin typeface="Arial"/>
              </a:rPr>
              <a:t>Financiación integral para ampliar capacidad productiva, acelerar exportaciones y gestionar circulante y riesgo FX</a:t>
            </a:r>
          </a:p>
        </p:txBody>
      </p:sp>
      <p:sp>
        <p:nvSpPr>
          <p:cNvPr id="9" name="TextBox 8"/>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OPORTUNIDAD DETECTADA</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6400800" cy="594360"/>
          </a:xfrm>
          <a:prstGeom prst="rect">
            <a:avLst/>
          </a:prstGeom>
          <a:noFill/>
        </p:spPr>
        <p:txBody>
          <a:bodyPr wrap="square" anchor="t" lIns="0" rIns="0" tIns="0" bIns="0">
            <a:spAutoFit/>
          </a:bodyPr>
          <a:lstStyle/>
          <a:p>
            <a:pPr algn="l"/>
            <a:r>
              <a:rPr sz="3000" b="1" i="0">
                <a:solidFill>
                  <a:srgbClr val="222222"/>
                </a:solidFill>
                <a:latin typeface="Arial"/>
              </a:rPr>
              <a:t>Mediterránea Foods Export SA</a:t>
            </a:r>
          </a:p>
        </p:txBody>
      </p:sp>
      <p:sp>
        <p:nvSpPr>
          <p:cNvPr id="8" name="TextBox 7"/>
          <p:cNvSpPr txBox="1"/>
          <p:nvPr/>
        </p:nvSpPr>
        <p:spPr>
          <a:xfrm>
            <a:off x="713232" y="2240280"/>
            <a:ext cx="6400800" cy="2194560"/>
          </a:xfrm>
          <a:prstGeom prst="rect">
            <a:avLst/>
          </a:prstGeom>
          <a:noFill/>
        </p:spPr>
        <p:txBody>
          <a:bodyPr wrap="square" anchor="t" lIns="0" rIns="0" tIns="0" bIns="0">
            <a:spAutoFit/>
          </a:bodyPr>
          <a:lstStyle/>
          <a:p>
            <a:pPr algn="l">
              <a:lnSpc>
                <a:spcPct val="135000"/>
              </a:lnSpc>
            </a:pPr>
            <a:r>
              <a:rPr sz="1500" b="0" i="0">
                <a:solidFill>
                  <a:srgbClr val="222222"/>
                </a:solidFill>
                <a:latin typeface="Arial"/>
              </a:rPr>
              <a:t>Mediterránea Foods Export SA está en una fase de crecimiento intensiva en inversión, impulsada por un plan de ampliación de planta (CAPEX) para soportar un aumento de exportaciones. Este contexto sugiere una necesidad inmediata de financiación a largo plazo alineada al calendario de inversión y al ramp-up de capacidad, complementada con soluciones de circulante ligadas a comercio exterior. El mayor peso exportador incrementa la exposición a divisa, por lo que se recomienda estructurar un marco de coberturas FX y una gobernanza de riesgos asociada.</a:t>
            </a:r>
          </a:p>
        </p:txBody>
      </p:sp>
      <p:sp>
        <p:nvSpPr>
          <p:cNvPr id="9" name="TextBox 8"/>
          <p:cNvSpPr txBox="1"/>
          <p:nvPr/>
        </p:nvSpPr>
        <p:spPr>
          <a:xfrm>
            <a:off x="713232" y="5257800"/>
            <a:ext cx="6400800" cy="274320"/>
          </a:xfrm>
          <a:prstGeom prst="rect">
            <a:avLst/>
          </a:prstGeom>
          <a:noFill/>
        </p:spPr>
        <p:txBody>
          <a:bodyPr wrap="square" anchor="t" lIns="0" rIns="0" tIns="0" bIns="0">
            <a:spAutoFit/>
          </a:bodyPr>
          <a:lstStyle/>
          <a:p>
            <a:pPr algn="l"/>
            <a:r>
              <a:rPr sz="1100" b="1" i="0">
                <a:solidFill>
                  <a:srgbClr val="5A6B7B"/>
                </a:solidFill>
                <a:latin typeface="Arial"/>
              </a:rPr>
              <a:t>PRÓXIMA ACCIÓN</a:t>
            </a:r>
          </a:p>
        </p:txBody>
      </p:sp>
      <p:sp>
        <p:nvSpPr>
          <p:cNvPr id="10" name="TextBox 9"/>
          <p:cNvSpPr txBox="1"/>
          <p:nvPr/>
        </p:nvSpPr>
        <p:spPr>
          <a:xfrm>
            <a:off x="713232" y="5559552"/>
            <a:ext cx="6400800" cy="777240"/>
          </a:xfrm>
          <a:prstGeom prst="rect">
            <a:avLst/>
          </a:prstGeom>
          <a:noFill/>
        </p:spPr>
        <p:txBody>
          <a:bodyPr wrap="square" anchor="t" lIns="0" rIns="0" tIns="0" bIns="0">
            <a:spAutoFit/>
          </a:bodyPr>
          <a:lstStyle/>
          <a:p>
            <a:pPr algn="l">
              <a:lnSpc>
                <a:spcPct val="125000"/>
              </a:lnSpc>
            </a:pPr>
            <a:r>
              <a:rPr sz="1400" b="0" i="0">
                <a:solidFill>
                  <a:srgbClr val="FF6600"/>
                </a:solidFill>
                <a:latin typeface="Arial"/>
              </a:rPr>
              <a:t>Solicitud de información clave (2 semanas): importe total de CAPEX, calendario e hitos; proyección de ventas/exportaciones por mercado/moneda; márgenes/EBITDA y generación de caja; deuda actual (importe, vencimientos, coste, covenants) y ciclo de circulante (DSO/DPO/inventarios).</a:t>
            </a:r>
          </a:p>
        </p:txBody>
      </p:sp>
      <p:sp>
        <p:nvSpPr>
          <p:cNvPr id="11" name="Rectangle 10"/>
          <p:cNvSpPr/>
          <p:nvPr/>
        </p:nvSpPr>
        <p:spPr>
          <a:xfrm>
            <a:off x="7818120" y="1627632"/>
            <a:ext cx="3657600" cy="44805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874519"/>
            <a:ext cx="2926080" cy="274320"/>
          </a:xfrm>
          <a:prstGeom prst="rect">
            <a:avLst/>
          </a:prstGeom>
          <a:noFill/>
        </p:spPr>
        <p:txBody>
          <a:bodyPr wrap="square" anchor="t" lIns="0" rIns="0" tIns="0" bIns="0">
            <a:spAutoFit/>
          </a:bodyPr>
          <a:lstStyle/>
          <a:p>
            <a:pPr algn="l"/>
            <a:r>
              <a:rPr sz="1100" b="1" i="0">
                <a:solidFill>
                  <a:srgbClr val="5A6B7B"/>
                </a:solidFill>
                <a:latin typeface="Arial"/>
              </a:rPr>
              <a:t>EN UNA CIFRA</a:t>
            </a:r>
          </a:p>
        </p:txBody>
      </p:sp>
      <p:sp>
        <p:nvSpPr>
          <p:cNvPr id="13" name="TextBox 12"/>
          <p:cNvSpPr txBox="1"/>
          <p:nvPr/>
        </p:nvSpPr>
        <p:spPr>
          <a:xfrm>
            <a:off x="8138160" y="2240280"/>
            <a:ext cx="2926080" cy="822960"/>
          </a:xfrm>
          <a:prstGeom prst="rect">
            <a:avLst/>
          </a:prstGeom>
          <a:noFill/>
        </p:spPr>
        <p:txBody>
          <a:bodyPr wrap="square" anchor="t" lIns="0" rIns="0" tIns="0" bIns="0">
            <a:spAutoFit/>
          </a:bodyPr>
          <a:lstStyle/>
          <a:p>
            <a:pPr algn="l">
              <a:lnSpc>
                <a:spcPct val="100000"/>
              </a:lnSpc>
            </a:pPr>
            <a:r>
              <a:rPr sz="3800" b="1" i="0">
                <a:solidFill>
                  <a:srgbClr val="FF6600"/>
                </a:solidFill>
                <a:latin typeface="Arial"/>
              </a:rPr>
              <a:t>27,9 M</a:t>
            </a:r>
          </a:p>
        </p:txBody>
      </p:sp>
      <p:sp>
        <p:nvSpPr>
          <p:cNvPr id="14" name="TextBox 13"/>
          <p:cNvSpPr txBox="1"/>
          <p:nvPr/>
        </p:nvSpPr>
        <p:spPr>
          <a:xfrm>
            <a:off x="8138160" y="3063240"/>
            <a:ext cx="2926080" cy="640080"/>
          </a:xfrm>
          <a:prstGeom prst="rect">
            <a:avLst/>
          </a:prstGeom>
          <a:noFill/>
        </p:spPr>
        <p:txBody>
          <a:bodyPr wrap="square" anchor="t" lIns="0" rIns="0" tIns="0" bIns="0">
            <a:spAutoFit/>
          </a:bodyPr>
          <a:lstStyle/>
          <a:p>
            <a:pPr algn="l">
              <a:lnSpc>
                <a:spcPct val="120000"/>
              </a:lnSpc>
            </a:pPr>
            <a:r>
              <a:rPr sz="1300" b="0" i="0">
                <a:solidFill>
                  <a:srgbClr val="5A6B7B"/>
                </a:solidFill>
                <a:latin typeface="Arial"/>
              </a:rPr>
              <a:t>Ingresos estimados</a:t>
            </a:r>
          </a:p>
        </p:txBody>
      </p:sp>
      <p:sp>
        <p:nvSpPr>
          <p:cNvPr id="15" name="Rectangle 14"/>
          <p:cNvSpPr/>
          <p:nvPr/>
        </p:nvSpPr>
        <p:spPr>
          <a:xfrm>
            <a:off x="8138160" y="3840480"/>
            <a:ext cx="2926080" cy="127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4005072"/>
            <a:ext cx="2926080" cy="228600"/>
          </a:xfrm>
          <a:prstGeom prst="rect">
            <a:avLst/>
          </a:prstGeom>
          <a:noFill/>
        </p:spPr>
        <p:txBody>
          <a:bodyPr wrap="square" anchor="t" lIns="0" rIns="0" tIns="0" bIns="0">
            <a:spAutoFit/>
          </a:bodyPr>
          <a:lstStyle/>
          <a:p>
            <a:pPr algn="l"/>
            <a:r>
              <a:rPr sz="1100" b="1" i="0">
                <a:solidFill>
                  <a:srgbClr val="5A6B7B"/>
                </a:solidFill>
                <a:latin typeface="Arial"/>
              </a:rPr>
              <a:t>SECTOR</a:t>
            </a:r>
          </a:p>
        </p:txBody>
      </p:sp>
      <p:sp>
        <p:nvSpPr>
          <p:cNvPr id="17" name="TextBox 16"/>
          <p:cNvSpPr txBox="1"/>
          <p:nvPr/>
        </p:nvSpPr>
        <p:spPr>
          <a:xfrm>
            <a:off x="8138160" y="4279392"/>
            <a:ext cx="2926080" cy="365760"/>
          </a:xfrm>
          <a:prstGeom prst="rect">
            <a:avLst/>
          </a:prstGeom>
          <a:noFill/>
        </p:spPr>
        <p:txBody>
          <a:bodyPr wrap="square" anchor="t" lIns="0" rIns="0" tIns="0" bIns="0">
            <a:spAutoFit/>
          </a:bodyPr>
          <a:lstStyle/>
          <a:p>
            <a:pPr algn="l"/>
            <a:r>
              <a:rPr sz="1600" b="1" i="0">
                <a:solidFill>
                  <a:srgbClr val="222222"/>
                </a:solidFill>
                <a:latin typeface="Arial"/>
              </a:rPr>
              <a:t>Agroindustria</a:t>
            </a:r>
          </a:p>
        </p:txBody>
      </p:sp>
      <p:sp>
        <p:nvSpPr>
          <p:cNvPr id="18" name="TextBox 17"/>
          <p:cNvSpPr txBox="1"/>
          <p:nvPr/>
        </p:nvSpPr>
        <p:spPr>
          <a:xfrm>
            <a:off x="8138160" y="4828032"/>
            <a:ext cx="2926080" cy="228600"/>
          </a:xfrm>
          <a:prstGeom prst="rect">
            <a:avLst/>
          </a:prstGeom>
          <a:noFill/>
        </p:spPr>
        <p:txBody>
          <a:bodyPr wrap="square" anchor="t" lIns="0" rIns="0" tIns="0" bIns="0">
            <a:spAutoFit/>
          </a:bodyPr>
          <a:lstStyle/>
          <a:p>
            <a:pPr algn="l"/>
            <a:r>
              <a:rPr sz="1100" b="1" i="0">
                <a:solidFill>
                  <a:srgbClr val="5A6B7B"/>
                </a:solidFill>
                <a:latin typeface="Arial"/>
              </a:rPr>
              <a:t>PRIORIDAD</a:t>
            </a:r>
          </a:p>
        </p:txBody>
      </p:sp>
      <p:sp>
        <p:nvSpPr>
          <p:cNvPr id="19" name="TextBox 18"/>
          <p:cNvSpPr txBox="1"/>
          <p:nvPr/>
        </p:nvSpPr>
        <p:spPr>
          <a:xfrm>
            <a:off x="8138160" y="5102352"/>
            <a:ext cx="2926080" cy="320040"/>
          </a:xfrm>
          <a:prstGeom prst="rect">
            <a:avLst/>
          </a:prstGeom>
          <a:noFill/>
        </p:spPr>
        <p:txBody>
          <a:bodyPr wrap="square" anchor="t" lIns="0" rIns="0" tIns="0" bIns="0">
            <a:spAutoFit/>
          </a:bodyPr>
          <a:lstStyle/>
          <a:p>
            <a:pPr algn="l"/>
            <a:r>
              <a:rPr sz="1400" b="1" i="0">
                <a:solidFill>
                  <a:srgbClr val="FF6600"/>
                </a:solidFill>
                <a:latin typeface="Arial"/>
              </a:rPr>
              <a:t>ALTA</a:t>
            </a:r>
          </a:p>
        </p:txBody>
      </p:sp>
      <p:sp>
        <p:nvSpPr>
          <p:cNvPr id="20" name="TextBox 19"/>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CONTEXTO FINANCIERO</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Lo que dicen los números</a:t>
            </a:r>
          </a:p>
        </p:txBody>
      </p:sp>
      <p:sp>
        <p:nvSpPr>
          <p:cNvPr id="8" name="Rectangle 7"/>
          <p:cNvSpPr/>
          <p:nvPr/>
        </p:nvSpPr>
        <p:spPr>
          <a:xfrm>
            <a:off x="64008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487168"/>
            <a:ext cx="3008376" cy="685800"/>
          </a:xfrm>
          <a:prstGeom prst="rect">
            <a:avLst/>
          </a:prstGeom>
          <a:noFill/>
        </p:spPr>
        <p:txBody>
          <a:bodyPr wrap="square" anchor="t" lIns="0" rIns="0" tIns="0" bIns="0">
            <a:spAutoFit/>
          </a:bodyPr>
          <a:lstStyle/>
          <a:p>
            <a:pPr algn="l">
              <a:lnSpc>
                <a:spcPct val="100000"/>
              </a:lnSpc>
            </a:pPr>
            <a:r>
              <a:rPr sz="3200" b="1" i="0">
                <a:solidFill>
                  <a:srgbClr val="FF6600"/>
                </a:solidFill>
                <a:latin typeface="Arial"/>
              </a:rPr>
              <a:t>27,9 M</a:t>
            </a:r>
          </a:p>
        </p:txBody>
      </p:sp>
      <p:sp>
        <p:nvSpPr>
          <p:cNvPr id="10" name="TextBox 9"/>
          <p:cNvSpPr txBox="1"/>
          <p:nvPr/>
        </p:nvSpPr>
        <p:spPr>
          <a:xfrm>
            <a:off x="89611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Ingresos estimados</a:t>
            </a:r>
          </a:p>
        </p:txBody>
      </p:sp>
      <p:sp>
        <p:nvSpPr>
          <p:cNvPr id="11" name="Rectangle 10"/>
          <p:cNvSpPr/>
          <p:nvPr/>
        </p:nvSpPr>
        <p:spPr>
          <a:xfrm>
            <a:off x="443484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Incremento por ampliación de planta (sin importe/calendario)</a:t>
            </a:r>
          </a:p>
        </p:txBody>
      </p:sp>
      <p:sp>
        <p:nvSpPr>
          <p:cNvPr id="13" name="TextBox 12"/>
          <p:cNvSpPr txBox="1"/>
          <p:nvPr/>
        </p:nvSpPr>
        <p:spPr>
          <a:xfrm>
            <a:off x="469087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CAPEX</a:t>
            </a:r>
          </a:p>
        </p:txBody>
      </p:sp>
      <p:sp>
        <p:nvSpPr>
          <p:cNvPr id="14" name="Rectangle 13"/>
          <p:cNvSpPr/>
          <p:nvPr/>
        </p:nvSpPr>
        <p:spPr>
          <a:xfrm>
            <a:off x="822960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8563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Aumento de exportaciones (sin %)</a:t>
            </a:r>
          </a:p>
        </p:txBody>
      </p:sp>
      <p:sp>
        <p:nvSpPr>
          <p:cNvPr id="16" name="TextBox 15"/>
          <p:cNvSpPr txBox="1"/>
          <p:nvPr/>
        </p:nvSpPr>
        <p:spPr>
          <a:xfrm>
            <a:off x="848563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Mix exportador</a:t>
            </a:r>
          </a:p>
        </p:txBody>
      </p:sp>
      <p:sp>
        <p:nvSpPr>
          <p:cNvPr id="17" name="TextBox 16"/>
          <p:cNvSpPr txBox="1"/>
          <p:nvPr/>
        </p:nvSpPr>
        <p:spPr>
          <a:xfrm>
            <a:off x="713232" y="4800600"/>
            <a:ext cx="5212080" cy="274320"/>
          </a:xfrm>
          <a:prstGeom prst="rect">
            <a:avLst/>
          </a:prstGeom>
          <a:noFill/>
        </p:spPr>
        <p:txBody>
          <a:bodyPr wrap="square" anchor="t" lIns="0" rIns="0" tIns="0" bIns="0">
            <a:spAutoFit/>
          </a:bodyPr>
          <a:lstStyle/>
          <a:p>
            <a:pPr algn="l"/>
            <a:r>
              <a:rPr sz="1100" b="1" i="0">
                <a:solidFill>
                  <a:srgbClr val="5A6B7B"/>
                </a:solidFill>
                <a:latin typeface="Arial"/>
              </a:rPr>
              <a:t>TENDENCIAS ESTRUCTURALES</a:t>
            </a:r>
          </a:p>
        </p:txBody>
      </p:sp>
      <p:sp>
        <p:nvSpPr>
          <p:cNvPr id="18" name="TextBox 17"/>
          <p:cNvSpPr txBox="1"/>
          <p:nvPr/>
        </p:nvSpPr>
        <p:spPr>
          <a:xfrm>
            <a:off x="713232" y="5102352"/>
            <a:ext cx="5212080" cy="1234440"/>
          </a:xfrm>
          <a:prstGeom prst="rect">
            <a:avLst/>
          </a:prstGeom>
          <a:noFill/>
        </p:spPr>
        <p:txBody>
          <a:bodyPr wrap="square" lIns="0" rIns="0" tIns="0" bIns="0">
            <a:spAutoFit/>
          </a:bodyPr>
          <a:lstStyle/>
          <a:p>
            <a:pPr>
              <a:lnSpc>
                <a:spcPct val="115000"/>
              </a:lnSpc>
              <a:spcAft>
                <a:spcPts val="800"/>
              </a:spcAft>
            </a:pPr>
            <a:r>
              <a:rPr sz="1300">
                <a:solidFill>
                  <a:srgbClr val="222222"/>
                </a:solidFill>
                <a:latin typeface="Arial"/>
              </a:rPr>
              <a:t>• Expansión de capacidad productiva vía ampliación de planta para sostener crecimiento.</a:t>
            </a:r>
          </a:p>
          <a:p>
            <a:pPr>
              <a:lnSpc>
                <a:spcPct val="115000"/>
              </a:lnSpc>
              <a:spcAft>
                <a:spcPts val="800"/>
              </a:spcAft>
            </a:pPr>
            <a:r>
              <a:rPr sz="1300">
                <a:solidFill>
                  <a:srgbClr val="222222"/>
                </a:solidFill>
                <a:latin typeface="Arial"/>
              </a:rPr>
              <a:t>• Mayor orientación a exportaciones e internacionalización del negocio.</a:t>
            </a:r>
          </a:p>
          <a:p>
            <a:pPr>
              <a:lnSpc>
                <a:spcPct val="115000"/>
              </a:lnSpc>
              <a:spcAft>
                <a:spcPts val="800"/>
              </a:spcAft>
            </a:pPr>
            <a:r>
              <a:rPr sz="1300">
                <a:solidFill>
                  <a:srgbClr val="222222"/>
                </a:solidFill>
                <a:latin typeface="Arial"/>
              </a:rPr>
              <a:t>• Incremento de exposición a divisa (FX) por mayor peso exportador.</a:t>
            </a:r>
          </a:p>
          <a:p>
            <a:pPr>
              <a:lnSpc>
                <a:spcPct val="115000"/>
              </a:lnSpc>
              <a:spcAft>
                <a:spcPts val="800"/>
              </a:spcAft>
            </a:pPr>
            <a:r>
              <a:rPr sz="1300">
                <a:solidFill>
                  <a:srgbClr val="222222"/>
                </a:solidFill>
                <a:latin typeface="Arial"/>
              </a:rPr>
              <a:t>• Probable aumento de necesidades de circulante asociadas a comercio exterior.</a:t>
            </a:r>
          </a:p>
        </p:txBody>
      </p:sp>
      <p:sp>
        <p:nvSpPr>
          <p:cNvPr id="19" name="Rectangle 18"/>
          <p:cNvSpPr/>
          <p:nvPr/>
        </p:nvSpPr>
        <p:spPr>
          <a:xfrm>
            <a:off x="6263640" y="4800600"/>
            <a:ext cx="5212080" cy="164592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4983480"/>
            <a:ext cx="4663440" cy="228600"/>
          </a:xfrm>
          <a:prstGeom prst="rect">
            <a:avLst/>
          </a:prstGeom>
          <a:noFill/>
        </p:spPr>
        <p:txBody>
          <a:bodyPr wrap="square" anchor="t" lIns="0" rIns="0" tIns="0" bIns="0">
            <a:spAutoFit/>
          </a:bodyPr>
          <a:lstStyle/>
          <a:p>
            <a:pPr algn="l"/>
            <a:r>
              <a:rPr sz="1100" b="1" i="0">
                <a:solidFill>
                  <a:srgbClr val="FF6600"/>
                </a:solidFill>
                <a:latin typeface="Arial"/>
              </a:rPr>
              <a:t>INTERPRETACIÓN</a:t>
            </a:r>
          </a:p>
        </p:txBody>
      </p:sp>
      <p:sp>
        <p:nvSpPr>
          <p:cNvPr id="21" name="TextBox 20"/>
          <p:cNvSpPr txBox="1"/>
          <p:nvPr/>
        </p:nvSpPr>
        <p:spPr>
          <a:xfrm>
            <a:off x="6537960" y="5285232"/>
            <a:ext cx="4663440" cy="914400"/>
          </a:xfrm>
          <a:prstGeom prst="rect">
            <a:avLst/>
          </a:prstGeom>
          <a:noFill/>
        </p:spPr>
        <p:txBody>
          <a:bodyPr wrap="square" anchor="t" lIns="0" rIns="0" tIns="0" bIns="0">
            <a:spAutoFit/>
          </a:bodyPr>
          <a:lstStyle/>
          <a:p>
            <a:pPr algn="l">
              <a:lnSpc>
                <a:spcPct val="125000"/>
              </a:lnSpc>
            </a:pPr>
            <a:r>
              <a:rPr sz="1300" b="0" i="0">
                <a:solidFill>
                  <a:srgbClr val="222222"/>
                </a:solidFill>
                <a:latin typeface="Arial"/>
              </a:rPr>
              <a:t>La compañía se encuentra en una fase de crecimiento intensiva en inversión, con CAPEX al alza para ampliar capacidad y soportar mayores exportaciones. La ausencia de datos de márgenes/EBITDA y de endeudamiento impide evaluar la sostenibilidad financiera del plan y el nivel de apalancamiento óptimo. Dado el perfil de expansión e internacionalización, es plausible una mayor necesidad de financiación a largo plazo y de gestión de circulante, además de reforzar la cobertura de riesgo FX.</a:t>
            </a:r>
          </a:p>
        </p:txBody>
      </p:sp>
      <p:sp>
        <p:nvSpPr>
          <p:cNvPr id="22" name="TextBox 21"/>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BRIEFING DE CLIENTE</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Perfil y situación actual</a:t>
            </a:r>
          </a:p>
        </p:txBody>
      </p:sp>
      <p:sp>
        <p:nvSpPr>
          <p:cNvPr id="8" name="TextBox 7"/>
          <p:cNvSpPr txBox="1"/>
          <p:nvPr/>
        </p:nvSpPr>
        <p:spPr>
          <a:xfrm>
            <a:off x="713232" y="2148840"/>
            <a:ext cx="10762488" cy="822960"/>
          </a:xfrm>
          <a:prstGeom prst="rect">
            <a:avLst/>
          </a:prstGeom>
          <a:noFill/>
        </p:spPr>
        <p:txBody>
          <a:bodyPr wrap="square" anchor="t" lIns="0" rIns="0" tIns="0" bIns="0">
            <a:spAutoFit/>
          </a:bodyPr>
          <a:lstStyle/>
          <a:p>
            <a:pPr algn="l">
              <a:lnSpc>
                <a:spcPct val="130000"/>
              </a:lnSpc>
            </a:pPr>
            <a:r>
              <a:rPr sz="1400" b="0" i="0">
                <a:solidFill>
                  <a:srgbClr val="222222"/>
                </a:solidFill>
                <a:latin typeface="Arial"/>
              </a:rPr>
              <a:t>Mediterránea Foods Export SA es una compañía del sector alimentación con foco exportador. Está ejecutando una estrategia de crecimiento basada en aumentar capacidad productiva y profundizar su penetración internacional.</a:t>
            </a:r>
          </a:p>
        </p:txBody>
      </p:sp>
      <p:sp>
        <p:nvSpPr>
          <p:cNvPr id="9" name="TextBox 8"/>
          <p:cNvSpPr txBox="1"/>
          <p:nvPr/>
        </p:nvSpPr>
        <p:spPr>
          <a:xfrm>
            <a:off x="713232" y="2834640"/>
            <a:ext cx="10762488" cy="731520"/>
          </a:xfrm>
          <a:prstGeom prst="rect">
            <a:avLst/>
          </a:prstGeom>
          <a:noFill/>
        </p:spPr>
        <p:txBody>
          <a:bodyPr wrap="square" anchor="t" lIns="0" rIns="0" tIns="0" bIns="0">
            <a:spAutoFit/>
          </a:bodyPr>
          <a:lstStyle/>
          <a:p>
            <a:pPr algn="l">
              <a:lnSpc>
                <a:spcPct val="130000"/>
              </a:lnSpc>
            </a:pPr>
            <a:r>
              <a:rPr sz="1400" b="0" i="0">
                <a:solidFill>
                  <a:srgbClr val="5A6B7B"/>
                </a:solidFill>
                <a:latin typeface="Arial"/>
              </a:rPr>
              <a:t>La empresa se encuentra en una fase de expansión con un plan de ampliación de planta (CAPEX) para soportar un aumento de exportaciones. Se estiman ingresos de 27,9 M, pero no se dispone de comparativos interanuales, márgenes/EBITDA ni datos de endeudamiento, lo que limita la evaluación de rentabilidad, apalancamiento y capacidad de repago. El mayor peso exportador incrementa la exposición a divisa (FX) y previsiblemente las necesidades de circulante ligadas a comercio exterior.</a:t>
            </a:r>
          </a:p>
        </p:txBody>
      </p:sp>
      <p:sp>
        <p:nvSpPr>
          <p:cNvPr id="10" name="Rectangle 9"/>
          <p:cNvSpPr/>
          <p:nvPr/>
        </p:nvSpPr>
        <p:spPr>
          <a:xfrm>
            <a:off x="64008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NECESIDADES POTENCIALES</a:t>
            </a:r>
          </a:p>
        </p:txBody>
      </p:sp>
      <p:sp>
        <p:nvSpPr>
          <p:cNvPr id="12" name="TextBox 11"/>
          <p:cNvSpPr txBox="1"/>
          <p:nvPr/>
        </p:nvSpPr>
        <p:spPr>
          <a:xfrm>
            <a:off x="91440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Financiación a largo plazo para CAPEX (estructura, plazo y posibles periodos de carencia alineados al ramp-up de capacidad).</a:t>
            </a:r>
          </a:p>
          <a:p>
            <a:pPr>
              <a:lnSpc>
                <a:spcPct val="115000"/>
              </a:lnSpc>
              <a:spcAft>
                <a:spcPts val="1000"/>
              </a:spcAft>
            </a:pPr>
            <a:r>
              <a:rPr sz="1300">
                <a:solidFill>
                  <a:srgbClr val="222222"/>
                </a:solidFill>
                <a:latin typeface="Arial"/>
              </a:rPr>
              <a:t>• Soluciones de circulante vinculadas a exportación (financiación de pedidos, pre/post-embarque, confirming/forfaiting según estructura comercial).</a:t>
            </a:r>
          </a:p>
          <a:p>
            <a:pPr>
              <a:lnSpc>
                <a:spcPct val="115000"/>
              </a:lnSpc>
              <a:spcAft>
                <a:spcPts val="1000"/>
              </a:spcAft>
            </a:pPr>
            <a:r>
              <a:rPr sz="1300">
                <a:solidFill>
                  <a:srgbClr val="222222"/>
                </a:solidFill>
                <a:latin typeface="Arial"/>
              </a:rPr>
              <a:t>• Coberturas de divisa (FX) por mayor exposición derivada del incremento de exportaciones.</a:t>
            </a:r>
          </a:p>
          <a:p>
            <a:pPr>
              <a:lnSpc>
                <a:spcPct val="115000"/>
              </a:lnSpc>
              <a:spcAft>
                <a:spcPts val="1000"/>
              </a:spcAft>
            </a:pPr>
            <a:r>
              <a:rPr sz="1300">
                <a:solidFill>
                  <a:srgbClr val="222222"/>
                </a:solidFill>
                <a:latin typeface="Arial"/>
              </a:rPr>
              <a:t>• Definición de un paquete financiero integral (combinación de deuda largo plazo + líneas de circulante) en función de calendario de inversión y ciclo de caja.</a:t>
            </a:r>
          </a:p>
        </p:txBody>
      </p:sp>
      <p:sp>
        <p:nvSpPr>
          <p:cNvPr id="13" name="Rectangle 12"/>
          <p:cNvSpPr/>
          <p:nvPr/>
        </p:nvSpPr>
        <p:spPr>
          <a:xfrm>
            <a:off x="621792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RIESGOS Y PUNTOS DE ATENCIÓN</a:t>
            </a:r>
          </a:p>
        </p:txBody>
      </p:sp>
      <p:sp>
        <p:nvSpPr>
          <p:cNvPr id="15" name="TextBox 14"/>
          <p:cNvSpPr txBox="1"/>
          <p:nvPr/>
        </p:nvSpPr>
        <p:spPr>
          <a:xfrm>
            <a:off x="649224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Riesgo de ejecución del CAPEX (sobrecostes, retrasos, ramp-up más lento) con impacto en caja.</a:t>
            </a:r>
          </a:p>
          <a:p>
            <a:pPr>
              <a:lnSpc>
                <a:spcPct val="115000"/>
              </a:lnSpc>
              <a:spcAft>
                <a:spcPts val="1000"/>
              </a:spcAft>
            </a:pPr>
            <a:r>
              <a:rPr sz="1300">
                <a:solidFill>
                  <a:srgbClr val="222222"/>
                </a:solidFill>
                <a:latin typeface="Arial"/>
              </a:rPr>
              <a:t>• Incertidumbre sobre rentabilidad operativa (EBITDA/márgenes no reportados) y, por tanto, sobre la capacidad de servicio de deuda.</a:t>
            </a:r>
          </a:p>
          <a:p>
            <a:pPr>
              <a:lnSpc>
                <a:spcPct val="115000"/>
              </a:lnSpc>
              <a:spcAft>
                <a:spcPts val="1000"/>
              </a:spcAft>
            </a:pPr>
            <a:r>
              <a:rPr sz="1300">
                <a:solidFill>
                  <a:srgbClr val="222222"/>
                </a:solidFill>
                <a:latin typeface="Arial"/>
              </a:rPr>
              <a:t>• Riesgo de apalancamiento y refinanciación por falta de visibilidad de deuda neta, vencimientos y coste financiero.</a:t>
            </a:r>
          </a:p>
          <a:p>
            <a:pPr>
              <a:lnSpc>
                <a:spcPct val="115000"/>
              </a:lnSpc>
              <a:spcAft>
                <a:spcPts val="1000"/>
              </a:spcAft>
            </a:pPr>
            <a:r>
              <a:rPr sz="1300">
                <a:solidFill>
                  <a:srgbClr val="222222"/>
                </a:solidFill>
                <a:latin typeface="Arial"/>
              </a:rPr>
              <a:t>• Riesgo FX por mayor mix exportador sin información sobre política de cobertura.</a:t>
            </a:r>
          </a:p>
        </p:txBody>
      </p:sp>
      <p:sp>
        <p:nvSpPr>
          <p:cNvPr id="16" name="TextBox 15"/>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ENCAJE Y COMPARABLES</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Cómo podemos ayudar</a:t>
            </a:r>
          </a:p>
        </p:txBody>
      </p:sp>
      <p:sp>
        <p:nvSpPr>
          <p:cNvPr id="8" name="Rectangle 7"/>
          <p:cNvSpPr/>
          <p:nvPr/>
        </p:nvSpPr>
        <p:spPr>
          <a:xfrm>
            <a:off x="640080" y="2194560"/>
            <a:ext cx="6400800" cy="28803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50592"/>
            <a:ext cx="5852160" cy="228600"/>
          </a:xfrm>
          <a:prstGeom prst="rect">
            <a:avLst/>
          </a:prstGeom>
          <a:noFill/>
        </p:spPr>
        <p:txBody>
          <a:bodyPr wrap="square" anchor="t" lIns="0" rIns="0" tIns="0" bIns="0">
            <a:spAutoFit/>
          </a:bodyPr>
          <a:lstStyle/>
          <a:p>
            <a:pPr algn="l"/>
            <a:r>
              <a:rPr sz="1100" b="1" i="0">
                <a:solidFill>
                  <a:srgbClr val="FF6600"/>
                </a:solidFill>
                <a:latin typeface="Arial"/>
              </a:rPr>
              <a:t>ENCAJE CON PRODUCTOS DEL BANCO</a:t>
            </a:r>
          </a:p>
        </p:txBody>
      </p:sp>
      <p:sp>
        <p:nvSpPr>
          <p:cNvPr id="10" name="TextBox 9"/>
          <p:cNvSpPr txBox="1"/>
          <p:nvPr/>
        </p:nvSpPr>
        <p:spPr>
          <a:xfrm>
            <a:off x="914400" y="2816352"/>
            <a:ext cx="5669280" cy="1920240"/>
          </a:xfrm>
          <a:prstGeom prst="rect">
            <a:avLst/>
          </a:prstGeom>
          <a:noFill/>
        </p:spPr>
        <p:txBody>
          <a:bodyPr wrap="square" lIns="0" rIns="0" tIns="0" bIns="0">
            <a:spAutoFit/>
          </a:bodyPr>
          <a:lstStyle/>
          <a:p>
            <a:pPr>
              <a:lnSpc>
                <a:spcPct val="115000"/>
              </a:lnSpc>
              <a:spcAft>
                <a:spcPts val="1000"/>
              </a:spcAft>
            </a:pPr>
            <a:r>
              <a:rPr sz="1350">
                <a:solidFill>
                  <a:srgbClr val="222222"/>
                </a:solidFill>
                <a:latin typeface="Arial"/>
              </a:rPr>
              <a:t>• Financiación a largo plazo para CAPEX (préstamo amortizable / financiación de proyecto / estructura con carencia parcial alineada a puesta en marcha y ramp-up).</a:t>
            </a:r>
          </a:p>
          <a:p>
            <a:pPr>
              <a:lnSpc>
                <a:spcPct val="115000"/>
              </a:lnSpc>
              <a:spcAft>
                <a:spcPts val="1000"/>
              </a:spcAft>
            </a:pPr>
            <a:r>
              <a:rPr sz="1350">
                <a:solidFill>
                  <a:srgbClr val="222222"/>
                </a:solidFill>
                <a:latin typeface="Arial"/>
              </a:rPr>
              <a:t>• Soluciones de circulante y comercio exterior (líneas de pre y post-embarque, financiación de pedidos, descuento/anticipo de exportaciones, instrumentos documentarios y garantías) + programa de coberturas FX (forwards/opciones y política de límites).</a:t>
            </a:r>
          </a:p>
        </p:txBody>
      </p:sp>
      <p:sp>
        <p:nvSpPr>
          <p:cNvPr id="11" name="Rectangle 10"/>
          <p:cNvSpPr/>
          <p:nvPr/>
        </p:nvSpPr>
        <p:spPr>
          <a:xfrm>
            <a:off x="7406640" y="2194560"/>
            <a:ext cx="4160520" cy="320040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9248" y="2450592"/>
            <a:ext cx="3566160" cy="228600"/>
          </a:xfrm>
          <a:prstGeom prst="rect">
            <a:avLst/>
          </a:prstGeom>
          <a:noFill/>
        </p:spPr>
        <p:txBody>
          <a:bodyPr wrap="square" anchor="t" lIns="0" rIns="0" tIns="0" bIns="0">
            <a:spAutoFit/>
          </a:bodyPr>
          <a:lstStyle/>
          <a:p>
            <a:pPr algn="l"/>
            <a:r>
              <a:rPr sz="1100" b="1" i="0">
                <a:solidFill>
                  <a:srgbClr val="FF6600"/>
                </a:solidFill>
                <a:latin typeface="Arial"/>
              </a:rPr>
              <a:t>COMPARABLES SECTORIALES</a:t>
            </a:r>
          </a:p>
        </p:txBody>
      </p:sp>
      <p:sp>
        <p:nvSpPr>
          <p:cNvPr id="13" name="TextBox 12"/>
          <p:cNvSpPr txBox="1"/>
          <p:nvPr/>
        </p:nvSpPr>
        <p:spPr>
          <a:xfrm>
            <a:off x="7699248" y="297180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Exportador agroalimentario de tamaño medio con inversión en ampliación de capacidad y crecimiento internacional</a:t>
            </a:r>
          </a:p>
        </p:txBody>
      </p:sp>
      <p:sp>
        <p:nvSpPr>
          <p:cNvPr id="14" name="TextBox 13"/>
          <p:cNvSpPr txBox="1"/>
          <p:nvPr/>
        </p:nvSpPr>
        <p:spPr>
          <a:xfrm>
            <a:off x="7699248" y="425196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Procesador/transformador de alimentos con mix exportador creciente y necesidades elevadas de circulante por plazos logísticos y de cobro</a:t>
            </a:r>
          </a:p>
        </p:txBody>
      </p:sp>
      <p:sp>
        <p:nvSpPr>
          <p:cNvPr id="15" name="TextBox 14"/>
          <p:cNvSpPr txBox="1"/>
          <p:nvPr/>
        </p:nvSpPr>
        <p:spPr>
          <a:xfrm>
            <a:off x="713232" y="5532120"/>
            <a:ext cx="10762488" cy="228600"/>
          </a:xfrm>
          <a:prstGeom prst="rect">
            <a:avLst/>
          </a:prstGeom>
          <a:noFill/>
        </p:spPr>
        <p:txBody>
          <a:bodyPr wrap="square" anchor="t" lIns="0" rIns="0" tIns="0" bIns="0">
            <a:spAutoFit/>
          </a:bodyPr>
          <a:lstStyle/>
          <a:p>
            <a:pPr algn="l"/>
            <a:r>
              <a:rPr sz="1100" b="1" i="0">
                <a:solidFill>
                  <a:srgbClr val="5A6B7B"/>
                </a:solidFill>
                <a:latin typeface="Arial"/>
              </a:rPr>
              <a:t>ARGUMENTOS DE VALOR</a:t>
            </a:r>
          </a:p>
        </p:txBody>
      </p:sp>
      <p:sp>
        <p:nvSpPr>
          <p:cNvPr id="16" name="Rectangle 15"/>
          <p:cNvSpPr/>
          <p:nvPr/>
        </p:nvSpPr>
        <p:spPr>
          <a:xfrm>
            <a:off x="64008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Estructuración a medida del CAPEX: diseño de un tramo de largo plazo con calendario de amortización y posibles periodos de carencia coherentes con hitos de obra, puesta en marcha y generación de caja, reduciendo el riesgo de tensión de liquidez durante la ejecución.</a:t>
            </a:r>
          </a:p>
        </p:txBody>
      </p:sp>
      <p:sp>
        <p:nvSpPr>
          <p:cNvPr id="18" name="Rectangle 17"/>
          <p:cNvSpPr/>
          <p:nvPr/>
        </p:nvSpPr>
        <p:spPr>
          <a:xfrm>
            <a:off x="443484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600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Paquete integral largo plazo + circulante: combinación de financiación de inversión y líneas operativas para acompañar el ciclo de caja exportador (inventario, producción, tránsito, cobro), evitando que el crecimiento internacional consuma liquidez estructural.</a:t>
            </a:r>
          </a:p>
        </p:txBody>
      </p:sp>
      <p:sp>
        <p:nvSpPr>
          <p:cNvPr id="20" name="Rectangle 19"/>
          <p:cNvSpPr/>
          <p:nvPr/>
        </p:nvSpPr>
        <p:spPr>
          <a:xfrm>
            <a:off x="822960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Gestión activa del riesgo FX: implementación de un marco de coberturas por divisa/mercado y por horizonte temporal, con reporting y límites, para estabilizar márgenes y proteger la capacidad de servicio de deuda ante volatilidad cambiaria.</a:t>
            </a:r>
          </a:p>
        </p:txBody>
      </p:sp>
      <p:sp>
        <p:nvSpPr>
          <p:cNvPr id="22" name="TextBox 21"/>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417320"/>
            <a:ext cx="10762488" cy="640080"/>
          </a:xfrm>
          <a:prstGeom prst="rect">
            <a:avLst/>
          </a:prstGeom>
          <a:noFill/>
        </p:spPr>
        <p:txBody>
          <a:bodyPr wrap="square" anchor="t" lIns="0" rIns="0" tIns="0" bIns="0">
            <a:spAutoFit/>
          </a:bodyPr>
          <a:lstStyle/>
          <a:p>
            <a:pPr algn="l"/>
            <a:r>
              <a:rPr sz="3400" b="1" i="0">
                <a:solidFill>
                  <a:srgbClr val="FF6600"/>
                </a:solidFill>
                <a:latin typeface="Arial"/>
              </a:rPr>
              <a:t>Next steps</a:t>
            </a:r>
          </a:p>
        </p:txBody>
      </p:sp>
      <p:sp>
        <p:nvSpPr>
          <p:cNvPr id="6" name="TextBox 5"/>
          <p:cNvSpPr txBox="1"/>
          <p:nvPr/>
        </p:nvSpPr>
        <p:spPr>
          <a:xfrm>
            <a:off x="713232" y="1993392"/>
            <a:ext cx="9784080" cy="640080"/>
          </a:xfrm>
          <a:prstGeom prst="rect">
            <a:avLst/>
          </a:prstGeom>
          <a:noFill/>
        </p:spPr>
        <p:txBody>
          <a:bodyPr wrap="square" anchor="t" lIns="0" rIns="0" tIns="0" bIns="0">
            <a:spAutoFit/>
          </a:bodyPr>
          <a:lstStyle/>
          <a:p>
            <a:pPr algn="l">
              <a:lnSpc>
                <a:spcPct val="130000"/>
              </a:lnSpc>
            </a:pPr>
            <a:r>
              <a:rPr sz="1500" b="0" i="0">
                <a:solidFill>
                  <a:srgbClr val="5A6B7B"/>
                </a:solidFill>
                <a:latin typeface="Arial"/>
              </a:rPr>
              <a:t>El equipo comercial revisa, ajusta y personaliza esta propuesta antes de cualquier interacción con el cliente.</a:t>
            </a:r>
          </a:p>
        </p:txBody>
      </p:sp>
      <p:sp>
        <p:nvSpPr>
          <p:cNvPr id="7" name="TextBox 6"/>
          <p:cNvSpPr txBox="1"/>
          <p:nvPr/>
        </p:nvSpPr>
        <p:spPr>
          <a:xfrm>
            <a:off x="713232" y="2743200"/>
            <a:ext cx="274320" cy="274320"/>
          </a:xfrm>
          <a:prstGeom prst="rect">
            <a:avLst/>
          </a:prstGeom>
          <a:noFill/>
        </p:spPr>
        <p:txBody>
          <a:bodyPr wrap="square" anchor="t" lIns="0" rIns="0" tIns="0" bIns="0">
            <a:spAutoFit/>
          </a:bodyPr>
          <a:lstStyle/>
          <a:p>
            <a:pPr algn="l"/>
            <a:r>
              <a:rPr sz="1700" b="1" i="0">
                <a:solidFill>
                  <a:srgbClr val="FF6600"/>
                </a:solidFill>
                <a:latin typeface="Arial"/>
              </a:rPr>
              <a:t>1.</a:t>
            </a:r>
          </a:p>
        </p:txBody>
      </p:sp>
      <p:sp>
        <p:nvSpPr>
          <p:cNvPr id="8" name="TextBox 7"/>
          <p:cNvSpPr txBox="1"/>
          <p:nvPr/>
        </p:nvSpPr>
        <p:spPr>
          <a:xfrm>
            <a:off x="1060704" y="2743200"/>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Solicitud de información clave (2 semanas): importe total de CAPEX, calendario e hitos; proyección de ventas/exportaciones por mercado/moneda; márgenes/EBITDA y generación de caja; deuda actual (importe, vencimientos, coste, covenants) y ciclo de circulante (DSO/DPO/inventarios).</a:t>
            </a:r>
          </a:p>
        </p:txBody>
      </p:sp>
      <p:sp>
        <p:nvSpPr>
          <p:cNvPr id="9" name="TextBox 8"/>
          <p:cNvSpPr txBox="1"/>
          <p:nvPr/>
        </p:nvSpPr>
        <p:spPr>
          <a:xfrm>
            <a:off x="713232" y="3584448"/>
            <a:ext cx="274320" cy="274320"/>
          </a:xfrm>
          <a:prstGeom prst="rect">
            <a:avLst/>
          </a:prstGeom>
          <a:noFill/>
        </p:spPr>
        <p:txBody>
          <a:bodyPr wrap="square" anchor="t" lIns="0" rIns="0" tIns="0" bIns="0">
            <a:spAutoFit/>
          </a:bodyPr>
          <a:lstStyle/>
          <a:p>
            <a:pPr algn="l"/>
            <a:r>
              <a:rPr sz="1700" b="1" i="0">
                <a:solidFill>
                  <a:srgbClr val="FF6600"/>
                </a:solidFill>
                <a:latin typeface="Arial"/>
              </a:rPr>
              <a:t>2.</a:t>
            </a:r>
          </a:p>
        </p:txBody>
      </p:sp>
      <p:sp>
        <p:nvSpPr>
          <p:cNvPr id="10" name="TextBox 9"/>
          <p:cNvSpPr txBox="1"/>
          <p:nvPr/>
        </p:nvSpPr>
        <p:spPr>
          <a:xfrm>
            <a:off x="1060704" y="3584448"/>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Diseño de alternativas de estructura (1–2 semanas): propuesta de financiación a largo plazo (plazo, carencia, amortización, garantías) + dimensionamiento de líneas de comercio exterior/circulante y propuesta de política de coberturas FX.</a:t>
            </a:r>
          </a:p>
        </p:txBody>
      </p:sp>
      <p:sp>
        <p:nvSpPr>
          <p:cNvPr id="11" name="TextBox 10"/>
          <p:cNvSpPr txBox="1"/>
          <p:nvPr/>
        </p:nvSpPr>
        <p:spPr>
          <a:xfrm>
            <a:off x="713232" y="4425696"/>
            <a:ext cx="274320" cy="274320"/>
          </a:xfrm>
          <a:prstGeom prst="rect">
            <a:avLst/>
          </a:prstGeom>
          <a:noFill/>
        </p:spPr>
        <p:txBody>
          <a:bodyPr wrap="square" anchor="t" lIns="0" rIns="0" tIns="0" bIns="0">
            <a:spAutoFit/>
          </a:bodyPr>
          <a:lstStyle/>
          <a:p>
            <a:pPr algn="l"/>
            <a:r>
              <a:rPr sz="1700" b="1" i="0">
                <a:solidFill>
                  <a:srgbClr val="FF6600"/>
                </a:solidFill>
                <a:latin typeface="Arial"/>
              </a:rPr>
              <a:t>3.</a:t>
            </a:r>
          </a:p>
        </p:txBody>
      </p:sp>
      <p:sp>
        <p:nvSpPr>
          <p:cNvPr id="12" name="TextBox 11"/>
          <p:cNvSpPr txBox="1"/>
          <p:nvPr/>
        </p:nvSpPr>
        <p:spPr>
          <a:xfrm>
            <a:off x="1060704" y="4425696"/>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Sesión de validación y hoja de ruta (1 semana): revisión con dirección financiera/gerencia, selección de estructura objetivo, definición de documentación, calendario de ejecución y plan de implementación de coberturas y líneas operativas.</a:t>
            </a:r>
          </a:p>
        </p:txBody>
      </p:sp>
      <p:sp>
        <p:nvSpPr>
          <p:cNvPr id="13" name="TextBox 12"/>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
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3232" y="1234440"/>
            <a:ext cx="201168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l"/>
            <a:r>
              <a:rPr sz="1100" b="1">
                <a:solidFill>
                  <a:srgbClr val="FF6600"/>
                </a:solidFill>
                <a:latin typeface="Arial"/>
              </a:rPr>
              <a:t>TECNOLOGIA</a:t>
            </a:r>
          </a:p>
        </p:txBody>
      </p:sp>
      <p:sp>
        <p:nvSpPr>
          <p:cNvPr id="6" name="Rectangle 5"/>
          <p:cNvSpPr/>
          <p:nvPr/>
        </p:nvSpPr>
        <p:spPr>
          <a:xfrm>
            <a:off x="713232" y="1471422"/>
            <a:ext cx="201168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57400"/>
            <a:ext cx="8686800" cy="1371600"/>
          </a:xfrm>
          <a:prstGeom prst="rect">
            <a:avLst/>
          </a:prstGeom>
          <a:noFill/>
        </p:spPr>
        <p:txBody>
          <a:bodyPr wrap="square" anchor="t" lIns="0" rIns="0" tIns="0" bIns="0">
            <a:spAutoFit/>
          </a:bodyPr>
          <a:lstStyle/>
          <a:p>
            <a:pPr algn="l">
              <a:lnSpc>
                <a:spcPct val="108000"/>
              </a:lnSpc>
            </a:pPr>
            <a:r>
              <a:rPr sz="3600" b="1" i="0">
                <a:solidFill>
                  <a:srgbClr val="222222"/>
                </a:solidFill>
                <a:latin typeface="Arial"/>
              </a:rPr>
              <a:t>Propuesta comercial | Financiación puente y estructuración de deuda para adquisición (DataNexa Cloud Systems SL)</a:t>
            </a:r>
          </a:p>
        </p:txBody>
      </p:sp>
      <p:sp>
        <p:nvSpPr>
          <p:cNvPr id="8" name="TextBox 7"/>
          <p:cNvSpPr txBox="1"/>
          <p:nvPr/>
        </p:nvSpPr>
        <p:spPr>
          <a:xfrm>
            <a:off x="713232" y="4069080"/>
            <a:ext cx="9326880" cy="822960"/>
          </a:xfrm>
          <a:prstGeom prst="rect">
            <a:avLst/>
          </a:prstGeom>
          <a:noFill/>
        </p:spPr>
        <p:txBody>
          <a:bodyPr wrap="square" anchor="t" lIns="0" rIns="0" tIns="0" bIns="0">
            <a:spAutoFit/>
          </a:bodyPr>
          <a:lstStyle/>
          <a:p>
            <a:pPr algn="l">
              <a:lnSpc>
                <a:spcPct val="125000"/>
              </a:lnSpc>
            </a:pPr>
            <a:r>
              <a:rPr sz="1700" b="0" i="0">
                <a:solidFill>
                  <a:srgbClr val="5A6B7B"/>
                </a:solidFill>
                <a:latin typeface="Arial"/>
              </a:rPr>
              <a:t>Acompañar el cierre de la adquisición con liquidez inmediata y una estructura de deuda escalable que preserve flexibilidad para la integración.</a:t>
            </a:r>
          </a:p>
        </p:txBody>
      </p:sp>
      <p:sp>
        <p:nvSpPr>
          <p:cNvPr id="9" name="TextBox 8"/>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OPORTUNIDAD DETECTADA</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6400800" cy="594360"/>
          </a:xfrm>
          <a:prstGeom prst="rect">
            <a:avLst/>
          </a:prstGeom>
          <a:noFill/>
        </p:spPr>
        <p:txBody>
          <a:bodyPr wrap="square" anchor="t" lIns="0" rIns="0" tIns="0" bIns="0">
            <a:spAutoFit/>
          </a:bodyPr>
          <a:lstStyle/>
          <a:p>
            <a:pPr algn="l"/>
            <a:r>
              <a:rPr sz="3000" b="1" i="0">
                <a:solidFill>
                  <a:srgbClr val="222222"/>
                </a:solidFill>
                <a:latin typeface="Arial"/>
              </a:rPr>
              <a:t>DataNexa Cloud Systems SL</a:t>
            </a:r>
          </a:p>
        </p:txBody>
      </p:sp>
      <p:sp>
        <p:nvSpPr>
          <p:cNvPr id="8" name="TextBox 7"/>
          <p:cNvSpPr txBox="1"/>
          <p:nvPr/>
        </p:nvSpPr>
        <p:spPr>
          <a:xfrm>
            <a:off x="713232" y="2240280"/>
            <a:ext cx="6400800" cy="2194560"/>
          </a:xfrm>
          <a:prstGeom prst="rect">
            <a:avLst/>
          </a:prstGeom>
          <a:noFill/>
        </p:spPr>
        <p:txBody>
          <a:bodyPr wrap="square" anchor="t" lIns="0" rIns="0" tIns="0" bIns="0">
            <a:spAutoFit/>
          </a:bodyPr>
          <a:lstStyle/>
          <a:p>
            <a:pPr algn="l">
              <a:lnSpc>
                <a:spcPct val="135000"/>
              </a:lnSpc>
            </a:pPr>
            <a:r>
              <a:rPr sz="1500" b="0" i="0">
                <a:solidFill>
                  <a:srgbClr val="222222"/>
                </a:solidFill>
                <a:latin typeface="Arial"/>
              </a:rPr>
              <a:t>DataNexa Cloud Systems SL está ejecutando un plan activo de adquisición de un competidor vertical, lo que típicamente exige disponibilidad de fondos en plazos cortos y certidumbre de ejecución. La oportunidad consiste en estructurar una financiación puente para el cierre y diseñar una solución de deuda “take-out” posterior (y potencial refinanciación) alineada con el plan de integración y la capacidad de generación de caja, actualmente no documentada con detalle.</a:t>
            </a:r>
          </a:p>
        </p:txBody>
      </p:sp>
      <p:sp>
        <p:nvSpPr>
          <p:cNvPr id="9" name="TextBox 8"/>
          <p:cNvSpPr txBox="1"/>
          <p:nvPr/>
        </p:nvSpPr>
        <p:spPr>
          <a:xfrm>
            <a:off x="713232" y="5257800"/>
            <a:ext cx="6400800" cy="274320"/>
          </a:xfrm>
          <a:prstGeom prst="rect">
            <a:avLst/>
          </a:prstGeom>
          <a:noFill/>
        </p:spPr>
        <p:txBody>
          <a:bodyPr wrap="square" anchor="t" lIns="0" rIns="0" tIns="0" bIns="0">
            <a:spAutoFit/>
          </a:bodyPr>
          <a:lstStyle/>
          <a:p>
            <a:pPr algn="l"/>
            <a:r>
              <a:rPr sz="1100" b="1" i="0">
                <a:solidFill>
                  <a:srgbClr val="5A6B7B"/>
                </a:solidFill>
                <a:latin typeface="Arial"/>
              </a:rPr>
              <a:t>PRÓXIMA ACCIÓN</a:t>
            </a:r>
          </a:p>
        </p:txBody>
      </p:sp>
      <p:sp>
        <p:nvSpPr>
          <p:cNvPr id="10" name="TextBox 9"/>
          <p:cNvSpPr txBox="1"/>
          <p:nvPr/>
        </p:nvSpPr>
        <p:spPr>
          <a:xfrm>
            <a:off x="713232" y="5559552"/>
            <a:ext cx="6400800" cy="777240"/>
          </a:xfrm>
          <a:prstGeom prst="rect">
            <a:avLst/>
          </a:prstGeom>
          <a:noFill/>
        </p:spPr>
        <p:txBody>
          <a:bodyPr wrap="square" anchor="t" lIns="0" rIns="0" tIns="0" bIns="0">
            <a:spAutoFit/>
          </a:bodyPr>
          <a:lstStyle/>
          <a:p>
            <a:pPr algn="l">
              <a:lnSpc>
                <a:spcPct val="125000"/>
              </a:lnSpc>
            </a:pPr>
            <a:r>
              <a:rPr sz="1400" b="0" i="0">
                <a:solidFill>
                  <a:srgbClr val="FF6600"/>
                </a:solidFill>
                <a:latin typeface="Arial"/>
              </a:rPr>
              <a:t>Confirmar parámetros de la transacción: precio/estructura (asset vs share deal), calendario, necesidades de fondos en cierre, y usos (compra, fees, integración, circulante).</a:t>
            </a:r>
          </a:p>
        </p:txBody>
      </p:sp>
      <p:sp>
        <p:nvSpPr>
          <p:cNvPr id="11" name="Rectangle 10"/>
          <p:cNvSpPr/>
          <p:nvPr/>
        </p:nvSpPr>
        <p:spPr>
          <a:xfrm>
            <a:off x="7818120" y="1627632"/>
            <a:ext cx="3657600" cy="448056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1874519"/>
            <a:ext cx="2926080" cy="274320"/>
          </a:xfrm>
          <a:prstGeom prst="rect">
            <a:avLst/>
          </a:prstGeom>
          <a:noFill/>
        </p:spPr>
        <p:txBody>
          <a:bodyPr wrap="square" anchor="t" lIns="0" rIns="0" tIns="0" bIns="0">
            <a:spAutoFit/>
          </a:bodyPr>
          <a:lstStyle/>
          <a:p>
            <a:pPr algn="l"/>
            <a:r>
              <a:rPr sz="1100" b="1" i="0">
                <a:solidFill>
                  <a:srgbClr val="5A6B7B"/>
                </a:solidFill>
                <a:latin typeface="Arial"/>
              </a:rPr>
              <a:t>EN UNA CIFRA</a:t>
            </a:r>
          </a:p>
        </p:txBody>
      </p:sp>
      <p:sp>
        <p:nvSpPr>
          <p:cNvPr id="13" name="TextBox 12"/>
          <p:cNvSpPr txBox="1"/>
          <p:nvPr/>
        </p:nvSpPr>
        <p:spPr>
          <a:xfrm>
            <a:off x="8138160" y="2240280"/>
            <a:ext cx="2926080" cy="822960"/>
          </a:xfrm>
          <a:prstGeom prst="rect">
            <a:avLst/>
          </a:prstGeom>
          <a:noFill/>
        </p:spPr>
        <p:txBody>
          <a:bodyPr wrap="square" anchor="t" lIns="0" rIns="0" tIns="0" bIns="0">
            <a:spAutoFit/>
          </a:bodyPr>
          <a:lstStyle/>
          <a:p>
            <a:pPr algn="l">
              <a:lnSpc>
                <a:spcPct val="100000"/>
              </a:lnSpc>
            </a:pPr>
            <a:r>
              <a:rPr sz="3800" b="1" i="0">
                <a:solidFill>
                  <a:srgbClr val="FF6600"/>
                </a:solidFill>
                <a:latin typeface="Arial"/>
              </a:rPr>
              <a:t>~15,2 M€</a:t>
            </a:r>
          </a:p>
        </p:txBody>
      </p:sp>
      <p:sp>
        <p:nvSpPr>
          <p:cNvPr id="14" name="TextBox 13"/>
          <p:cNvSpPr txBox="1"/>
          <p:nvPr/>
        </p:nvSpPr>
        <p:spPr>
          <a:xfrm>
            <a:off x="8138160" y="3063240"/>
            <a:ext cx="2926080" cy="640080"/>
          </a:xfrm>
          <a:prstGeom prst="rect">
            <a:avLst/>
          </a:prstGeom>
          <a:noFill/>
        </p:spPr>
        <p:txBody>
          <a:bodyPr wrap="square" anchor="t" lIns="0" rIns="0" tIns="0" bIns="0">
            <a:spAutoFit/>
          </a:bodyPr>
          <a:lstStyle/>
          <a:p>
            <a:pPr algn="l">
              <a:lnSpc>
                <a:spcPct val="120000"/>
              </a:lnSpc>
            </a:pPr>
            <a:r>
              <a:rPr sz="1300" b="0" i="0">
                <a:solidFill>
                  <a:srgbClr val="5A6B7B"/>
                </a:solidFill>
                <a:latin typeface="Arial"/>
              </a:rPr>
              <a:t>Ingresos estimados</a:t>
            </a:r>
          </a:p>
        </p:txBody>
      </p:sp>
      <p:sp>
        <p:nvSpPr>
          <p:cNvPr id="15" name="Rectangle 14"/>
          <p:cNvSpPr/>
          <p:nvPr/>
        </p:nvSpPr>
        <p:spPr>
          <a:xfrm>
            <a:off x="8138160" y="3840480"/>
            <a:ext cx="2926080" cy="127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4005072"/>
            <a:ext cx="2926080" cy="228600"/>
          </a:xfrm>
          <a:prstGeom prst="rect">
            <a:avLst/>
          </a:prstGeom>
          <a:noFill/>
        </p:spPr>
        <p:txBody>
          <a:bodyPr wrap="square" anchor="t" lIns="0" rIns="0" tIns="0" bIns="0">
            <a:spAutoFit/>
          </a:bodyPr>
          <a:lstStyle/>
          <a:p>
            <a:pPr algn="l"/>
            <a:r>
              <a:rPr sz="1100" b="1" i="0">
                <a:solidFill>
                  <a:srgbClr val="5A6B7B"/>
                </a:solidFill>
                <a:latin typeface="Arial"/>
              </a:rPr>
              <a:t>SECTOR</a:t>
            </a:r>
          </a:p>
        </p:txBody>
      </p:sp>
      <p:sp>
        <p:nvSpPr>
          <p:cNvPr id="17" name="TextBox 16"/>
          <p:cNvSpPr txBox="1"/>
          <p:nvPr/>
        </p:nvSpPr>
        <p:spPr>
          <a:xfrm>
            <a:off x="8138160" y="4279392"/>
            <a:ext cx="2926080" cy="365760"/>
          </a:xfrm>
          <a:prstGeom prst="rect">
            <a:avLst/>
          </a:prstGeom>
          <a:noFill/>
        </p:spPr>
        <p:txBody>
          <a:bodyPr wrap="square" anchor="t" lIns="0" rIns="0" tIns="0" bIns="0">
            <a:spAutoFit/>
          </a:bodyPr>
          <a:lstStyle/>
          <a:p>
            <a:pPr algn="l"/>
            <a:r>
              <a:rPr sz="1600" b="1" i="0">
                <a:solidFill>
                  <a:srgbClr val="222222"/>
                </a:solidFill>
                <a:latin typeface="Arial"/>
              </a:rPr>
              <a:t>Tecnologia</a:t>
            </a:r>
          </a:p>
        </p:txBody>
      </p:sp>
      <p:sp>
        <p:nvSpPr>
          <p:cNvPr id="18" name="TextBox 17"/>
          <p:cNvSpPr txBox="1"/>
          <p:nvPr/>
        </p:nvSpPr>
        <p:spPr>
          <a:xfrm>
            <a:off x="8138160" y="4828032"/>
            <a:ext cx="2926080" cy="228600"/>
          </a:xfrm>
          <a:prstGeom prst="rect">
            <a:avLst/>
          </a:prstGeom>
          <a:noFill/>
        </p:spPr>
        <p:txBody>
          <a:bodyPr wrap="square" anchor="t" lIns="0" rIns="0" tIns="0" bIns="0">
            <a:spAutoFit/>
          </a:bodyPr>
          <a:lstStyle/>
          <a:p>
            <a:pPr algn="l"/>
            <a:r>
              <a:rPr sz="1100" b="1" i="0">
                <a:solidFill>
                  <a:srgbClr val="5A6B7B"/>
                </a:solidFill>
                <a:latin typeface="Arial"/>
              </a:rPr>
              <a:t>PRIORIDAD</a:t>
            </a:r>
          </a:p>
        </p:txBody>
      </p:sp>
      <p:sp>
        <p:nvSpPr>
          <p:cNvPr id="19" name="TextBox 18"/>
          <p:cNvSpPr txBox="1"/>
          <p:nvPr/>
        </p:nvSpPr>
        <p:spPr>
          <a:xfrm>
            <a:off x="8138160" y="5102352"/>
            <a:ext cx="2926080" cy="320040"/>
          </a:xfrm>
          <a:prstGeom prst="rect">
            <a:avLst/>
          </a:prstGeom>
          <a:noFill/>
        </p:spPr>
        <p:txBody>
          <a:bodyPr wrap="square" anchor="t" lIns="0" rIns="0" tIns="0" bIns="0">
            <a:spAutoFit/>
          </a:bodyPr>
          <a:lstStyle/>
          <a:p>
            <a:pPr algn="l"/>
            <a:r>
              <a:rPr sz="1400" b="1" i="0">
                <a:solidFill>
                  <a:srgbClr val="FF6600"/>
                </a:solidFill>
                <a:latin typeface="Arial"/>
              </a:rPr>
              <a:t>ALTA</a:t>
            </a:r>
          </a:p>
        </p:txBody>
      </p:sp>
      <p:sp>
        <p:nvSpPr>
          <p:cNvPr id="20" name="TextBox 19"/>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CONTEXTO FINANCIERO</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Lo que dicen los números</a:t>
            </a:r>
          </a:p>
        </p:txBody>
      </p:sp>
      <p:sp>
        <p:nvSpPr>
          <p:cNvPr id="8" name="Rectangle 7"/>
          <p:cNvSpPr/>
          <p:nvPr/>
        </p:nvSpPr>
        <p:spPr>
          <a:xfrm>
            <a:off x="640080" y="2240280"/>
            <a:ext cx="3520440" cy="210312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487168"/>
            <a:ext cx="3008376" cy="685800"/>
          </a:xfrm>
          <a:prstGeom prst="rect">
            <a:avLst/>
          </a:prstGeom>
          <a:noFill/>
        </p:spPr>
        <p:txBody>
          <a:bodyPr wrap="square" anchor="t" lIns="0" rIns="0" tIns="0" bIns="0">
            <a:spAutoFit/>
          </a:bodyPr>
          <a:lstStyle/>
          <a:p>
            <a:pPr algn="l">
              <a:lnSpc>
                <a:spcPct val="100000"/>
              </a:lnSpc>
            </a:pPr>
            <a:r>
              <a:rPr sz="3200" b="1" i="0">
                <a:solidFill>
                  <a:srgbClr val="FF6600"/>
                </a:solidFill>
                <a:latin typeface="Arial"/>
              </a:rPr>
              <a:t>~15,2 M€</a:t>
            </a:r>
          </a:p>
        </p:txBody>
      </p:sp>
      <p:sp>
        <p:nvSpPr>
          <p:cNvPr id="10" name="TextBox 9"/>
          <p:cNvSpPr txBox="1"/>
          <p:nvPr/>
        </p:nvSpPr>
        <p:spPr>
          <a:xfrm>
            <a:off x="896112" y="3611880"/>
            <a:ext cx="3008376" cy="548640"/>
          </a:xfrm>
          <a:prstGeom prst="rect">
            <a:avLst/>
          </a:prstGeom>
          <a:noFill/>
        </p:spPr>
        <p:txBody>
          <a:bodyPr wrap="square" anchor="t" lIns="0" rIns="0" tIns="0" bIns="0">
            <a:spAutoFit/>
          </a:bodyPr>
          <a:lstStyle/>
          <a:p>
            <a:pPr algn="l">
              <a:lnSpc>
                <a:spcPct val="115000"/>
              </a:lnSpc>
            </a:pPr>
            <a:r>
              <a:rPr sz="1300" b="0" i="0">
                <a:solidFill>
                  <a:srgbClr val="5A6B7B"/>
                </a:solidFill>
                <a:latin typeface="Arial"/>
              </a:rPr>
              <a:t>Ingresos estimados</a:t>
            </a:r>
          </a:p>
        </p:txBody>
      </p:sp>
      <p:sp>
        <p:nvSpPr>
          <p:cNvPr id="11" name="TextBox 10"/>
          <p:cNvSpPr txBox="1"/>
          <p:nvPr/>
        </p:nvSpPr>
        <p:spPr>
          <a:xfrm>
            <a:off x="713232" y="4800600"/>
            <a:ext cx="5212080" cy="274320"/>
          </a:xfrm>
          <a:prstGeom prst="rect">
            <a:avLst/>
          </a:prstGeom>
          <a:noFill/>
        </p:spPr>
        <p:txBody>
          <a:bodyPr wrap="square" anchor="t" lIns="0" rIns="0" tIns="0" bIns="0">
            <a:spAutoFit/>
          </a:bodyPr>
          <a:lstStyle/>
          <a:p>
            <a:pPr algn="l"/>
            <a:r>
              <a:rPr sz="1100" b="1" i="0">
                <a:solidFill>
                  <a:srgbClr val="5A6B7B"/>
                </a:solidFill>
                <a:latin typeface="Arial"/>
              </a:rPr>
              <a:t>TENDENCIAS ESTRUCTURALES</a:t>
            </a:r>
          </a:p>
        </p:txBody>
      </p:sp>
      <p:sp>
        <p:nvSpPr>
          <p:cNvPr id="12" name="TextBox 11"/>
          <p:cNvSpPr txBox="1"/>
          <p:nvPr/>
        </p:nvSpPr>
        <p:spPr>
          <a:xfrm>
            <a:off x="713232" y="5102352"/>
            <a:ext cx="5212080" cy="1234440"/>
          </a:xfrm>
          <a:prstGeom prst="rect">
            <a:avLst/>
          </a:prstGeom>
          <a:noFill/>
        </p:spPr>
        <p:txBody>
          <a:bodyPr wrap="square" lIns="0" rIns="0" tIns="0" bIns="0">
            <a:spAutoFit/>
          </a:bodyPr>
          <a:lstStyle/>
          <a:p>
            <a:pPr>
              <a:lnSpc>
                <a:spcPct val="115000"/>
              </a:lnSpc>
              <a:spcAft>
                <a:spcPts val="800"/>
              </a:spcAft>
            </a:pPr>
            <a:r>
              <a:rPr sz="1300">
                <a:solidFill>
                  <a:srgbClr val="222222"/>
                </a:solidFill>
                <a:latin typeface="Arial"/>
              </a:rPr>
              <a:t>• Visibilidad limitada de métricas financieras históricas (sin desglose por ejercicios).</a:t>
            </a:r>
          </a:p>
          <a:p>
            <a:pPr>
              <a:lnSpc>
                <a:spcPct val="115000"/>
              </a:lnSpc>
              <a:spcAft>
                <a:spcPts val="800"/>
              </a:spcAft>
            </a:pPr>
            <a:r>
              <a:rPr sz="1300">
                <a:solidFill>
                  <a:srgbClr val="222222"/>
                </a:solidFill>
                <a:latin typeface="Arial"/>
              </a:rPr>
              <a:t>• Estrategia de crecimiento inorgánico mediante adquisición de un competidor vertical.</a:t>
            </a:r>
          </a:p>
          <a:p>
            <a:pPr>
              <a:lnSpc>
                <a:spcPct val="115000"/>
              </a:lnSpc>
              <a:spcAft>
                <a:spcPts val="800"/>
              </a:spcAft>
            </a:pPr>
            <a:r>
              <a:rPr sz="1300">
                <a:solidFill>
                  <a:srgbClr val="222222"/>
                </a:solidFill>
                <a:latin typeface="Arial"/>
              </a:rPr>
              <a:t>• Falta de información sobre rentabilidad (margen operativo/EBITDA) y CAPEX, lo que impide evaluar eficiencia e intensidad inversora.</a:t>
            </a:r>
          </a:p>
          <a:p>
            <a:pPr>
              <a:lnSpc>
                <a:spcPct val="115000"/>
              </a:lnSpc>
              <a:spcAft>
                <a:spcPts val="800"/>
              </a:spcAft>
            </a:pPr>
            <a:r>
              <a:rPr sz="1300">
                <a:solidFill>
                  <a:srgbClr val="222222"/>
                </a:solidFill>
                <a:latin typeface="Arial"/>
              </a:rPr>
              <a:t>• Sin datos de deuda ni caja, por lo que no puede inferirse capacidad de apalancamiento ni holgura financiera.</a:t>
            </a:r>
          </a:p>
        </p:txBody>
      </p:sp>
      <p:sp>
        <p:nvSpPr>
          <p:cNvPr id="13" name="Rectangle 12"/>
          <p:cNvSpPr/>
          <p:nvPr/>
        </p:nvSpPr>
        <p:spPr>
          <a:xfrm>
            <a:off x="6263640" y="4800600"/>
            <a:ext cx="5212080" cy="164592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4983480"/>
            <a:ext cx="4663440" cy="228600"/>
          </a:xfrm>
          <a:prstGeom prst="rect">
            <a:avLst/>
          </a:prstGeom>
          <a:noFill/>
        </p:spPr>
        <p:txBody>
          <a:bodyPr wrap="square" anchor="t" lIns="0" rIns="0" tIns="0" bIns="0">
            <a:spAutoFit/>
          </a:bodyPr>
          <a:lstStyle/>
          <a:p>
            <a:pPr algn="l"/>
            <a:r>
              <a:rPr sz="1100" b="1" i="0">
                <a:solidFill>
                  <a:srgbClr val="FF6600"/>
                </a:solidFill>
                <a:latin typeface="Arial"/>
              </a:rPr>
              <a:t>INTERPRETACIÓN</a:t>
            </a:r>
          </a:p>
        </p:txBody>
      </p:sp>
      <p:sp>
        <p:nvSpPr>
          <p:cNvPr id="15" name="TextBox 14"/>
          <p:cNvSpPr txBox="1"/>
          <p:nvPr/>
        </p:nvSpPr>
        <p:spPr>
          <a:xfrm>
            <a:off x="6537960" y="5285232"/>
            <a:ext cx="4663440" cy="914400"/>
          </a:xfrm>
          <a:prstGeom prst="rect">
            <a:avLst/>
          </a:prstGeom>
          <a:noFill/>
        </p:spPr>
        <p:txBody>
          <a:bodyPr wrap="square" anchor="t" lIns="0" rIns="0" tIns="0" bIns="0">
            <a:spAutoFit/>
          </a:bodyPr>
          <a:lstStyle/>
          <a:p>
            <a:pPr algn="l">
              <a:lnSpc>
                <a:spcPct val="125000"/>
              </a:lnSpc>
            </a:pPr>
            <a:r>
              <a:rPr sz="1300" b="0" i="0">
                <a:solidFill>
                  <a:srgbClr val="222222"/>
                </a:solidFill>
                <a:latin typeface="Arial"/>
              </a:rPr>
              <a:t>Con la información disponible solo puede afirmarse un nivel de ingresos estimado, sin poder evaluar crecimiento, rentabilidad ni generación de caja. El plan activo de adquisición sugiere probables necesidades de liquidez a corto plazo (financiación puente) y posterior estructuración de financiación para cierre e integración. La viabilidad y el coste de esa financiación dependerán de la capacidad de generación de caja y del apalancamiento actual, que no están disponibles.</a:t>
            </a:r>
          </a:p>
        </p:txBody>
      </p:sp>
      <p:sp>
        <p:nvSpPr>
          <p:cNvPr id="16" name="TextBox 15"/>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BRIEFING DE CLIENTE</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Perfil y situación actual</a:t>
            </a:r>
          </a:p>
        </p:txBody>
      </p:sp>
      <p:sp>
        <p:nvSpPr>
          <p:cNvPr id="8" name="TextBox 7"/>
          <p:cNvSpPr txBox="1"/>
          <p:nvPr/>
        </p:nvSpPr>
        <p:spPr>
          <a:xfrm>
            <a:off x="713232" y="2148840"/>
            <a:ext cx="10762488" cy="822960"/>
          </a:xfrm>
          <a:prstGeom prst="rect">
            <a:avLst/>
          </a:prstGeom>
          <a:noFill/>
        </p:spPr>
        <p:txBody>
          <a:bodyPr wrap="square" anchor="t" lIns="0" rIns="0" tIns="0" bIns="0">
            <a:spAutoFit/>
          </a:bodyPr>
          <a:lstStyle/>
          <a:p>
            <a:pPr algn="l">
              <a:lnSpc>
                <a:spcPct val="130000"/>
              </a:lnSpc>
            </a:pPr>
            <a:r>
              <a:rPr sz="1400" b="0" i="0">
                <a:solidFill>
                  <a:srgbClr val="222222"/>
                </a:solidFill>
                <a:latin typeface="Arial"/>
              </a:rPr>
              <a:t>DataNexa Cloud Systems SL es una compañía de sistemas cloud con ingresos estimados de ~15,2 M€. La empresa está ejecutando una estrategia de crecimiento inorgánico mediante la adquisición de un competidor vertical.</a:t>
            </a:r>
          </a:p>
        </p:txBody>
      </p:sp>
      <p:sp>
        <p:nvSpPr>
          <p:cNvPr id="9" name="TextBox 8"/>
          <p:cNvSpPr txBox="1"/>
          <p:nvPr/>
        </p:nvSpPr>
        <p:spPr>
          <a:xfrm>
            <a:off x="713232" y="2834640"/>
            <a:ext cx="10762488" cy="731520"/>
          </a:xfrm>
          <a:prstGeom prst="rect">
            <a:avLst/>
          </a:prstGeom>
          <a:noFill/>
        </p:spPr>
        <p:txBody>
          <a:bodyPr wrap="square" anchor="t" lIns="0" rIns="0" tIns="0" bIns="0">
            <a:spAutoFit/>
          </a:bodyPr>
          <a:lstStyle/>
          <a:p>
            <a:pPr algn="l">
              <a:lnSpc>
                <a:spcPct val="130000"/>
              </a:lnSpc>
            </a:pPr>
            <a:r>
              <a:rPr sz="1400" b="0" i="0">
                <a:solidFill>
                  <a:srgbClr val="5A6B7B"/>
                </a:solidFill>
                <a:latin typeface="Arial"/>
              </a:rPr>
              <a:t>Existe un plan activo de adquisición, lo que normalmente implica necesidades de liquidez de corto plazo para el cierre y recursos adicionales para la integración posterior. La visibilidad financiera es limitada: no se dispone de desglose histórico de ingresos, ni de EBITDA/margen operativo, CAPEX, deuda o caja, por lo que no puede evaluarse con precisión la capacidad de apalancamiento ni la generación de caja.</a:t>
            </a:r>
          </a:p>
        </p:txBody>
      </p:sp>
      <p:sp>
        <p:nvSpPr>
          <p:cNvPr id="10" name="Rectangle 9"/>
          <p:cNvSpPr/>
          <p:nvPr/>
        </p:nvSpPr>
        <p:spPr>
          <a:xfrm>
            <a:off x="640080" y="3703320"/>
            <a:ext cx="5349240" cy="269748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77639"/>
            <a:ext cx="4480560" cy="274320"/>
          </a:xfrm>
          <a:prstGeom prst="rect">
            <a:avLst/>
          </a:prstGeom>
          <a:noFill/>
        </p:spPr>
        <p:txBody>
          <a:bodyPr wrap="square" anchor="t" lIns="0" rIns="0" tIns="0" bIns="0">
            <a:spAutoFit/>
          </a:bodyPr>
          <a:lstStyle/>
          <a:p>
            <a:pPr algn="l"/>
            <a:r>
              <a:rPr sz="1200" b="1" i="0">
                <a:solidFill>
                  <a:srgbClr val="FF6600"/>
                </a:solidFill>
                <a:latin typeface="Arial"/>
              </a:rPr>
              <a:t>NECESIDADES POTENCIALES</a:t>
            </a:r>
          </a:p>
        </p:txBody>
      </p:sp>
      <p:sp>
        <p:nvSpPr>
          <p:cNvPr id="12" name="TextBox 11"/>
          <p:cNvSpPr txBox="1"/>
          <p:nvPr/>
        </p:nvSpPr>
        <p:spPr>
          <a:xfrm>
            <a:off x="914400" y="4407408"/>
            <a:ext cx="4754880" cy="1737360"/>
          </a:xfrm>
          <a:prstGeom prst="rect">
            <a:avLst/>
          </a:prstGeom>
          <a:noFill/>
        </p:spPr>
        <p:txBody>
          <a:bodyPr wrap="square" lIns="0" rIns="0" tIns="0" bIns="0">
            <a:spAutoFit/>
          </a:bodyPr>
          <a:lstStyle/>
          <a:p>
            <a:pPr>
              <a:lnSpc>
                <a:spcPct val="115000"/>
              </a:lnSpc>
              <a:spcAft>
                <a:spcPts val="1000"/>
              </a:spcAft>
            </a:pPr>
            <a:r>
              <a:rPr sz="1300">
                <a:solidFill>
                  <a:srgbClr val="222222"/>
                </a:solidFill>
                <a:latin typeface="Arial"/>
              </a:rPr>
              <a:t>• Financiación puente para ejecutar el cierre de la adquisición en plazos cortos.</a:t>
            </a:r>
          </a:p>
          <a:p>
            <a:pPr>
              <a:lnSpc>
                <a:spcPct val="115000"/>
              </a:lnSpc>
              <a:spcAft>
                <a:spcPts val="1000"/>
              </a:spcAft>
            </a:pPr>
            <a:r>
              <a:rPr sz="1300">
                <a:solidFill>
                  <a:srgbClr val="222222"/>
                </a:solidFill>
                <a:latin typeface="Arial"/>
              </a:rPr>
              <a:t>• Estructuración de deuda (y potencial refinanciación posterior) para financiar compra e integración, sujeta a métricas de caja/apalancamiento a confirmar.</a:t>
            </a:r>
          </a:p>
          <a:p>
            <a:pPr>
              <a:lnSpc>
                <a:spcPct val="115000"/>
              </a:lnSpc>
              <a:spcAft>
                <a:spcPts val="1000"/>
              </a:spcAft>
            </a:pPr>
            <a:r>
              <a:rPr sz="1300">
                <a:solidFill>
                  <a:srgbClr val="222222"/>
                </a:solidFill>
                <a:latin typeface="Arial"/>
              </a:rPr>
              <a:t>• Asesoramiento en estructuración de la operación (calendario de desembolsos, covenants, amortización) alineado con el plan de integración.</a:t>
            </a:r>
          </a:p>
        </p:txBody>
      </p:sp>
      <p:sp>
        <p:nvSpPr>
          <p:cNvPr id="13" name="Rectangle 12"/>
          <p:cNvSpPr/>
          <p:nvPr/>
        </p:nvSpPr>
        <p:spPr>
          <a:xfrm>
            <a:off x="6217920" y="3703320"/>
            <a:ext cx="5349240" cy="269748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3977639"/>
            <a:ext cx="4480560" cy="274320"/>
          </a:xfrm>
          <a:prstGeom prst="rect">
            <a:avLst/>
          </a:prstGeom>
          <a:noFill/>
        </p:spPr>
        <p:txBody>
          <a:bodyPr wrap="square" anchor="t" lIns="0" rIns="0" tIns="0" bIns="0">
            <a:spAutoFit/>
          </a:bodyPr>
          <a:lstStyle/>
          <a:p>
            <a:pPr algn="l"/>
            <a:r>
              <a:rPr sz="1200" b="1" i="0">
                <a:solidFill>
                  <a:srgbClr val="FF6600"/>
                </a:solidFill>
                <a:latin typeface="Arial"/>
              </a:rPr>
              <a:t>RIESGOS Y PUNTOS DE ATENCIÓN</a:t>
            </a:r>
          </a:p>
        </p:txBody>
      </p:sp>
      <p:sp>
        <p:nvSpPr>
          <p:cNvPr id="15" name="TextBox 14"/>
          <p:cNvSpPr txBox="1"/>
          <p:nvPr/>
        </p:nvSpPr>
        <p:spPr>
          <a:xfrm>
            <a:off x="6492240" y="4407408"/>
            <a:ext cx="4754880" cy="1737360"/>
          </a:xfrm>
          <a:prstGeom prst="rect">
            <a:avLst/>
          </a:prstGeom>
          <a:noFill/>
        </p:spPr>
        <p:txBody>
          <a:bodyPr wrap="square" lIns="0" rIns="0" tIns="0" bIns="0">
            <a:spAutoFit/>
          </a:bodyPr>
          <a:lstStyle/>
          <a:p>
            <a:pPr>
              <a:lnSpc>
                <a:spcPct val="115000"/>
              </a:lnSpc>
              <a:spcAft>
                <a:spcPts val="1000"/>
              </a:spcAft>
            </a:pPr>
            <a:r>
              <a:rPr sz="1300">
                <a:solidFill>
                  <a:srgbClr val="222222"/>
                </a:solidFill>
                <a:latin typeface="Arial"/>
              </a:rPr>
              <a:t>• Riesgo de información insuficiente: ausencia de datos de EBITDA, CAPEX, deuda y caja limita la evaluación de solvencia y capacidad de repago.</a:t>
            </a:r>
          </a:p>
          <a:p>
            <a:pPr>
              <a:lnSpc>
                <a:spcPct val="115000"/>
              </a:lnSpc>
              <a:spcAft>
                <a:spcPts val="1000"/>
              </a:spcAft>
            </a:pPr>
            <a:r>
              <a:rPr sz="1300">
                <a:solidFill>
                  <a:srgbClr val="222222"/>
                </a:solidFill>
                <a:latin typeface="Arial"/>
              </a:rPr>
              <a:t>• Riesgo de integración post-adquisición (sin datos disponibles sobre sinergias, costes de integración o impacto en márgenes).</a:t>
            </a:r>
          </a:p>
          <a:p>
            <a:pPr>
              <a:lnSpc>
                <a:spcPct val="115000"/>
              </a:lnSpc>
              <a:spcAft>
                <a:spcPts val="1000"/>
              </a:spcAft>
            </a:pPr>
            <a:r>
              <a:rPr sz="1300">
                <a:solidFill>
                  <a:srgbClr val="222222"/>
                </a:solidFill>
                <a:latin typeface="Arial"/>
              </a:rPr>
              <a:t>• Riesgo de apalancamiento: sin conocer la posición financiera actual, la financiación podría tensionar covenants o la liquidez.</a:t>
            </a:r>
          </a:p>
        </p:txBody>
      </p:sp>
      <p:sp>
        <p:nvSpPr>
          <p:cNvPr id="16" name="TextBox 15"/>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ENCAJE Y COMPARABLES</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Cómo podemos ayudar</a:t>
            </a:r>
          </a:p>
        </p:txBody>
      </p:sp>
      <p:sp>
        <p:nvSpPr>
          <p:cNvPr id="8" name="Rectangle 7"/>
          <p:cNvSpPr/>
          <p:nvPr/>
        </p:nvSpPr>
        <p:spPr>
          <a:xfrm>
            <a:off x="640080" y="2194560"/>
            <a:ext cx="6400800" cy="288036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50592"/>
            <a:ext cx="5852160" cy="228600"/>
          </a:xfrm>
          <a:prstGeom prst="rect">
            <a:avLst/>
          </a:prstGeom>
          <a:noFill/>
        </p:spPr>
        <p:txBody>
          <a:bodyPr wrap="square" anchor="t" lIns="0" rIns="0" tIns="0" bIns="0">
            <a:spAutoFit/>
          </a:bodyPr>
          <a:lstStyle/>
          <a:p>
            <a:pPr algn="l"/>
            <a:r>
              <a:rPr sz="1100" b="1" i="0">
                <a:solidFill>
                  <a:srgbClr val="FF6600"/>
                </a:solidFill>
                <a:latin typeface="Arial"/>
              </a:rPr>
              <a:t>ENCAJE CON PRODUCTOS DEL BANCO</a:t>
            </a:r>
          </a:p>
        </p:txBody>
      </p:sp>
      <p:sp>
        <p:nvSpPr>
          <p:cNvPr id="10" name="TextBox 9"/>
          <p:cNvSpPr txBox="1"/>
          <p:nvPr/>
        </p:nvSpPr>
        <p:spPr>
          <a:xfrm>
            <a:off x="914400" y="2816352"/>
            <a:ext cx="5669280" cy="1920240"/>
          </a:xfrm>
          <a:prstGeom prst="rect">
            <a:avLst/>
          </a:prstGeom>
          <a:noFill/>
        </p:spPr>
        <p:txBody>
          <a:bodyPr wrap="square" lIns="0" rIns="0" tIns="0" bIns="0">
            <a:spAutoFit/>
          </a:bodyPr>
          <a:lstStyle/>
          <a:p>
            <a:pPr>
              <a:lnSpc>
                <a:spcPct val="115000"/>
              </a:lnSpc>
              <a:spcAft>
                <a:spcPts val="1000"/>
              </a:spcAft>
            </a:pPr>
            <a:r>
              <a:rPr sz="1350">
                <a:solidFill>
                  <a:srgbClr val="222222"/>
                </a:solidFill>
                <a:latin typeface="Arial"/>
              </a:rPr>
              <a:t>• Financiación puente para adquisición (préstamo puente / línea puente) con calendario de desembolsos y condiciones sujetas a due diligence financiera.</a:t>
            </a:r>
          </a:p>
          <a:p>
            <a:pPr>
              <a:lnSpc>
                <a:spcPct val="115000"/>
              </a:lnSpc>
              <a:spcAft>
                <a:spcPts val="1000"/>
              </a:spcAft>
            </a:pPr>
            <a:r>
              <a:rPr sz="1350">
                <a:solidFill>
                  <a:srgbClr val="222222"/>
                </a:solidFill>
                <a:latin typeface="Arial"/>
              </a:rPr>
              <a:t>• Estructuración de deuda de medio plazo (tramo a plazo + línea revolving para circulante) y potencial refinanciación post-cierre para optimizar coste, covenants y perfil de amortización.</a:t>
            </a:r>
          </a:p>
        </p:txBody>
      </p:sp>
      <p:sp>
        <p:nvSpPr>
          <p:cNvPr id="11" name="Rectangle 10"/>
          <p:cNvSpPr/>
          <p:nvPr/>
        </p:nvSpPr>
        <p:spPr>
          <a:xfrm>
            <a:off x="7406640" y="2194560"/>
            <a:ext cx="4160520" cy="320040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9248" y="2450592"/>
            <a:ext cx="3566160" cy="228600"/>
          </a:xfrm>
          <a:prstGeom prst="rect">
            <a:avLst/>
          </a:prstGeom>
          <a:noFill/>
        </p:spPr>
        <p:txBody>
          <a:bodyPr wrap="square" anchor="t" lIns="0" rIns="0" tIns="0" bIns="0">
            <a:spAutoFit/>
          </a:bodyPr>
          <a:lstStyle/>
          <a:p>
            <a:pPr algn="l"/>
            <a:r>
              <a:rPr sz="1100" b="1" i="0">
                <a:solidFill>
                  <a:srgbClr val="FF6600"/>
                </a:solidFill>
                <a:latin typeface="Arial"/>
              </a:rPr>
              <a:t>COMPARABLES SECTORIALES</a:t>
            </a:r>
          </a:p>
        </p:txBody>
      </p:sp>
      <p:sp>
        <p:nvSpPr>
          <p:cNvPr id="13" name="TextBox 12"/>
          <p:cNvSpPr txBox="1"/>
          <p:nvPr/>
        </p:nvSpPr>
        <p:spPr>
          <a:xfrm>
            <a:off x="7699248" y="2971800"/>
            <a:ext cx="3566160" cy="1371600"/>
          </a:xfrm>
          <a:prstGeom prst="rect">
            <a:avLst/>
          </a:prstGeom>
          <a:noFill/>
        </p:spPr>
        <p:txBody>
          <a:bodyPr wrap="square" anchor="t" lIns="0" rIns="0" tIns="0" bIns="0">
            <a:spAutoFit/>
          </a:bodyPr>
          <a:lstStyle/>
          <a:p>
            <a:pPr algn="l">
              <a:lnSpc>
                <a:spcPct val="130000"/>
              </a:lnSpc>
            </a:pPr>
            <a:r>
              <a:rPr sz="1250" b="0" i="0">
                <a:solidFill>
                  <a:srgbClr val="222222"/>
                </a:solidFill>
                <a:latin typeface="Arial"/>
              </a:rPr>
              <a:t>Proveedores de software y servicios cloud B2B de tamaño medio (Europa) con estrategia de consolidación vertical [UNSOURCED]</a:t>
            </a:r>
          </a:p>
        </p:txBody>
      </p:sp>
      <p:sp>
        <p:nvSpPr>
          <p:cNvPr id="14" name="TextBox 13"/>
          <p:cNvSpPr txBox="1"/>
          <p:nvPr/>
        </p:nvSpPr>
        <p:spPr>
          <a:xfrm>
            <a:off x="7699248" y="4251960"/>
            <a:ext cx="3566160" cy="1371600"/>
          </a:xfrm>
          <a:prstGeom prst="rect">
            <a:avLst/>
          </a:prstGeom>
          <a:noFill/>
        </p:spPr>
        <p:txBody>
          <a:bodyPr wrap="square" anchor="t" lIns="0" rIns="0" tIns="0" bIns="0">
            <a:spAutoFit/>
          </a:bodyPr>
          <a:lstStyle/>
          <a:p>
            <a:pPr algn="l">
              <a:lnSpc>
                <a:spcPct val="130000"/>
              </a:lnSpc>
            </a:pPr>
            <a:r>
              <a:rPr sz="1250" b="0" i="0">
                <a:solidFill>
                  <a:srgbClr val="222222"/>
                </a:solidFill>
                <a:latin typeface="Arial"/>
              </a:rPr>
              <a:t>Integradores/managed service providers (MSP) con ingresos 10–50 M€ y foco en soluciones cloud y ciberseguridad [UNSOURCED]</a:t>
            </a:r>
          </a:p>
        </p:txBody>
      </p:sp>
      <p:sp>
        <p:nvSpPr>
          <p:cNvPr id="15" name="TextBox 14"/>
          <p:cNvSpPr txBox="1"/>
          <p:nvPr/>
        </p:nvSpPr>
        <p:spPr>
          <a:xfrm>
            <a:off x="713232" y="5532120"/>
            <a:ext cx="10762488" cy="228600"/>
          </a:xfrm>
          <a:prstGeom prst="rect">
            <a:avLst/>
          </a:prstGeom>
          <a:noFill/>
        </p:spPr>
        <p:txBody>
          <a:bodyPr wrap="square" anchor="t" lIns="0" rIns="0" tIns="0" bIns="0">
            <a:spAutoFit/>
          </a:bodyPr>
          <a:lstStyle/>
          <a:p>
            <a:pPr algn="l"/>
            <a:r>
              <a:rPr sz="1100" b="1" i="0">
                <a:solidFill>
                  <a:srgbClr val="5A6B7B"/>
                </a:solidFill>
                <a:latin typeface="Arial"/>
              </a:rPr>
              <a:t>ARGUMENTOS DE VALOR</a:t>
            </a:r>
          </a:p>
        </p:txBody>
      </p:sp>
      <p:sp>
        <p:nvSpPr>
          <p:cNvPr id="16" name="Rectangle 15"/>
          <p:cNvSpPr/>
          <p:nvPr/>
        </p:nvSpPr>
        <p:spPr>
          <a:xfrm>
            <a:off x="64008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Certidumbre de ejecución: capacidad de estructurar una solución puente que asegure fondos en el cierre y reduzca riesgo de ruptura por calendario.</a:t>
            </a:r>
          </a:p>
        </p:txBody>
      </p:sp>
      <p:sp>
        <p:nvSpPr>
          <p:cNvPr id="18" name="Rectangle 17"/>
          <p:cNvSpPr/>
          <p:nvPr/>
        </p:nvSpPr>
        <p:spPr>
          <a:xfrm>
            <a:off x="443484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3600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Estructura a medida para integración: diseño de covenants, periodos de carencia y flexibilidad de amortización para absorber costes de integración y variabilidad de caja post-adquisición.</a:t>
            </a:r>
          </a:p>
        </p:txBody>
      </p:sp>
      <p:sp>
        <p:nvSpPr>
          <p:cNvPr id="20" name="Rectangle 19"/>
          <p:cNvSpPr/>
          <p:nvPr/>
        </p:nvSpPr>
        <p:spPr>
          <a:xfrm>
            <a:off x="822960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Ruta clara de salida (take-out): planificación desde el día 1 de la financiación definitiva (deuda a plazo / revolving / refinanciación) en función de métricas verificadas y plan de sinergias.</a:t>
            </a:r>
          </a:p>
        </p:txBody>
      </p:sp>
      <p:sp>
        <p:nvSpPr>
          <p:cNvPr id="22" name="TextBox 21"/>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417320"/>
            <a:ext cx="10762488" cy="640080"/>
          </a:xfrm>
          <a:prstGeom prst="rect">
            <a:avLst/>
          </a:prstGeom>
          <a:noFill/>
        </p:spPr>
        <p:txBody>
          <a:bodyPr wrap="square" anchor="t" lIns="0" rIns="0" tIns="0" bIns="0">
            <a:spAutoFit/>
          </a:bodyPr>
          <a:lstStyle/>
          <a:p>
            <a:pPr algn="l"/>
            <a:r>
              <a:rPr sz="3400" b="1" i="0">
                <a:solidFill>
                  <a:srgbClr val="FF6600"/>
                </a:solidFill>
                <a:latin typeface="Arial"/>
              </a:rPr>
              <a:t>Next steps</a:t>
            </a:r>
          </a:p>
        </p:txBody>
      </p:sp>
      <p:sp>
        <p:nvSpPr>
          <p:cNvPr id="6" name="TextBox 5"/>
          <p:cNvSpPr txBox="1"/>
          <p:nvPr/>
        </p:nvSpPr>
        <p:spPr>
          <a:xfrm>
            <a:off x="713232" y="1993392"/>
            <a:ext cx="9784080" cy="640080"/>
          </a:xfrm>
          <a:prstGeom prst="rect">
            <a:avLst/>
          </a:prstGeom>
          <a:noFill/>
        </p:spPr>
        <p:txBody>
          <a:bodyPr wrap="square" anchor="t" lIns="0" rIns="0" tIns="0" bIns="0">
            <a:spAutoFit/>
          </a:bodyPr>
          <a:lstStyle/>
          <a:p>
            <a:pPr algn="l">
              <a:lnSpc>
                <a:spcPct val="130000"/>
              </a:lnSpc>
            </a:pPr>
            <a:r>
              <a:rPr sz="1500" b="0" i="0">
                <a:solidFill>
                  <a:srgbClr val="5A6B7B"/>
                </a:solidFill>
                <a:latin typeface="Arial"/>
              </a:rPr>
              <a:t>El equipo comercial revisa, ajusta y personaliza esta propuesta antes de cualquier interacción con el cliente.</a:t>
            </a:r>
          </a:p>
        </p:txBody>
      </p:sp>
      <p:sp>
        <p:nvSpPr>
          <p:cNvPr id="7" name="TextBox 6"/>
          <p:cNvSpPr txBox="1"/>
          <p:nvPr/>
        </p:nvSpPr>
        <p:spPr>
          <a:xfrm>
            <a:off x="713232" y="2743200"/>
            <a:ext cx="274320" cy="274320"/>
          </a:xfrm>
          <a:prstGeom prst="rect">
            <a:avLst/>
          </a:prstGeom>
          <a:noFill/>
        </p:spPr>
        <p:txBody>
          <a:bodyPr wrap="square" anchor="t" lIns="0" rIns="0" tIns="0" bIns="0">
            <a:spAutoFit/>
          </a:bodyPr>
          <a:lstStyle/>
          <a:p>
            <a:pPr algn="l"/>
            <a:r>
              <a:rPr sz="1700" b="1" i="0">
                <a:solidFill>
                  <a:srgbClr val="FF6600"/>
                </a:solidFill>
                <a:latin typeface="Arial"/>
              </a:rPr>
              <a:t>1.</a:t>
            </a:r>
          </a:p>
        </p:txBody>
      </p:sp>
      <p:sp>
        <p:nvSpPr>
          <p:cNvPr id="8" name="TextBox 7"/>
          <p:cNvSpPr txBox="1"/>
          <p:nvPr/>
        </p:nvSpPr>
        <p:spPr>
          <a:xfrm>
            <a:off x="1060704" y="2743200"/>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Confirmar parámetros de la transacción: precio/estructura (asset vs share deal), calendario, necesidades de fondos en cierre, y usos (compra, fees, integración, circulante).</a:t>
            </a:r>
          </a:p>
        </p:txBody>
      </p:sp>
      <p:sp>
        <p:nvSpPr>
          <p:cNvPr id="9" name="TextBox 8"/>
          <p:cNvSpPr txBox="1"/>
          <p:nvPr/>
        </p:nvSpPr>
        <p:spPr>
          <a:xfrm>
            <a:off x="713232" y="3584448"/>
            <a:ext cx="274320" cy="274320"/>
          </a:xfrm>
          <a:prstGeom prst="rect">
            <a:avLst/>
          </a:prstGeom>
          <a:noFill/>
        </p:spPr>
        <p:txBody>
          <a:bodyPr wrap="square" anchor="t" lIns="0" rIns="0" tIns="0" bIns="0">
            <a:spAutoFit/>
          </a:bodyPr>
          <a:lstStyle/>
          <a:p>
            <a:pPr algn="l"/>
            <a:r>
              <a:rPr sz="1700" b="1" i="0">
                <a:solidFill>
                  <a:srgbClr val="FF6600"/>
                </a:solidFill>
                <a:latin typeface="Arial"/>
              </a:rPr>
              <a:t>2.</a:t>
            </a:r>
          </a:p>
        </p:txBody>
      </p:sp>
      <p:sp>
        <p:nvSpPr>
          <p:cNvPr id="10" name="TextBox 9"/>
          <p:cNvSpPr txBox="1"/>
          <p:nvPr/>
        </p:nvSpPr>
        <p:spPr>
          <a:xfrm>
            <a:off x="1060704" y="3584448"/>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Solicitar paquete mínimo de información para estructuración: histórico 3 años de P&amp;L y balance, LTM, EBITDA normalizado, CAPEX, deuda/caja, detalle de clientes/contratos, y proyecciones standalone vs. proforma con sinergias.</a:t>
            </a:r>
          </a:p>
        </p:txBody>
      </p:sp>
      <p:sp>
        <p:nvSpPr>
          <p:cNvPr id="11" name="TextBox 10"/>
          <p:cNvSpPr txBox="1"/>
          <p:nvPr/>
        </p:nvSpPr>
        <p:spPr>
          <a:xfrm>
            <a:off x="713232" y="4425696"/>
            <a:ext cx="274320" cy="274320"/>
          </a:xfrm>
          <a:prstGeom prst="rect">
            <a:avLst/>
          </a:prstGeom>
          <a:noFill/>
        </p:spPr>
        <p:txBody>
          <a:bodyPr wrap="square" anchor="t" lIns="0" rIns="0" tIns="0" bIns="0">
            <a:spAutoFit/>
          </a:bodyPr>
          <a:lstStyle/>
          <a:p>
            <a:pPr algn="l"/>
            <a:r>
              <a:rPr sz="1700" b="1" i="0">
                <a:solidFill>
                  <a:srgbClr val="FF6600"/>
                </a:solidFill>
                <a:latin typeface="Arial"/>
              </a:rPr>
              <a:t>3.</a:t>
            </a:r>
          </a:p>
        </p:txBody>
      </p:sp>
      <p:sp>
        <p:nvSpPr>
          <p:cNvPr id="12" name="TextBox 11"/>
          <p:cNvSpPr txBox="1"/>
          <p:nvPr/>
        </p:nvSpPr>
        <p:spPr>
          <a:xfrm>
            <a:off x="1060704" y="4425696"/>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Preparar propuesta indicativa: tamaño de puente, tenor, pricing, garantías, covenants preliminares y esquema de take-out; acordar cronograma de due diligence y aprobación interna.</a:t>
            </a:r>
          </a:p>
        </p:txBody>
      </p:sp>
      <p:sp>
        <p:nvSpPr>
          <p:cNvPr id="13" name="TextBox 12"/>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
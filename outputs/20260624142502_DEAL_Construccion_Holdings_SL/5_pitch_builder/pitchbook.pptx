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13232" y="1234440"/>
            <a:ext cx="201168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l"/>
            <a:r>
              <a:rPr sz="1100" b="1">
                <a:solidFill>
                  <a:srgbClr val="FF6600"/>
                </a:solidFill>
                <a:latin typeface="Arial"/>
              </a:rPr>
              <a:t>NO ESPECIFICADO</a:t>
            </a:r>
          </a:p>
        </p:txBody>
      </p:sp>
      <p:sp>
        <p:nvSpPr>
          <p:cNvPr id="6" name="Rectangle 5"/>
          <p:cNvSpPr/>
          <p:nvPr/>
        </p:nvSpPr>
        <p:spPr>
          <a:xfrm>
            <a:off x="713232" y="1471422"/>
            <a:ext cx="201168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57400"/>
            <a:ext cx="8686800" cy="1371600"/>
          </a:xfrm>
          <a:prstGeom prst="rect">
            <a:avLst/>
          </a:prstGeom>
          <a:noFill/>
        </p:spPr>
        <p:txBody>
          <a:bodyPr wrap="square" anchor="t" lIns="0" rIns="0" tIns="0" bIns="0">
            <a:spAutoFit/>
          </a:bodyPr>
          <a:lstStyle/>
          <a:p>
            <a:pPr algn="l">
              <a:lnSpc>
                <a:spcPct val="108000"/>
              </a:lnSpc>
            </a:pPr>
            <a:r>
              <a:rPr sz="4000" b="1" i="0">
                <a:solidFill>
                  <a:srgbClr val="222222"/>
                </a:solidFill>
                <a:latin typeface="Arial"/>
              </a:rPr>
              <a:t>Propuesta comercial | Construccion Holdings SL</a:t>
            </a:r>
          </a:p>
        </p:txBody>
      </p:sp>
      <p:sp>
        <p:nvSpPr>
          <p:cNvPr id="8" name="TextBox 7"/>
          <p:cNvSpPr txBox="1"/>
          <p:nvPr/>
        </p:nvSpPr>
        <p:spPr>
          <a:xfrm>
            <a:off x="713232" y="4069080"/>
            <a:ext cx="9326880" cy="822960"/>
          </a:xfrm>
          <a:prstGeom prst="rect">
            <a:avLst/>
          </a:prstGeom>
          <a:noFill/>
        </p:spPr>
        <p:txBody>
          <a:bodyPr wrap="square" anchor="t" lIns="0" rIns="0" tIns="0" bIns="0">
            <a:spAutoFit/>
          </a:bodyPr>
          <a:lstStyle/>
          <a:p>
            <a:pPr algn="l">
              <a:lnSpc>
                <a:spcPct val="125000"/>
              </a:lnSpc>
            </a:pPr>
            <a:r>
              <a:rPr sz="1700" b="0" i="0">
                <a:solidFill>
                  <a:srgbClr val="5A6B7B"/>
                </a:solidFill>
                <a:latin typeface="Arial"/>
              </a:rPr>
              <a:t>Acompañar el crecimiento rentable 2022–2024 con una solución integral de liquidez, garantías y optimización de deuda para sostener el plan 2025 con apalancamiento controlado</a:t>
            </a:r>
          </a:p>
        </p:txBody>
      </p:sp>
      <p:sp>
        <p:nvSpPr>
          <p:cNvPr id="9" name="TextBox 8"/>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OPORTUNIDAD DETECTADA</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6400800" cy="594360"/>
          </a:xfrm>
          <a:prstGeom prst="rect">
            <a:avLst/>
          </a:prstGeom>
          <a:noFill/>
        </p:spPr>
        <p:txBody>
          <a:bodyPr wrap="square" anchor="t" lIns="0" rIns="0" tIns="0" bIns="0">
            <a:spAutoFit/>
          </a:bodyPr>
          <a:lstStyle/>
          <a:p>
            <a:pPr algn="l"/>
            <a:r>
              <a:rPr sz="3000" b="1" i="0">
                <a:solidFill>
                  <a:srgbClr val="222222"/>
                </a:solidFill>
                <a:latin typeface="Arial"/>
              </a:rPr>
              <a:t>Construccion Holdings SL</a:t>
            </a:r>
          </a:p>
        </p:txBody>
      </p:sp>
      <p:sp>
        <p:nvSpPr>
          <p:cNvPr id="8" name="TextBox 7"/>
          <p:cNvSpPr txBox="1"/>
          <p:nvPr/>
        </p:nvSpPr>
        <p:spPr>
          <a:xfrm>
            <a:off x="713232" y="2240280"/>
            <a:ext cx="6400800" cy="2194560"/>
          </a:xfrm>
          <a:prstGeom prst="rect">
            <a:avLst/>
          </a:prstGeom>
          <a:noFill/>
        </p:spPr>
        <p:txBody>
          <a:bodyPr wrap="square" anchor="t" lIns="0" rIns="0" tIns="0" bIns="0">
            <a:spAutoFit/>
          </a:bodyPr>
          <a:lstStyle/>
          <a:p>
            <a:pPr algn="l">
              <a:lnSpc>
                <a:spcPct val="135000"/>
              </a:lnSpc>
            </a:pPr>
            <a:r>
              <a:rPr sz="1500" b="0" i="0">
                <a:solidFill>
                  <a:srgbClr val="222222"/>
                </a:solidFill>
                <a:latin typeface="Arial"/>
              </a:rPr>
              <a:t>La compañía combina crecimiento sostenido de ingresos (+35% 2022–2024) con mejora gradual de margen EBITDA (~16%→~17%) y reducción del apalancamiento Deuda/EBITDA (~2,6x→~2,3x), lo que abre una ventana para estructurar financiación que acompañe el aumento de actividad sin tensionar métricas. El incremento nominal de deuda (4,2m€→5,2m€) sugiere necesidades crecientes de circulante y/o garantías asociadas a mayor volumen de contratos, además de potencial para optimizar coste y calendario de vencimientos aprovechando la mejora relativa del riesgo.</a:t>
            </a:r>
          </a:p>
        </p:txBody>
      </p:sp>
      <p:sp>
        <p:nvSpPr>
          <p:cNvPr id="9" name="TextBox 8"/>
          <p:cNvSpPr txBox="1"/>
          <p:nvPr/>
        </p:nvSpPr>
        <p:spPr>
          <a:xfrm>
            <a:off x="713232" y="5257800"/>
            <a:ext cx="6400800" cy="274320"/>
          </a:xfrm>
          <a:prstGeom prst="rect">
            <a:avLst/>
          </a:prstGeom>
          <a:noFill/>
        </p:spPr>
        <p:txBody>
          <a:bodyPr wrap="square" anchor="t" lIns="0" rIns="0" tIns="0" bIns="0">
            <a:spAutoFit/>
          </a:bodyPr>
          <a:lstStyle/>
          <a:p>
            <a:pPr algn="l"/>
            <a:r>
              <a:rPr sz="1100" b="1" i="0">
                <a:solidFill>
                  <a:srgbClr val="5A6B7B"/>
                </a:solidFill>
                <a:latin typeface="Arial"/>
              </a:rPr>
              <a:t>PRÓXIMA ACCIÓN</a:t>
            </a:r>
          </a:p>
        </p:txBody>
      </p:sp>
      <p:sp>
        <p:nvSpPr>
          <p:cNvPr id="10" name="TextBox 9"/>
          <p:cNvSpPr txBox="1"/>
          <p:nvPr/>
        </p:nvSpPr>
        <p:spPr>
          <a:xfrm>
            <a:off x="713232" y="5559552"/>
            <a:ext cx="6400800" cy="777240"/>
          </a:xfrm>
          <a:prstGeom prst="rect">
            <a:avLst/>
          </a:prstGeom>
          <a:noFill/>
        </p:spPr>
        <p:txBody>
          <a:bodyPr wrap="square" anchor="t" lIns="0" rIns="0" tIns="0" bIns="0">
            <a:spAutoFit/>
          </a:bodyPr>
          <a:lstStyle/>
          <a:p>
            <a:pPr algn="l">
              <a:lnSpc>
                <a:spcPct val="125000"/>
              </a:lnSpc>
            </a:pPr>
            <a:r>
              <a:rPr sz="1400" b="0" i="0">
                <a:solidFill>
                  <a:srgbClr val="FF6600"/>
                </a:solidFill>
                <a:latin typeface="Arial"/>
              </a:rPr>
              <a:t>Recopilar información clave (últimos estados financieros completos, detalle de deuda por entidad/vencimiento/coste, covenants, y desglose de circulante: clientes, proveedores, obra en curso, anticipos)</a:t>
            </a:r>
          </a:p>
        </p:txBody>
      </p:sp>
      <p:sp>
        <p:nvSpPr>
          <p:cNvPr id="11" name="Rectangle 10"/>
          <p:cNvSpPr/>
          <p:nvPr/>
        </p:nvSpPr>
        <p:spPr>
          <a:xfrm>
            <a:off x="7818120" y="1627632"/>
            <a:ext cx="3657600" cy="448056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1874519"/>
            <a:ext cx="2926080" cy="274320"/>
          </a:xfrm>
          <a:prstGeom prst="rect">
            <a:avLst/>
          </a:prstGeom>
          <a:noFill/>
        </p:spPr>
        <p:txBody>
          <a:bodyPr wrap="square" anchor="t" lIns="0" rIns="0" tIns="0" bIns="0">
            <a:spAutoFit/>
          </a:bodyPr>
          <a:lstStyle/>
          <a:p>
            <a:pPr algn="l"/>
            <a:r>
              <a:rPr sz="1100" b="1" i="0">
                <a:solidFill>
                  <a:srgbClr val="5A6B7B"/>
                </a:solidFill>
                <a:latin typeface="Arial"/>
              </a:rPr>
              <a:t>EN UNA CIFRA</a:t>
            </a:r>
          </a:p>
        </p:txBody>
      </p:sp>
      <p:sp>
        <p:nvSpPr>
          <p:cNvPr id="13" name="TextBox 12"/>
          <p:cNvSpPr txBox="1"/>
          <p:nvPr/>
        </p:nvSpPr>
        <p:spPr>
          <a:xfrm>
            <a:off x="8138160" y="2240280"/>
            <a:ext cx="2926080" cy="822960"/>
          </a:xfrm>
          <a:prstGeom prst="rect">
            <a:avLst/>
          </a:prstGeom>
          <a:noFill/>
        </p:spPr>
        <p:txBody>
          <a:bodyPr wrap="square" anchor="t" lIns="0" rIns="0" tIns="0" bIns="0">
            <a:spAutoFit/>
          </a:bodyPr>
          <a:lstStyle/>
          <a:p>
            <a:pPr algn="l">
              <a:lnSpc>
                <a:spcPct val="100000"/>
              </a:lnSpc>
            </a:pPr>
            <a:r>
              <a:rPr sz="2400" b="1" i="0">
                <a:solidFill>
                  <a:srgbClr val="FF6600"/>
                </a:solidFill>
                <a:latin typeface="Arial"/>
              </a:rPr>
              <a:t>13,5m€ vs 11,8m€ (+14%)</a:t>
            </a:r>
          </a:p>
        </p:txBody>
      </p:sp>
      <p:sp>
        <p:nvSpPr>
          <p:cNvPr id="14" name="TextBox 13"/>
          <p:cNvSpPr txBox="1"/>
          <p:nvPr/>
        </p:nvSpPr>
        <p:spPr>
          <a:xfrm>
            <a:off x="8138160" y="3063240"/>
            <a:ext cx="2926080" cy="640080"/>
          </a:xfrm>
          <a:prstGeom prst="rect">
            <a:avLst/>
          </a:prstGeom>
          <a:noFill/>
        </p:spPr>
        <p:txBody>
          <a:bodyPr wrap="square" anchor="t" lIns="0" rIns="0" tIns="0" bIns="0">
            <a:spAutoFit/>
          </a:bodyPr>
          <a:lstStyle/>
          <a:p>
            <a:pPr algn="l">
              <a:lnSpc>
                <a:spcPct val="120000"/>
              </a:lnSpc>
            </a:pPr>
            <a:r>
              <a:rPr sz="1300" b="0" i="0">
                <a:solidFill>
                  <a:srgbClr val="5A6B7B"/>
                </a:solidFill>
                <a:latin typeface="Arial"/>
              </a:rPr>
              <a:t>Ingresos 2024 vs 2023</a:t>
            </a:r>
          </a:p>
        </p:txBody>
      </p:sp>
      <p:sp>
        <p:nvSpPr>
          <p:cNvPr id="15" name="Rectangle 14"/>
          <p:cNvSpPr/>
          <p:nvPr/>
        </p:nvSpPr>
        <p:spPr>
          <a:xfrm>
            <a:off x="8138160" y="3840480"/>
            <a:ext cx="2926080" cy="127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4005072"/>
            <a:ext cx="2926080" cy="228600"/>
          </a:xfrm>
          <a:prstGeom prst="rect">
            <a:avLst/>
          </a:prstGeom>
          <a:noFill/>
        </p:spPr>
        <p:txBody>
          <a:bodyPr wrap="square" anchor="t" lIns="0" rIns="0" tIns="0" bIns="0">
            <a:spAutoFit/>
          </a:bodyPr>
          <a:lstStyle/>
          <a:p>
            <a:pPr algn="l"/>
            <a:r>
              <a:rPr sz="1100" b="1" i="0">
                <a:solidFill>
                  <a:srgbClr val="5A6B7B"/>
                </a:solidFill>
                <a:latin typeface="Arial"/>
              </a:rPr>
              <a:t>SECTOR</a:t>
            </a:r>
          </a:p>
        </p:txBody>
      </p:sp>
      <p:sp>
        <p:nvSpPr>
          <p:cNvPr id="17" name="TextBox 16"/>
          <p:cNvSpPr txBox="1"/>
          <p:nvPr/>
        </p:nvSpPr>
        <p:spPr>
          <a:xfrm>
            <a:off x="8138160" y="4279392"/>
            <a:ext cx="2926080" cy="365760"/>
          </a:xfrm>
          <a:prstGeom prst="rect">
            <a:avLst/>
          </a:prstGeom>
          <a:noFill/>
        </p:spPr>
        <p:txBody>
          <a:bodyPr wrap="square" anchor="t" lIns="0" rIns="0" tIns="0" bIns="0">
            <a:spAutoFit/>
          </a:bodyPr>
          <a:lstStyle/>
          <a:p>
            <a:pPr algn="l"/>
            <a:r>
              <a:rPr sz="1600" b="1" i="0">
                <a:solidFill>
                  <a:srgbClr val="222222"/>
                </a:solidFill>
                <a:latin typeface="Arial"/>
              </a:rPr>
              <a:t>No especificado</a:t>
            </a:r>
          </a:p>
        </p:txBody>
      </p:sp>
      <p:sp>
        <p:nvSpPr>
          <p:cNvPr id="18" name="TextBox 17"/>
          <p:cNvSpPr txBox="1"/>
          <p:nvPr/>
        </p:nvSpPr>
        <p:spPr>
          <a:xfrm>
            <a:off x="8138160" y="4828032"/>
            <a:ext cx="2926080" cy="228600"/>
          </a:xfrm>
          <a:prstGeom prst="rect">
            <a:avLst/>
          </a:prstGeom>
          <a:noFill/>
        </p:spPr>
        <p:txBody>
          <a:bodyPr wrap="square" anchor="t" lIns="0" rIns="0" tIns="0" bIns="0">
            <a:spAutoFit/>
          </a:bodyPr>
          <a:lstStyle/>
          <a:p>
            <a:pPr algn="l"/>
            <a:r>
              <a:rPr sz="1100" b="1" i="0">
                <a:solidFill>
                  <a:srgbClr val="5A6B7B"/>
                </a:solidFill>
                <a:latin typeface="Arial"/>
              </a:rPr>
              <a:t>PRIORIDAD</a:t>
            </a:r>
          </a:p>
        </p:txBody>
      </p:sp>
      <p:sp>
        <p:nvSpPr>
          <p:cNvPr id="19" name="TextBox 18"/>
          <p:cNvSpPr txBox="1"/>
          <p:nvPr/>
        </p:nvSpPr>
        <p:spPr>
          <a:xfrm>
            <a:off x="8138160" y="5102352"/>
            <a:ext cx="2926080" cy="320040"/>
          </a:xfrm>
          <a:prstGeom prst="rect">
            <a:avLst/>
          </a:prstGeom>
          <a:noFill/>
        </p:spPr>
        <p:txBody>
          <a:bodyPr wrap="square" anchor="t" lIns="0" rIns="0" tIns="0" bIns="0">
            <a:spAutoFit/>
          </a:bodyPr>
          <a:lstStyle/>
          <a:p>
            <a:pPr algn="l"/>
            <a:r>
              <a:rPr sz="1400" b="1" i="0">
                <a:solidFill>
                  <a:srgbClr val="FF6600"/>
                </a:solidFill>
                <a:latin typeface="Arial"/>
              </a:rPr>
              <a:t>ALTA</a:t>
            </a:r>
          </a:p>
        </p:txBody>
      </p:sp>
      <p:sp>
        <p:nvSpPr>
          <p:cNvPr id="20" name="TextBox 19"/>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CONTEXTO FINANCIERO</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10762488" cy="548640"/>
          </a:xfrm>
          <a:prstGeom prst="rect">
            <a:avLst/>
          </a:prstGeom>
          <a:noFill/>
        </p:spPr>
        <p:txBody>
          <a:bodyPr wrap="square" anchor="t" lIns="0" rIns="0" tIns="0" bIns="0">
            <a:spAutoFit/>
          </a:bodyPr>
          <a:lstStyle/>
          <a:p>
            <a:pPr algn="l"/>
            <a:r>
              <a:rPr sz="3000" b="1" i="0">
                <a:solidFill>
                  <a:srgbClr val="222222"/>
                </a:solidFill>
                <a:latin typeface="Arial"/>
              </a:rPr>
              <a:t>Lo que dicen los números</a:t>
            </a:r>
          </a:p>
        </p:txBody>
      </p:sp>
      <p:sp>
        <p:nvSpPr>
          <p:cNvPr id="8" name="Rectangle 7"/>
          <p:cNvSpPr/>
          <p:nvPr/>
        </p:nvSpPr>
        <p:spPr>
          <a:xfrm>
            <a:off x="640080" y="2240280"/>
            <a:ext cx="3520440" cy="210312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487168"/>
            <a:ext cx="3008376" cy="685800"/>
          </a:xfrm>
          <a:prstGeom prst="rect">
            <a:avLst/>
          </a:prstGeom>
          <a:noFill/>
        </p:spPr>
        <p:txBody>
          <a:bodyPr wrap="square" anchor="t" lIns="0" rIns="0" tIns="0" bIns="0">
            <a:spAutoFit/>
          </a:bodyPr>
          <a:lstStyle/>
          <a:p>
            <a:pPr algn="l">
              <a:lnSpc>
                <a:spcPct val="100000"/>
              </a:lnSpc>
            </a:pPr>
            <a:r>
              <a:rPr sz="2200" b="1" i="0">
                <a:solidFill>
                  <a:srgbClr val="FF6600"/>
                </a:solidFill>
                <a:latin typeface="Arial"/>
              </a:rPr>
              <a:t>13,5m€ vs 11,8m€ (+14%)</a:t>
            </a:r>
          </a:p>
        </p:txBody>
      </p:sp>
      <p:sp>
        <p:nvSpPr>
          <p:cNvPr id="10" name="TextBox 9"/>
          <p:cNvSpPr txBox="1"/>
          <p:nvPr/>
        </p:nvSpPr>
        <p:spPr>
          <a:xfrm>
            <a:off x="896112" y="3611880"/>
            <a:ext cx="3008376" cy="548640"/>
          </a:xfrm>
          <a:prstGeom prst="rect">
            <a:avLst/>
          </a:prstGeom>
          <a:noFill/>
        </p:spPr>
        <p:txBody>
          <a:bodyPr wrap="square" anchor="t" lIns="0" rIns="0" tIns="0" bIns="0">
            <a:spAutoFit/>
          </a:bodyPr>
          <a:lstStyle/>
          <a:p>
            <a:pPr algn="l">
              <a:lnSpc>
                <a:spcPct val="115000"/>
              </a:lnSpc>
            </a:pPr>
            <a:r>
              <a:rPr sz="1300" b="0" i="0">
                <a:solidFill>
                  <a:srgbClr val="5A6B7B"/>
                </a:solidFill>
                <a:latin typeface="Arial"/>
              </a:rPr>
              <a:t>Ingresos 2024 vs 2023</a:t>
            </a:r>
          </a:p>
        </p:txBody>
      </p:sp>
      <p:sp>
        <p:nvSpPr>
          <p:cNvPr id="11" name="Rectangle 10"/>
          <p:cNvSpPr/>
          <p:nvPr/>
        </p:nvSpPr>
        <p:spPr>
          <a:xfrm>
            <a:off x="4434840" y="2240280"/>
            <a:ext cx="3520440" cy="210312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90872" y="2487168"/>
            <a:ext cx="3008376" cy="685800"/>
          </a:xfrm>
          <a:prstGeom prst="rect">
            <a:avLst/>
          </a:prstGeom>
          <a:noFill/>
        </p:spPr>
        <p:txBody>
          <a:bodyPr wrap="square" anchor="t" lIns="0" rIns="0" tIns="0" bIns="0">
            <a:spAutoFit/>
          </a:bodyPr>
          <a:lstStyle/>
          <a:p>
            <a:pPr algn="l">
              <a:lnSpc>
                <a:spcPct val="100000"/>
              </a:lnSpc>
            </a:pPr>
            <a:r>
              <a:rPr sz="2200" b="1" i="0">
                <a:solidFill>
                  <a:srgbClr val="FF6600"/>
                </a:solidFill>
                <a:latin typeface="Arial"/>
              </a:rPr>
              <a:t>11,8m€ vs 10,0m€ (+18%)</a:t>
            </a:r>
          </a:p>
        </p:txBody>
      </p:sp>
      <p:sp>
        <p:nvSpPr>
          <p:cNvPr id="13" name="TextBox 12"/>
          <p:cNvSpPr txBox="1"/>
          <p:nvPr/>
        </p:nvSpPr>
        <p:spPr>
          <a:xfrm>
            <a:off x="4690872" y="3611880"/>
            <a:ext cx="3008376" cy="548640"/>
          </a:xfrm>
          <a:prstGeom prst="rect">
            <a:avLst/>
          </a:prstGeom>
          <a:noFill/>
        </p:spPr>
        <p:txBody>
          <a:bodyPr wrap="square" anchor="t" lIns="0" rIns="0" tIns="0" bIns="0">
            <a:spAutoFit/>
          </a:bodyPr>
          <a:lstStyle/>
          <a:p>
            <a:pPr algn="l">
              <a:lnSpc>
                <a:spcPct val="115000"/>
              </a:lnSpc>
            </a:pPr>
            <a:r>
              <a:rPr sz="1300" b="0" i="0">
                <a:solidFill>
                  <a:srgbClr val="5A6B7B"/>
                </a:solidFill>
                <a:latin typeface="Arial"/>
              </a:rPr>
              <a:t>Ingresos 2023 vs 2022</a:t>
            </a:r>
          </a:p>
        </p:txBody>
      </p:sp>
      <p:sp>
        <p:nvSpPr>
          <p:cNvPr id="14" name="Rectangle 13"/>
          <p:cNvSpPr/>
          <p:nvPr/>
        </p:nvSpPr>
        <p:spPr>
          <a:xfrm>
            <a:off x="8229600" y="2240280"/>
            <a:ext cx="3520440" cy="210312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85632" y="2487168"/>
            <a:ext cx="3008376" cy="685800"/>
          </a:xfrm>
          <a:prstGeom prst="rect">
            <a:avLst/>
          </a:prstGeom>
          <a:noFill/>
        </p:spPr>
        <p:txBody>
          <a:bodyPr wrap="square" anchor="t" lIns="0" rIns="0" tIns="0" bIns="0">
            <a:spAutoFit/>
          </a:bodyPr>
          <a:lstStyle/>
          <a:p>
            <a:pPr algn="l">
              <a:lnSpc>
                <a:spcPct val="100000"/>
              </a:lnSpc>
            </a:pPr>
            <a:r>
              <a:rPr sz="2200" b="1" i="0">
                <a:solidFill>
                  <a:srgbClr val="FF6600"/>
                </a:solidFill>
                <a:latin typeface="Arial"/>
              </a:rPr>
              <a:t>1,6m€ (2022) → 1,9m€ (2023) → 2,3m€ (2024)</a:t>
            </a:r>
          </a:p>
        </p:txBody>
      </p:sp>
      <p:sp>
        <p:nvSpPr>
          <p:cNvPr id="16" name="TextBox 15"/>
          <p:cNvSpPr txBox="1"/>
          <p:nvPr/>
        </p:nvSpPr>
        <p:spPr>
          <a:xfrm>
            <a:off x="8485632" y="3611880"/>
            <a:ext cx="3008376" cy="548640"/>
          </a:xfrm>
          <a:prstGeom prst="rect">
            <a:avLst/>
          </a:prstGeom>
          <a:noFill/>
        </p:spPr>
        <p:txBody>
          <a:bodyPr wrap="square" anchor="t" lIns="0" rIns="0" tIns="0" bIns="0">
            <a:spAutoFit/>
          </a:bodyPr>
          <a:lstStyle/>
          <a:p>
            <a:pPr algn="l">
              <a:lnSpc>
                <a:spcPct val="115000"/>
              </a:lnSpc>
            </a:pPr>
            <a:r>
              <a:rPr sz="1300" b="0" i="0">
                <a:solidFill>
                  <a:srgbClr val="5A6B7B"/>
                </a:solidFill>
                <a:latin typeface="Arial"/>
              </a:rPr>
              <a:t>EBITDA</a:t>
            </a:r>
          </a:p>
        </p:txBody>
      </p:sp>
      <p:sp>
        <p:nvSpPr>
          <p:cNvPr id="17" name="TextBox 16"/>
          <p:cNvSpPr txBox="1"/>
          <p:nvPr/>
        </p:nvSpPr>
        <p:spPr>
          <a:xfrm>
            <a:off x="713232" y="4800600"/>
            <a:ext cx="5212080" cy="274320"/>
          </a:xfrm>
          <a:prstGeom prst="rect">
            <a:avLst/>
          </a:prstGeom>
          <a:noFill/>
        </p:spPr>
        <p:txBody>
          <a:bodyPr wrap="square" anchor="t" lIns="0" rIns="0" tIns="0" bIns="0">
            <a:spAutoFit/>
          </a:bodyPr>
          <a:lstStyle/>
          <a:p>
            <a:pPr algn="l"/>
            <a:r>
              <a:rPr sz="1100" b="1" i="0">
                <a:solidFill>
                  <a:srgbClr val="5A6B7B"/>
                </a:solidFill>
                <a:latin typeface="Arial"/>
              </a:rPr>
              <a:t>TENDENCIAS ESTRUCTURALES</a:t>
            </a:r>
          </a:p>
        </p:txBody>
      </p:sp>
      <p:sp>
        <p:nvSpPr>
          <p:cNvPr id="18" name="TextBox 17"/>
          <p:cNvSpPr txBox="1"/>
          <p:nvPr/>
        </p:nvSpPr>
        <p:spPr>
          <a:xfrm>
            <a:off x="713232" y="5102352"/>
            <a:ext cx="5212080" cy="1234440"/>
          </a:xfrm>
          <a:prstGeom prst="rect">
            <a:avLst/>
          </a:prstGeom>
          <a:noFill/>
        </p:spPr>
        <p:txBody>
          <a:bodyPr wrap="square" lIns="0" rIns="0" tIns="0" bIns="0">
            <a:spAutoFit/>
          </a:bodyPr>
          <a:lstStyle/>
          <a:p>
            <a:pPr>
              <a:lnSpc>
                <a:spcPct val="115000"/>
              </a:lnSpc>
              <a:spcAft>
                <a:spcPts val="800"/>
              </a:spcAft>
            </a:pPr>
            <a:r>
              <a:rPr sz="1300">
                <a:solidFill>
                  <a:srgbClr val="222222"/>
                </a:solidFill>
                <a:latin typeface="Arial"/>
              </a:rPr>
              <a:t>• Crecimiento sostenido de ingresos con aceleración moderada (+18% en 2023 y +14% en 2024).</a:t>
            </a:r>
          </a:p>
          <a:p>
            <a:pPr>
              <a:lnSpc>
                <a:spcPct val="115000"/>
              </a:lnSpc>
              <a:spcAft>
                <a:spcPts val="800"/>
              </a:spcAft>
            </a:pPr>
            <a:r>
              <a:rPr sz="1300">
                <a:solidFill>
                  <a:srgbClr val="222222"/>
                </a:solidFill>
                <a:latin typeface="Arial"/>
              </a:rPr>
              <a:t>• Expansión operativa ligera reflejada en mejora del margen EBITDA (~16% a ~17%).</a:t>
            </a:r>
          </a:p>
          <a:p>
            <a:pPr>
              <a:lnSpc>
                <a:spcPct val="115000"/>
              </a:lnSpc>
              <a:spcAft>
                <a:spcPts val="800"/>
              </a:spcAft>
            </a:pPr>
            <a:r>
              <a:rPr sz="1300">
                <a:solidFill>
                  <a:srgbClr val="222222"/>
                </a:solidFill>
                <a:latin typeface="Arial"/>
              </a:rPr>
              <a:t>• Aumento de deuda financiera acompañado por crecimiento de resultados, reduciendo gradualmente el apalancamiento (Deuda/EBITDA).</a:t>
            </a:r>
          </a:p>
          <a:p>
            <a:pPr>
              <a:lnSpc>
                <a:spcPct val="115000"/>
              </a:lnSpc>
              <a:spcAft>
                <a:spcPts val="800"/>
              </a:spcAft>
            </a:pPr>
            <a:r>
              <a:rPr sz="1300">
                <a:solidFill>
                  <a:srgbClr val="222222"/>
                </a:solidFill>
                <a:latin typeface="Arial"/>
              </a:rPr>
              <a:t>• Patrimonio neto al alza, manteniendo Deuda/Patrimonio relativamente estable (~1,3x).</a:t>
            </a:r>
          </a:p>
        </p:txBody>
      </p:sp>
      <p:sp>
        <p:nvSpPr>
          <p:cNvPr id="19" name="Rectangle 18"/>
          <p:cNvSpPr/>
          <p:nvPr/>
        </p:nvSpPr>
        <p:spPr>
          <a:xfrm>
            <a:off x="6263640" y="4800600"/>
            <a:ext cx="5212080" cy="164592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4983480"/>
            <a:ext cx="4663440" cy="228600"/>
          </a:xfrm>
          <a:prstGeom prst="rect">
            <a:avLst/>
          </a:prstGeom>
          <a:noFill/>
        </p:spPr>
        <p:txBody>
          <a:bodyPr wrap="square" anchor="t" lIns="0" rIns="0" tIns="0" bIns="0">
            <a:spAutoFit/>
          </a:bodyPr>
          <a:lstStyle/>
          <a:p>
            <a:pPr algn="l"/>
            <a:r>
              <a:rPr sz="1100" b="1" i="0">
                <a:solidFill>
                  <a:srgbClr val="FF6600"/>
                </a:solidFill>
                <a:latin typeface="Arial"/>
              </a:rPr>
              <a:t>INTERPRETACIÓN</a:t>
            </a:r>
          </a:p>
        </p:txBody>
      </p:sp>
      <p:sp>
        <p:nvSpPr>
          <p:cNvPr id="21" name="TextBox 20"/>
          <p:cNvSpPr txBox="1"/>
          <p:nvPr/>
        </p:nvSpPr>
        <p:spPr>
          <a:xfrm>
            <a:off x="6537960" y="5285232"/>
            <a:ext cx="4663440" cy="914400"/>
          </a:xfrm>
          <a:prstGeom prst="rect">
            <a:avLst/>
          </a:prstGeom>
          <a:noFill/>
        </p:spPr>
        <p:txBody>
          <a:bodyPr wrap="square" anchor="t" lIns="0" rIns="0" tIns="0" bIns="0">
            <a:spAutoFit/>
          </a:bodyPr>
          <a:lstStyle/>
          <a:p>
            <a:pPr algn="l">
              <a:lnSpc>
                <a:spcPct val="125000"/>
              </a:lnSpc>
            </a:pPr>
            <a:r>
              <a:rPr sz="1300" b="0" i="0">
                <a:solidFill>
                  <a:srgbClr val="222222"/>
                </a:solidFill>
                <a:latin typeface="Arial"/>
              </a:rPr>
              <a:t>La compañía muestra crecimiento rentable y cierta expansión de márgenes, con un apalancamiento que mejora pese al aumento nominal de la deuda. Esto sugiere capacidad de absorber financiación adicional si el crecimiento continúa, aunque podría requerir liquidez para soportar mayor actividad (circulante/garantías). Dado que no hay datos de EBIT ni CAPEX, queda abierta la necesidad de validar si el crecimiento exige inversión relevante y si conviene optimizar la estructura y coste de la deuda.</a:t>
            </a:r>
          </a:p>
        </p:txBody>
      </p:sp>
      <p:sp>
        <p:nvSpPr>
          <p:cNvPr id="22" name="TextBox 21"/>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BRIEFING DE CLIENTE</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10762488" cy="548640"/>
          </a:xfrm>
          <a:prstGeom prst="rect">
            <a:avLst/>
          </a:prstGeom>
          <a:noFill/>
        </p:spPr>
        <p:txBody>
          <a:bodyPr wrap="square" anchor="t" lIns="0" rIns="0" tIns="0" bIns="0">
            <a:spAutoFit/>
          </a:bodyPr>
          <a:lstStyle/>
          <a:p>
            <a:pPr algn="l"/>
            <a:r>
              <a:rPr sz="3000" b="1" i="0">
                <a:solidFill>
                  <a:srgbClr val="222222"/>
                </a:solidFill>
                <a:latin typeface="Arial"/>
              </a:rPr>
              <a:t>Perfil y situación actual</a:t>
            </a:r>
          </a:p>
        </p:txBody>
      </p:sp>
      <p:sp>
        <p:nvSpPr>
          <p:cNvPr id="8" name="TextBox 7"/>
          <p:cNvSpPr txBox="1"/>
          <p:nvPr/>
        </p:nvSpPr>
        <p:spPr>
          <a:xfrm>
            <a:off x="713232" y="2148840"/>
            <a:ext cx="10762488" cy="822960"/>
          </a:xfrm>
          <a:prstGeom prst="rect">
            <a:avLst/>
          </a:prstGeom>
          <a:noFill/>
        </p:spPr>
        <p:txBody>
          <a:bodyPr wrap="square" anchor="t" lIns="0" rIns="0" tIns="0" bIns="0">
            <a:spAutoFit/>
          </a:bodyPr>
          <a:lstStyle/>
          <a:p>
            <a:pPr algn="l">
              <a:lnSpc>
                <a:spcPct val="130000"/>
              </a:lnSpc>
            </a:pPr>
            <a:r>
              <a:rPr sz="1400" b="0" i="0">
                <a:solidFill>
                  <a:srgbClr val="222222"/>
                </a:solidFill>
                <a:latin typeface="Arial"/>
              </a:rPr>
              <a:t>Construccion Holdings SL es una empresa cliente del banco desde 2018-06-15, con rating interno BBB+ y sin impagos registrados. Presenta un perfil de compañía en crecimiento, con mejora gradual de rentabilidad operativa (margen EBITDA) y un endeudamiento que aumenta en términos nominales pero se vuelve más manejable en relación con el EBITDA.</a:t>
            </a:r>
          </a:p>
        </p:txBody>
      </p:sp>
      <p:sp>
        <p:nvSpPr>
          <p:cNvPr id="9" name="TextBox 8"/>
          <p:cNvSpPr txBox="1"/>
          <p:nvPr/>
        </p:nvSpPr>
        <p:spPr>
          <a:xfrm>
            <a:off x="713232" y="2834640"/>
            <a:ext cx="10762488" cy="731520"/>
          </a:xfrm>
          <a:prstGeom prst="rect">
            <a:avLst/>
          </a:prstGeom>
          <a:noFill/>
        </p:spPr>
        <p:txBody>
          <a:bodyPr wrap="square" anchor="t" lIns="0" rIns="0" tIns="0" bIns="0">
            <a:spAutoFit/>
          </a:bodyPr>
          <a:lstStyle/>
          <a:p>
            <a:pPr algn="l">
              <a:lnSpc>
                <a:spcPct val="130000"/>
              </a:lnSpc>
            </a:pPr>
            <a:r>
              <a:rPr sz="1400" b="0" i="0">
                <a:solidFill>
                  <a:srgbClr val="5A6B7B"/>
                </a:solidFill>
                <a:latin typeface="Arial"/>
              </a:rPr>
              <a:t>Entre 2022 y 2024 la compañía incrementa ingresos de 10,0m€ a 13,5m€ (+35% acumulado) y EBITDA de 1,6m€ a 2,3m€, con margen EBITDA mejorando de ~16% a ~17%. La deuda financiera sube de 4,2m€ a 5,2m€, pero el apalancamiento Deuda/EBITDA mejora (~2,6x a ~2,3x) y la ratio Deuda/Patrimonio se mantiene estable (~1,3x) gracias al aumento del patrimonio neto (3,2m€ a 4,2m€). No hay datos de EBIT ni CAPEX, por lo que queda por validar si el crecimiento es intensivo en inversión y/o en necesidades de circulante.</a:t>
            </a:r>
          </a:p>
        </p:txBody>
      </p:sp>
      <p:sp>
        <p:nvSpPr>
          <p:cNvPr id="10" name="Rectangle 9"/>
          <p:cNvSpPr/>
          <p:nvPr/>
        </p:nvSpPr>
        <p:spPr>
          <a:xfrm>
            <a:off x="640080" y="3703320"/>
            <a:ext cx="5349240" cy="269748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77639"/>
            <a:ext cx="4480560" cy="274320"/>
          </a:xfrm>
          <a:prstGeom prst="rect">
            <a:avLst/>
          </a:prstGeom>
          <a:noFill/>
        </p:spPr>
        <p:txBody>
          <a:bodyPr wrap="square" anchor="t" lIns="0" rIns="0" tIns="0" bIns="0">
            <a:spAutoFit/>
          </a:bodyPr>
          <a:lstStyle/>
          <a:p>
            <a:pPr algn="l"/>
            <a:r>
              <a:rPr sz="1200" b="1" i="0">
                <a:solidFill>
                  <a:srgbClr val="FF6600"/>
                </a:solidFill>
                <a:latin typeface="Arial"/>
              </a:rPr>
              <a:t>NECESIDADES POTENCIALES</a:t>
            </a:r>
          </a:p>
        </p:txBody>
      </p:sp>
      <p:sp>
        <p:nvSpPr>
          <p:cNvPr id="12" name="TextBox 11"/>
          <p:cNvSpPr txBox="1"/>
          <p:nvPr/>
        </p:nvSpPr>
        <p:spPr>
          <a:xfrm>
            <a:off x="914400" y="4407408"/>
            <a:ext cx="4754880" cy="1737360"/>
          </a:xfrm>
          <a:prstGeom prst="rect">
            <a:avLst/>
          </a:prstGeom>
          <a:noFill/>
        </p:spPr>
        <p:txBody>
          <a:bodyPr wrap="square" lIns="0" rIns="0" tIns="0" bIns="0">
            <a:spAutoFit/>
          </a:bodyPr>
          <a:lstStyle/>
          <a:p>
            <a:pPr>
              <a:lnSpc>
                <a:spcPct val="115000"/>
              </a:lnSpc>
              <a:spcAft>
                <a:spcPts val="1000"/>
              </a:spcAft>
            </a:pPr>
            <a:r>
              <a:rPr sz="1300">
                <a:solidFill>
                  <a:srgbClr val="222222"/>
                </a:solidFill>
                <a:latin typeface="Arial"/>
              </a:rPr>
              <a:t>• Financiación de circulante para acompañar el aumento de actividad (p. ej., mayores necesidades operativas derivadas del crecimiento).</a:t>
            </a:r>
          </a:p>
          <a:p>
            <a:pPr>
              <a:lnSpc>
                <a:spcPct val="115000"/>
              </a:lnSpc>
              <a:spcAft>
                <a:spcPts val="1000"/>
              </a:spcAft>
            </a:pPr>
            <a:r>
              <a:rPr sz="1300">
                <a:solidFill>
                  <a:srgbClr val="222222"/>
                </a:solidFill>
                <a:latin typeface="Arial"/>
              </a:rPr>
              <a:t>• Líneas de garantías/avales asociadas a la operativa (posible en compañías de construcción), si el crecimiento implica más contratos o volumen.</a:t>
            </a:r>
          </a:p>
          <a:p>
            <a:pPr>
              <a:lnSpc>
                <a:spcPct val="115000"/>
              </a:lnSpc>
              <a:spcAft>
                <a:spcPts val="1000"/>
              </a:spcAft>
            </a:pPr>
            <a:r>
              <a:rPr sz="1300">
                <a:solidFill>
                  <a:srgbClr val="222222"/>
                </a:solidFill>
                <a:latin typeface="Arial"/>
              </a:rPr>
              <a:t>• Optimización de estructura y coste de la deuda ante el aumento nominal del endeudamiento, aprovechando la mejora de Deuda/EBITDA.</a:t>
            </a:r>
          </a:p>
          <a:p>
            <a:pPr>
              <a:lnSpc>
                <a:spcPct val="115000"/>
              </a:lnSpc>
              <a:spcAft>
                <a:spcPts val="1000"/>
              </a:spcAft>
            </a:pPr>
            <a:r>
              <a:rPr sz="1300">
                <a:solidFill>
                  <a:srgbClr val="222222"/>
                </a:solidFill>
                <a:latin typeface="Arial"/>
              </a:rPr>
              <a:t>• Revisión de necesidades de financiación adicional si el plan de crecimiento requiere inversión (pendiente de confirmar CAPEX/plan de inversión).</a:t>
            </a:r>
          </a:p>
        </p:txBody>
      </p:sp>
      <p:sp>
        <p:nvSpPr>
          <p:cNvPr id="13" name="Rectangle 12"/>
          <p:cNvSpPr/>
          <p:nvPr/>
        </p:nvSpPr>
        <p:spPr>
          <a:xfrm>
            <a:off x="6217920" y="3703320"/>
            <a:ext cx="5349240" cy="269748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3977639"/>
            <a:ext cx="4480560" cy="274320"/>
          </a:xfrm>
          <a:prstGeom prst="rect">
            <a:avLst/>
          </a:prstGeom>
          <a:noFill/>
        </p:spPr>
        <p:txBody>
          <a:bodyPr wrap="square" anchor="t" lIns="0" rIns="0" tIns="0" bIns="0">
            <a:spAutoFit/>
          </a:bodyPr>
          <a:lstStyle/>
          <a:p>
            <a:pPr algn="l"/>
            <a:r>
              <a:rPr sz="1200" b="1" i="0">
                <a:solidFill>
                  <a:srgbClr val="FF6600"/>
                </a:solidFill>
                <a:latin typeface="Arial"/>
              </a:rPr>
              <a:t>RIESGOS Y PUNTOS DE ATENCIÓN</a:t>
            </a:r>
          </a:p>
        </p:txBody>
      </p:sp>
      <p:sp>
        <p:nvSpPr>
          <p:cNvPr id="15" name="TextBox 14"/>
          <p:cNvSpPr txBox="1"/>
          <p:nvPr/>
        </p:nvSpPr>
        <p:spPr>
          <a:xfrm>
            <a:off x="6492240" y="4407408"/>
            <a:ext cx="4754880" cy="1737360"/>
          </a:xfrm>
          <a:prstGeom prst="rect">
            <a:avLst/>
          </a:prstGeom>
          <a:noFill/>
        </p:spPr>
        <p:txBody>
          <a:bodyPr wrap="square" lIns="0" rIns="0" tIns="0" bIns="0">
            <a:spAutoFit/>
          </a:bodyPr>
          <a:lstStyle/>
          <a:p>
            <a:pPr>
              <a:lnSpc>
                <a:spcPct val="115000"/>
              </a:lnSpc>
              <a:spcAft>
                <a:spcPts val="1000"/>
              </a:spcAft>
            </a:pPr>
            <a:r>
              <a:rPr sz="1300">
                <a:solidFill>
                  <a:srgbClr val="222222"/>
                </a:solidFill>
                <a:latin typeface="Arial"/>
              </a:rPr>
              <a:t>• Incremento continuado de deuda financiera (4,2m€ → 5,2m€) que, aunque hoy se compensa con mayor EBITDA, podría tensionar métricas si el crecimiento se desacelera.</a:t>
            </a:r>
          </a:p>
          <a:p>
            <a:pPr>
              <a:lnSpc>
                <a:spcPct val="115000"/>
              </a:lnSpc>
              <a:spcAft>
                <a:spcPts val="1000"/>
              </a:spcAft>
            </a:pPr>
            <a:r>
              <a:rPr sz="1300">
                <a:solidFill>
                  <a:srgbClr val="222222"/>
                </a:solidFill>
                <a:latin typeface="Arial"/>
              </a:rPr>
              <a:t>• Falta de visibilidad sobre EBIT y CAPEX: riesgo de que el crecimiento esté soportado por inversión elevada o por presión en caja no identificada con los datos disponibles.</a:t>
            </a:r>
          </a:p>
          <a:p>
            <a:pPr>
              <a:lnSpc>
                <a:spcPct val="115000"/>
              </a:lnSpc>
              <a:spcAft>
                <a:spcPts val="1000"/>
              </a:spcAft>
            </a:pPr>
            <a:r>
              <a:rPr sz="1300">
                <a:solidFill>
                  <a:srgbClr val="222222"/>
                </a:solidFill>
                <a:latin typeface="Arial"/>
              </a:rPr>
              <a:t>• Dependencia de mantener la mejora operativa (margen EBITDA) para sostener la reducción del apalancamiento.</a:t>
            </a:r>
          </a:p>
        </p:txBody>
      </p:sp>
      <p:sp>
        <p:nvSpPr>
          <p:cNvPr id="16" name="TextBox 15"/>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ENCAJE Y COMPARABLES</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10762488" cy="548640"/>
          </a:xfrm>
          <a:prstGeom prst="rect">
            <a:avLst/>
          </a:prstGeom>
          <a:noFill/>
        </p:spPr>
        <p:txBody>
          <a:bodyPr wrap="square" anchor="t" lIns="0" rIns="0" tIns="0" bIns="0">
            <a:spAutoFit/>
          </a:bodyPr>
          <a:lstStyle/>
          <a:p>
            <a:pPr algn="l"/>
            <a:r>
              <a:rPr sz="3000" b="1" i="0">
                <a:solidFill>
                  <a:srgbClr val="222222"/>
                </a:solidFill>
                <a:latin typeface="Arial"/>
              </a:rPr>
              <a:t>Cómo podemos ayudar</a:t>
            </a:r>
          </a:p>
        </p:txBody>
      </p:sp>
      <p:sp>
        <p:nvSpPr>
          <p:cNvPr id="8" name="Rectangle 7"/>
          <p:cNvSpPr/>
          <p:nvPr/>
        </p:nvSpPr>
        <p:spPr>
          <a:xfrm>
            <a:off x="640080" y="2194560"/>
            <a:ext cx="6400800" cy="288036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50592"/>
            <a:ext cx="5852160" cy="228600"/>
          </a:xfrm>
          <a:prstGeom prst="rect">
            <a:avLst/>
          </a:prstGeom>
          <a:noFill/>
        </p:spPr>
        <p:txBody>
          <a:bodyPr wrap="square" anchor="t" lIns="0" rIns="0" tIns="0" bIns="0">
            <a:spAutoFit/>
          </a:bodyPr>
          <a:lstStyle/>
          <a:p>
            <a:pPr algn="l"/>
            <a:r>
              <a:rPr sz="1100" b="1" i="0">
                <a:solidFill>
                  <a:srgbClr val="FF6600"/>
                </a:solidFill>
                <a:latin typeface="Arial"/>
              </a:rPr>
              <a:t>ENCAJE CON PRODUCTOS DEL BANCO</a:t>
            </a:r>
          </a:p>
        </p:txBody>
      </p:sp>
      <p:sp>
        <p:nvSpPr>
          <p:cNvPr id="10" name="TextBox 9"/>
          <p:cNvSpPr txBox="1"/>
          <p:nvPr/>
        </p:nvSpPr>
        <p:spPr>
          <a:xfrm>
            <a:off x="914400" y="2816352"/>
            <a:ext cx="5669280" cy="1920240"/>
          </a:xfrm>
          <a:prstGeom prst="rect">
            <a:avLst/>
          </a:prstGeom>
          <a:noFill/>
        </p:spPr>
        <p:txBody>
          <a:bodyPr wrap="square" lIns="0" rIns="0" tIns="0" bIns="0">
            <a:spAutoFit/>
          </a:bodyPr>
          <a:lstStyle/>
          <a:p>
            <a:pPr>
              <a:lnSpc>
                <a:spcPct val="115000"/>
              </a:lnSpc>
              <a:spcAft>
                <a:spcPts val="1000"/>
              </a:spcAft>
            </a:pPr>
            <a:r>
              <a:rPr sz="1350">
                <a:solidFill>
                  <a:srgbClr val="222222"/>
                </a:solidFill>
                <a:latin typeface="Arial"/>
              </a:rPr>
              <a:t>• Financiación de circulante (líneas de crédito, confirming/pago a proveedores, factoring/anticipo de certificaciones) para absorber crecimiento de actividad y suavizar picos de caja</a:t>
            </a:r>
          </a:p>
          <a:p>
            <a:pPr>
              <a:lnSpc>
                <a:spcPct val="115000"/>
              </a:lnSpc>
              <a:spcAft>
                <a:spcPts val="1000"/>
              </a:spcAft>
            </a:pPr>
            <a:r>
              <a:rPr sz="1350">
                <a:solidFill>
                  <a:srgbClr val="222222"/>
                </a:solidFill>
                <a:latin typeface="Arial"/>
              </a:rPr>
              <a:t>• Líneas de garantías y avales (técnicos y económicos) para soportar adjudicaciones/contratos y mejorar capacidad de licitación</a:t>
            </a:r>
          </a:p>
          <a:p>
            <a:pPr>
              <a:lnSpc>
                <a:spcPct val="115000"/>
              </a:lnSpc>
              <a:spcAft>
                <a:spcPts val="1000"/>
              </a:spcAft>
            </a:pPr>
            <a:r>
              <a:rPr sz="1350">
                <a:solidFill>
                  <a:srgbClr val="222222"/>
                </a:solidFill>
                <a:latin typeface="Arial"/>
              </a:rPr>
              <a:t>• Refinanciación/reestructuración de deuda (reperfilado de vencimientos, consolidación de posiciones, optimización de pricing y covenants) alineada con Deuda/EBITDA ~2,3x</a:t>
            </a:r>
          </a:p>
          <a:p>
            <a:pPr>
              <a:lnSpc>
                <a:spcPct val="115000"/>
              </a:lnSpc>
              <a:spcAft>
                <a:spcPts val="1000"/>
              </a:spcAft>
            </a:pPr>
            <a:r>
              <a:rPr sz="1350">
                <a:solidFill>
                  <a:srgbClr val="222222"/>
                </a:solidFill>
                <a:latin typeface="Arial"/>
              </a:rPr>
              <a:t>• Financiación de inversión (préstamo/arrendamiento financiero) sujeta a validación de CAPEX y plan 2025–2026</a:t>
            </a:r>
          </a:p>
        </p:txBody>
      </p:sp>
      <p:sp>
        <p:nvSpPr>
          <p:cNvPr id="11" name="Rectangle 10"/>
          <p:cNvSpPr/>
          <p:nvPr/>
        </p:nvSpPr>
        <p:spPr>
          <a:xfrm>
            <a:off x="7406640" y="2194560"/>
            <a:ext cx="4160520" cy="320040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99248" y="2450592"/>
            <a:ext cx="3566160" cy="228600"/>
          </a:xfrm>
          <a:prstGeom prst="rect">
            <a:avLst/>
          </a:prstGeom>
          <a:noFill/>
        </p:spPr>
        <p:txBody>
          <a:bodyPr wrap="square" anchor="t" lIns="0" rIns="0" tIns="0" bIns="0">
            <a:spAutoFit/>
          </a:bodyPr>
          <a:lstStyle/>
          <a:p>
            <a:pPr algn="l"/>
            <a:r>
              <a:rPr sz="1100" b="1" i="0">
                <a:solidFill>
                  <a:srgbClr val="FF6600"/>
                </a:solidFill>
                <a:latin typeface="Arial"/>
              </a:rPr>
              <a:t>COMPARABLES SECTORIALES</a:t>
            </a:r>
          </a:p>
        </p:txBody>
      </p:sp>
      <p:sp>
        <p:nvSpPr>
          <p:cNvPr id="13" name="TextBox 12"/>
          <p:cNvSpPr txBox="1"/>
          <p:nvPr/>
        </p:nvSpPr>
        <p:spPr>
          <a:xfrm>
            <a:off x="7699248" y="2971800"/>
            <a:ext cx="3566160" cy="1371600"/>
          </a:xfrm>
          <a:prstGeom prst="rect">
            <a:avLst/>
          </a:prstGeom>
          <a:noFill/>
        </p:spPr>
        <p:txBody>
          <a:bodyPr wrap="square" anchor="t" lIns="0" rIns="0" tIns="0" bIns="0">
            <a:spAutoFit/>
          </a:bodyPr>
          <a:lstStyle/>
          <a:p>
            <a:pPr algn="l">
              <a:lnSpc>
                <a:spcPct val="130000"/>
              </a:lnSpc>
            </a:pPr>
            <a:r>
              <a:rPr sz="1250" b="0" i="0">
                <a:solidFill>
                  <a:srgbClr val="222222"/>
                </a:solidFill>
                <a:latin typeface="Arial"/>
              </a:rPr>
              <a:t>Empresas medianas de construcción/contratación con crecimiento de doble dígito y necesidades recurrentes de circulante y avales</a:t>
            </a:r>
          </a:p>
        </p:txBody>
      </p:sp>
      <p:sp>
        <p:nvSpPr>
          <p:cNvPr id="14" name="TextBox 13"/>
          <p:cNvSpPr txBox="1"/>
          <p:nvPr/>
        </p:nvSpPr>
        <p:spPr>
          <a:xfrm>
            <a:off x="7699248" y="4251960"/>
            <a:ext cx="3566160" cy="1371600"/>
          </a:xfrm>
          <a:prstGeom prst="rect">
            <a:avLst/>
          </a:prstGeom>
          <a:noFill/>
        </p:spPr>
        <p:txBody>
          <a:bodyPr wrap="square" anchor="t" lIns="0" rIns="0" tIns="0" bIns="0">
            <a:spAutoFit/>
          </a:bodyPr>
          <a:lstStyle/>
          <a:p>
            <a:pPr algn="l">
              <a:lnSpc>
                <a:spcPct val="130000"/>
              </a:lnSpc>
            </a:pPr>
            <a:r>
              <a:rPr sz="1250" b="0" i="0">
                <a:solidFill>
                  <a:srgbClr val="222222"/>
                </a:solidFill>
                <a:latin typeface="Arial"/>
              </a:rPr>
              <a:t>Compañías de servicios a proyectos (ingeniería/instalaciones/mantenimiento) con márgenes EBITDA en el rango medio-teens y apalancamiento 2,0x–3,0x Deuda/EBITDA</a:t>
            </a:r>
          </a:p>
        </p:txBody>
      </p:sp>
      <p:sp>
        <p:nvSpPr>
          <p:cNvPr id="15" name="TextBox 14"/>
          <p:cNvSpPr txBox="1"/>
          <p:nvPr/>
        </p:nvSpPr>
        <p:spPr>
          <a:xfrm>
            <a:off x="713232" y="5532120"/>
            <a:ext cx="10762488" cy="228600"/>
          </a:xfrm>
          <a:prstGeom prst="rect">
            <a:avLst/>
          </a:prstGeom>
          <a:noFill/>
        </p:spPr>
        <p:txBody>
          <a:bodyPr wrap="square" anchor="t" lIns="0" rIns="0" tIns="0" bIns="0">
            <a:spAutoFit/>
          </a:bodyPr>
          <a:lstStyle/>
          <a:p>
            <a:pPr algn="l"/>
            <a:r>
              <a:rPr sz="1100" b="1" i="0">
                <a:solidFill>
                  <a:srgbClr val="5A6B7B"/>
                </a:solidFill>
                <a:latin typeface="Arial"/>
              </a:rPr>
              <a:t>ARGUMENTOS DE VALOR</a:t>
            </a:r>
          </a:p>
        </p:txBody>
      </p:sp>
      <p:sp>
        <p:nvSpPr>
          <p:cNvPr id="16" name="Rectangle 15"/>
          <p:cNvSpPr/>
          <p:nvPr/>
        </p:nvSpPr>
        <p:spPr>
          <a:xfrm>
            <a:off x="640080" y="5806440"/>
            <a:ext cx="3520440" cy="91440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 y="5943600"/>
            <a:ext cx="3118104" cy="566928"/>
          </a:xfrm>
          <a:prstGeom prst="rect">
            <a:avLst/>
          </a:prstGeom>
          <a:noFill/>
        </p:spPr>
        <p:txBody>
          <a:bodyPr wrap="square" anchor="ctr" lIns="0" rIns="0" tIns="0" bIns="0">
            <a:spAutoFit/>
          </a:bodyPr>
          <a:lstStyle/>
          <a:p>
            <a:pPr algn="l">
              <a:lnSpc>
                <a:spcPct val="115000"/>
              </a:lnSpc>
            </a:pPr>
            <a:r>
              <a:rPr sz="1150" b="0" i="0">
                <a:solidFill>
                  <a:srgbClr val="222222"/>
                </a:solidFill>
                <a:latin typeface="Arial"/>
              </a:rPr>
              <a:t>Estructura integral (circulante + avales + deuda) que acompaña el crecimiento sin penalizar el apalancamiento, alineando límites y covenants con la generación de EBITDA</a:t>
            </a:r>
          </a:p>
        </p:txBody>
      </p:sp>
      <p:sp>
        <p:nvSpPr>
          <p:cNvPr id="18" name="Rectangle 17"/>
          <p:cNvSpPr/>
          <p:nvPr/>
        </p:nvSpPr>
        <p:spPr>
          <a:xfrm>
            <a:off x="4434840" y="5806440"/>
            <a:ext cx="3520440" cy="91440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36008" y="5943600"/>
            <a:ext cx="3118104" cy="566928"/>
          </a:xfrm>
          <a:prstGeom prst="rect">
            <a:avLst/>
          </a:prstGeom>
          <a:noFill/>
        </p:spPr>
        <p:txBody>
          <a:bodyPr wrap="square" anchor="ctr" lIns="0" rIns="0" tIns="0" bIns="0">
            <a:spAutoFit/>
          </a:bodyPr>
          <a:lstStyle/>
          <a:p>
            <a:pPr algn="l">
              <a:lnSpc>
                <a:spcPct val="115000"/>
              </a:lnSpc>
            </a:pPr>
            <a:r>
              <a:rPr sz="1150" b="0" i="0">
                <a:solidFill>
                  <a:srgbClr val="222222"/>
                </a:solidFill>
                <a:latin typeface="Arial"/>
              </a:rPr>
              <a:t>Optimización de coste y calendario de deuda aprovechando la mejora de métricas (Deuda/EBITDA ~2,3x) y el historial bancario sin incidencias, con foco en resiliencia ante desaceleración</a:t>
            </a:r>
          </a:p>
        </p:txBody>
      </p:sp>
      <p:sp>
        <p:nvSpPr>
          <p:cNvPr id="20" name="Rectangle 19"/>
          <p:cNvSpPr/>
          <p:nvPr/>
        </p:nvSpPr>
        <p:spPr>
          <a:xfrm>
            <a:off x="8229600" y="5806440"/>
            <a:ext cx="3520440" cy="91440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8" y="5943600"/>
            <a:ext cx="3118104" cy="566928"/>
          </a:xfrm>
          <a:prstGeom prst="rect">
            <a:avLst/>
          </a:prstGeom>
          <a:noFill/>
        </p:spPr>
        <p:txBody>
          <a:bodyPr wrap="square" anchor="ctr" lIns="0" rIns="0" tIns="0" bIns="0">
            <a:spAutoFit/>
          </a:bodyPr>
          <a:lstStyle/>
          <a:p>
            <a:pPr algn="l">
              <a:lnSpc>
                <a:spcPct val="115000"/>
              </a:lnSpc>
            </a:pPr>
            <a:r>
              <a:rPr sz="1150" b="0" i="0">
                <a:solidFill>
                  <a:srgbClr val="222222"/>
                </a:solidFill>
                <a:latin typeface="Arial"/>
              </a:rPr>
              <a:t>Mejora operativa y de control financiero: paquete de reporting y seguimiento (circulante, cartera/pipeline, calendario de cobros/pagos) para anticipar tensiones de liquidez y dimensionar límites de forma eficiente</a:t>
            </a:r>
          </a:p>
        </p:txBody>
      </p:sp>
      <p:sp>
        <p:nvSpPr>
          <p:cNvPr id="22" name="TextBox 21"/>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417320"/>
            <a:ext cx="10762488" cy="640080"/>
          </a:xfrm>
          <a:prstGeom prst="rect">
            <a:avLst/>
          </a:prstGeom>
          <a:noFill/>
        </p:spPr>
        <p:txBody>
          <a:bodyPr wrap="square" anchor="t" lIns="0" rIns="0" tIns="0" bIns="0">
            <a:spAutoFit/>
          </a:bodyPr>
          <a:lstStyle/>
          <a:p>
            <a:pPr algn="l"/>
            <a:r>
              <a:rPr sz="3400" b="1" i="0">
                <a:solidFill>
                  <a:srgbClr val="FF6600"/>
                </a:solidFill>
                <a:latin typeface="Arial"/>
              </a:rPr>
              <a:t>Next steps</a:t>
            </a:r>
          </a:p>
        </p:txBody>
      </p:sp>
      <p:sp>
        <p:nvSpPr>
          <p:cNvPr id="6" name="TextBox 5"/>
          <p:cNvSpPr txBox="1"/>
          <p:nvPr/>
        </p:nvSpPr>
        <p:spPr>
          <a:xfrm>
            <a:off x="713232" y="1993392"/>
            <a:ext cx="9784080" cy="640080"/>
          </a:xfrm>
          <a:prstGeom prst="rect">
            <a:avLst/>
          </a:prstGeom>
          <a:noFill/>
        </p:spPr>
        <p:txBody>
          <a:bodyPr wrap="square" anchor="t" lIns="0" rIns="0" tIns="0" bIns="0">
            <a:spAutoFit/>
          </a:bodyPr>
          <a:lstStyle/>
          <a:p>
            <a:pPr algn="l">
              <a:lnSpc>
                <a:spcPct val="130000"/>
              </a:lnSpc>
            </a:pPr>
            <a:r>
              <a:rPr sz="1500" b="0" i="0">
                <a:solidFill>
                  <a:srgbClr val="5A6B7B"/>
                </a:solidFill>
                <a:latin typeface="Arial"/>
              </a:rPr>
              <a:t>El equipo comercial revisa, ajusta y personaliza esta propuesta antes de cualquier interacción con el cliente.</a:t>
            </a:r>
          </a:p>
        </p:txBody>
      </p:sp>
      <p:sp>
        <p:nvSpPr>
          <p:cNvPr id="7" name="TextBox 6"/>
          <p:cNvSpPr txBox="1"/>
          <p:nvPr/>
        </p:nvSpPr>
        <p:spPr>
          <a:xfrm>
            <a:off x="713232" y="2743200"/>
            <a:ext cx="274320" cy="274320"/>
          </a:xfrm>
          <a:prstGeom prst="rect">
            <a:avLst/>
          </a:prstGeom>
          <a:noFill/>
        </p:spPr>
        <p:txBody>
          <a:bodyPr wrap="square" anchor="t" lIns="0" rIns="0" tIns="0" bIns="0">
            <a:spAutoFit/>
          </a:bodyPr>
          <a:lstStyle/>
          <a:p>
            <a:pPr algn="l"/>
            <a:r>
              <a:rPr sz="1700" b="1" i="0">
                <a:solidFill>
                  <a:srgbClr val="FF6600"/>
                </a:solidFill>
                <a:latin typeface="Arial"/>
              </a:rPr>
              <a:t>1.</a:t>
            </a:r>
          </a:p>
        </p:txBody>
      </p:sp>
      <p:sp>
        <p:nvSpPr>
          <p:cNvPr id="8" name="TextBox 7"/>
          <p:cNvSpPr txBox="1"/>
          <p:nvPr/>
        </p:nvSpPr>
        <p:spPr>
          <a:xfrm>
            <a:off x="1060704" y="2743200"/>
            <a:ext cx="9619488" cy="457200"/>
          </a:xfrm>
          <a:prstGeom prst="rect">
            <a:avLst/>
          </a:prstGeom>
          <a:noFill/>
        </p:spPr>
        <p:txBody>
          <a:bodyPr wrap="square" anchor="t" lIns="0" rIns="0" tIns="0" bIns="0">
            <a:spAutoFit/>
          </a:bodyPr>
          <a:lstStyle/>
          <a:p>
            <a:pPr algn="l">
              <a:lnSpc>
                <a:spcPct val="120000"/>
              </a:lnSpc>
            </a:pPr>
            <a:r>
              <a:rPr sz="1700" b="0" i="0">
                <a:solidFill>
                  <a:srgbClr val="222222"/>
                </a:solidFill>
                <a:latin typeface="Arial"/>
              </a:rPr>
              <a:t>Recopilar información clave (últimos estados financieros completos, detalle de deuda por entidad/vencimiento/coste, covenants, y desglose de circulante: clientes, proveedores, obra en curso, anticipos)</a:t>
            </a:r>
          </a:p>
        </p:txBody>
      </p:sp>
      <p:sp>
        <p:nvSpPr>
          <p:cNvPr id="9" name="TextBox 8"/>
          <p:cNvSpPr txBox="1"/>
          <p:nvPr/>
        </p:nvSpPr>
        <p:spPr>
          <a:xfrm>
            <a:off x="713232" y="3584448"/>
            <a:ext cx="274320" cy="274320"/>
          </a:xfrm>
          <a:prstGeom prst="rect">
            <a:avLst/>
          </a:prstGeom>
          <a:noFill/>
        </p:spPr>
        <p:txBody>
          <a:bodyPr wrap="square" anchor="t" lIns="0" rIns="0" tIns="0" bIns="0">
            <a:spAutoFit/>
          </a:bodyPr>
          <a:lstStyle/>
          <a:p>
            <a:pPr algn="l"/>
            <a:r>
              <a:rPr sz="1700" b="1" i="0">
                <a:solidFill>
                  <a:srgbClr val="FF6600"/>
                </a:solidFill>
                <a:latin typeface="Arial"/>
              </a:rPr>
              <a:t>2.</a:t>
            </a:r>
          </a:p>
        </p:txBody>
      </p:sp>
      <p:sp>
        <p:nvSpPr>
          <p:cNvPr id="10" name="TextBox 9"/>
          <p:cNvSpPr txBox="1"/>
          <p:nvPr/>
        </p:nvSpPr>
        <p:spPr>
          <a:xfrm>
            <a:off x="1060704" y="3584448"/>
            <a:ext cx="9619488" cy="457200"/>
          </a:xfrm>
          <a:prstGeom prst="rect">
            <a:avLst/>
          </a:prstGeom>
          <a:noFill/>
        </p:spPr>
        <p:txBody>
          <a:bodyPr wrap="square" anchor="t" lIns="0" rIns="0" tIns="0" bIns="0">
            <a:spAutoFit/>
          </a:bodyPr>
          <a:lstStyle/>
          <a:p>
            <a:pPr algn="l">
              <a:lnSpc>
                <a:spcPct val="120000"/>
              </a:lnSpc>
            </a:pPr>
            <a:r>
              <a:rPr sz="1700" b="0" i="0">
                <a:solidFill>
                  <a:srgbClr val="222222"/>
                </a:solidFill>
                <a:latin typeface="Arial"/>
              </a:rPr>
              <a:t>Entender el plan 2025: pipeline de proyectos, mix de contratos, necesidades de avales por tipología, estacionalidad y política de cobros/pagos; confirmar CAPEX y calendario</a:t>
            </a:r>
          </a:p>
        </p:txBody>
      </p:sp>
      <p:sp>
        <p:nvSpPr>
          <p:cNvPr id="11" name="TextBox 10"/>
          <p:cNvSpPr txBox="1"/>
          <p:nvPr/>
        </p:nvSpPr>
        <p:spPr>
          <a:xfrm>
            <a:off x="713232" y="4425696"/>
            <a:ext cx="274320" cy="274320"/>
          </a:xfrm>
          <a:prstGeom prst="rect">
            <a:avLst/>
          </a:prstGeom>
          <a:noFill/>
        </p:spPr>
        <p:txBody>
          <a:bodyPr wrap="square" anchor="t" lIns="0" rIns="0" tIns="0" bIns="0">
            <a:spAutoFit/>
          </a:bodyPr>
          <a:lstStyle/>
          <a:p>
            <a:pPr algn="l"/>
            <a:r>
              <a:rPr sz="1700" b="1" i="0">
                <a:solidFill>
                  <a:srgbClr val="FF6600"/>
                </a:solidFill>
                <a:latin typeface="Arial"/>
              </a:rPr>
              <a:t>3.</a:t>
            </a:r>
          </a:p>
        </p:txBody>
      </p:sp>
      <p:sp>
        <p:nvSpPr>
          <p:cNvPr id="12" name="TextBox 11"/>
          <p:cNvSpPr txBox="1"/>
          <p:nvPr/>
        </p:nvSpPr>
        <p:spPr>
          <a:xfrm>
            <a:off x="1060704" y="4425696"/>
            <a:ext cx="9619488" cy="457200"/>
          </a:xfrm>
          <a:prstGeom prst="rect">
            <a:avLst/>
          </a:prstGeom>
          <a:noFill/>
        </p:spPr>
        <p:txBody>
          <a:bodyPr wrap="square" anchor="t" lIns="0" rIns="0" tIns="0" bIns="0">
            <a:spAutoFit/>
          </a:bodyPr>
          <a:lstStyle/>
          <a:p>
            <a:pPr algn="l">
              <a:lnSpc>
                <a:spcPct val="120000"/>
              </a:lnSpc>
            </a:pPr>
            <a:r>
              <a:rPr sz="1700" b="0" i="0">
                <a:solidFill>
                  <a:srgbClr val="222222"/>
                </a:solidFill>
                <a:latin typeface="Arial"/>
              </a:rPr>
              <a:t>Diseñar y presentar una propuesta indicativa: (i) límite de circulante, (ii) línea de avales, (iii) alternativa de refinanciación/reperfilado; incluir escenarios de sensibilidad (crecimiento y margen) y métricas objetivo (Deuda/EBITDA, cobertura de intereses)</a:t>
            </a:r>
          </a:p>
        </p:txBody>
      </p:sp>
      <p:sp>
        <p:nvSpPr>
          <p:cNvPr id="13" name="TextBox 12"/>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
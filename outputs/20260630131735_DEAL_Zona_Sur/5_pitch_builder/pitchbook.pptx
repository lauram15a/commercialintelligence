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234440"/>
            <a:ext cx="2011680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l"/>
            <a:r>
              <a:rPr sz="1100" b="1">
                <a:solidFill>
                  <a:srgbClr val="FF6600"/>
                </a:solidFill>
                <a:latin typeface="Arial"/>
              </a:rPr>
              <a:t>SUR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71422"/>
            <a:ext cx="201168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057400"/>
            <a:ext cx="8686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600" b="1" i="0">
                <a:solidFill>
                  <a:srgbClr val="222222"/>
                </a:solidFill>
                <a:latin typeface="Arial"/>
              </a:rPr>
              <a:t>Propuesta comercial | Captación de autónomo con migración de banco principal y solución de liquidez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069080"/>
            <a:ext cx="93268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5A6B7B"/>
                </a:solidFill>
                <a:latin typeface="Arial"/>
              </a:rPr>
              <a:t>Migrar la operativa diaria a una cuenta principal digital y complementar con un esquema de liquidez flexible para cubrir baches de tesorería por estacionalidad.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OPORTUNIDAD DETECTADA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6400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Javier Romero Pardo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24028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222222"/>
                </a:solidFill>
                <a:latin typeface="Arial"/>
              </a:rPr>
              <a:t>Javier Romero Pardo (autónomo) es un prospecto con prioridad alta para sustituir su entidad principal, motivado por rapidez y digitalización. Con ingresos anuales estimados de ~47.000 EUR y un patrón estacional, es probable que experimente baches puntuales de caja (impuestos, pagos a proveedores, meses de menor facturación). La ventana es inmediata: si se ofrece una migración simple de operativa diaria + una solución de liquidez dimensionada a su ciclo de cobros/pagos, se puede capturar la vinculación principal y aumentar recurrencia.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525780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PRÓXIMA ACCIÓN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59552"/>
            <a:ext cx="6400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FF6600"/>
                </a:solidFill>
                <a:latin typeface="Arial"/>
              </a:rPr>
              <a:t>En 48–72h: solicitar documentación mínima para diagnóstico (extractos 6–12 meses, calendario de impuestos, principales pagos recurrentes, facturación mensual aproximada y cualquier deuda vigente). Responsable: gestor comercial.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18120" y="1627632"/>
            <a:ext cx="3657600" cy="44805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874519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EN UNA CIFRA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2240280"/>
            <a:ext cx="2926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6600"/>
                </a:solidFill>
                <a:latin typeface="Arial"/>
              </a:rPr>
              <a:t>~47.000 EUR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063240"/>
            <a:ext cx="2926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anuales estimados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3840480"/>
            <a:ext cx="2926080" cy="1270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00507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SECTOR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4279392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22222"/>
                </a:solidFill>
                <a:latin typeface="Arial"/>
              </a:rPr>
              <a:t>Sur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828032"/>
            <a:ext cx="292608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PRIORIDAD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5102352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F6600"/>
                </a:solidFill>
                <a:latin typeface="Arial"/>
              </a:rPr>
              <a:t>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CONTEXTO FINANCIERO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Lo que dicen los números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~47.000 EUR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Ingresos anuales estimados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~18.000 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Ahorro líquido estimado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2240280"/>
            <a:ext cx="3520440" cy="210312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85632" y="2487168"/>
            <a:ext cx="3008376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6600"/>
                </a:solidFill>
                <a:latin typeface="Arial"/>
              </a:rPr>
              <a:t>~22.000 EUR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85632" y="3611880"/>
            <a:ext cx="3008376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7B"/>
                </a:solidFill>
                <a:latin typeface="Arial"/>
              </a:rPr>
              <a:t>Patrimonio invertible estimado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4800600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TENDENCIAS ESTRUCTURALES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5102352"/>
            <a:ext cx="521208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Patrón estacional de ingresos que sugiere variabilidad intraanual y posibles caídas puntuales de caja.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Ausencia de información de costes/márgenes y CAPEX, lo que impide evaluar rentabilidad y estrategia de inversión/expansión.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No se reportan datos de endeudamiento ni productos financieros activos, por lo que no puede inferirse apalancamiento ni estructura de financiación actual.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Interés en cambiar de entidad por rapidez/digitalización, lo que sugiere una oportunidad comercial de captación.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800600"/>
            <a:ext cx="5212080" cy="164592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983480"/>
            <a:ext cx="46634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INTERPRETACIÓN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5285232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222222"/>
                </a:solidFill>
                <a:latin typeface="Arial"/>
              </a:rPr>
              <a:t>Con los datos disponibles, el perfil apunta a un autónomo con nivel de ingresos moderado y cierta base de liquidez/patrimonio, pero potencialmente expuesto a tensiones de tesorería por estacionalidad. La falta de visibilidad sobre márgenes, gastos, impuestos, CAPEX y deuda limita el diagnóstico de capacidad de servicio de deuda y necesidades de financiación de medio plazo. Para dimensionar una solución (póliza de crédito, confirming/anticipo, cuenta remunerada o herramientas de cash management) harían falta series mensuales de cobros/pagos, estructura de costes y cualquier pasivo financiero vigente.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BRIEFING DE CLIENTE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Perfil y situación actual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148840"/>
            <a:ext cx="10762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222222"/>
                </a:solidFill>
                <a:latin typeface="Arial"/>
              </a:rPr>
              <a:t>Javier Romero Pardo es un autónomo con ingresos anuales estimados de ~47.000 EUR y un patrón de facturación estacional que sugiere variabilidad de caja durante el año. Presenta un ahorro líquido estimado de ~18.000 EUR y un patrimonio invertible de ~22.000 EUR, lo que indica una base financiera moderada y potencial interés por optimizar su operativa bancaria.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2834640"/>
            <a:ext cx="1076248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B7B"/>
                </a:solidFill>
                <a:latin typeface="Arial"/>
              </a:rPr>
              <a:t>Es un prospecto no cliente en fase de captación, con una oportunidad prioritaria para sustituir su entidad principal mediante una propuesta de liquidez y operativa diaria. Las señales apuntan a posibles tensiones puntuales de tesorería por estacionalidad y a una motivación clara por rapidez/digitalización, lo que abre una ventana para migrar su operativa y vinculación.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NECESIDADES POTENCIALES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Gestión de tesorería y liquidez para cubrir baches intraanuales: estructurar un colchón operativo y/o una línea de circulante de pequeña escala alineada con ingresos anuales (~47.000 EUR) y liquidez disponible (~18.000 EUR).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Sustitución de banco principal con foco en operativa diaria digital: cuenta principal, pagos/impuestos, transferencias inmediatas y herramientas de control de cobros/pagos para reducir fricción operativa.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Optimización del excedente: propuesta simple para rentabilizar parte del ahorro líquido (~18.000 EUR) y/o el patrimonio invertible (~22.000 EUR) manteniendo disponibilidad para picos de circulante.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Diagnóstico financiero básico para dimensionar soluciones: recopilación de series mensuales de cobros/pagos y estructura de gastos/impuestos para estimar necesidades de circulante y capacidad de servicio si se plantea financiación.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703320"/>
            <a:ext cx="5349240" cy="269748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977639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6600"/>
                </a:solidFill>
                <a:latin typeface="Arial"/>
              </a:rPr>
              <a:t>RIESGOS Y PUNTOS DE ATENCIÓN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07408"/>
            <a:ext cx="47548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Información financiera incompleta (sin costes/márgenes, CAPEX ni deuda): riesgo de sobredimensionar o infradimensionar una solución de financiación y de no ajustar límites/condiciones a la realidad del negocio.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Estacionalidad con posibles caídas puntuales de caja: riesgo de impagos o tensiones de liquidez si no existe financiación puente o planificación de tesorería.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Base patrimonial moderada para absorber shocks (líquido ~18.000 EUR): riesgo de que un evento puntual (impuestos, caída de ingresos, gasto extraordinario) reduzca el colchón y afecte la operativa.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>
                <a:solidFill>
                  <a:srgbClr val="222222"/>
                </a:solidFill>
                <a:latin typeface="Arial"/>
              </a:rPr>
              <a:t>• Oportunidad competitiva: si otra entidad ofrece mejor experiencia digital/rapidez, se puede perder la captación pese al interés inicial.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05840"/>
            <a:ext cx="59436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6600"/>
                </a:solidFill>
                <a:latin typeface="Arial"/>
              </a:rPr>
              <a:t>ENCAJE Y COMPARABLES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353312"/>
            <a:ext cx="1828800" cy="1905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107624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222222"/>
                </a:solidFill>
                <a:latin typeface="Arial"/>
              </a:rPr>
              <a:t>Cómo podemos ayudar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6400800" cy="288036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50592"/>
            <a:ext cx="5852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ENCAJE CON PRODUCTOS DEL BANCO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16352"/>
            <a:ext cx="566928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Cuenta de autónomos / cuenta principal con operativa digital (transferencias inmediatas, domiciliaciones, pagos de impuestos, tarjetas): encaja para sustituir la entidad principal y concentrar cobros/pagos con una experiencia más ágil.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Línea de circulante flexible (póliza de crédito o línea de liquidez) de pequeña escala: encaja para cubrir baches estacionales sin descapitalizar el ahorro líquido; el límite se definiría tras revisar 6–12 meses de movimientos.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Anticipo de facturas / descuento comercial (si factura a clientes con plazos): encaja para acelerar cobros en meses valle y reducir tensión de tesorería sin aumentar estructura fija.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50">
                <a:solidFill>
                  <a:srgbClr val="222222"/>
                </a:solidFill>
                <a:latin typeface="Arial"/>
              </a:rPr>
              <a:t>• Cuenta remunerada / depósito a corto plazo para excedentes: encaja para rentabilizar una parte del saldo manteniendo un mínimo operativo disponible para pagos e impuestos.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2194560"/>
            <a:ext cx="4160520" cy="3200400"/>
          </a:xfrm>
          <a:prstGeom prst="rect">
            <a:avLst/>
          </a:prstGeom>
          <a:solidFill>
            <a:srgbClr val="F5F5F5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450592"/>
            <a:ext cx="35661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F6600"/>
                </a:solidFill>
                <a:latin typeface="Arial"/>
              </a:rPr>
              <a:t>COMPARABLES SECTORIALES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9248" y="297180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Referencia de mercado (autónomos con facturación 40–60k EUR/año): suelen presentar picos de necesidad de liquidez ligados a IVA/IRPF y estacionalidad; solución típica = cuenta principal + línea flexible de circulante.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9248" y="4251960"/>
            <a:ext cx="3566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 i="0">
                <a:solidFill>
                  <a:srgbClr val="222222"/>
                </a:solidFill>
                <a:latin typeface="Arial"/>
              </a:rPr>
              <a:t>Referencia sectorial (servicios/actividad estacional en el Sur): patrón frecuente de concentración de cobros en determinados meses y pagos/impuestos en ventanas fijas; recomendación estándar = planificación de tesorería + colchón mínimo + financiación puente.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5532120"/>
            <a:ext cx="10762488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5A6B7B"/>
                </a:solidFill>
                <a:latin typeface="Arial"/>
              </a:rPr>
              <a:t>ARGUMENTOS DE VALOR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Captación por fricción cero: propuesta de migración en 2 fases (operativa diaria primero, liquidez después) para cambiar de banco principal sin interrumpir cobros/pagos.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600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Liquidez diseñada al ciclo real: dimensionamiento basado en calendario de impuestos y serie mensual de movimientos (6–12 meses), evitando sobredimensionar límites y optimizando coste financiero.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5806440"/>
            <a:ext cx="3520440" cy="914400"/>
          </a:xfrm>
          <a:prstGeom prst="rect">
            <a:avLst/>
          </a:prstGeom>
          <a:solidFill>
            <a:srgbClr val="FFFFFF"/>
          </a:solidFill>
          <a:ln w="1016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5943600"/>
            <a:ext cx="311810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222222"/>
                </a:solidFill>
                <a:latin typeface="Arial"/>
              </a:rPr>
              <a:t>Mejora de control y previsión: herramientas de seguimiento de cobros/pagos y alertas de saldo para anticipar baches y reducir incidencias (devoluciones, recargos, retrasos).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arangran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56032"/>
            <a:ext cx="2272986" cy="38404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13232" y="804672"/>
            <a:ext cx="10762488" cy="19050"/>
          </a:xfrm>
          <a:prstGeom prst="rect">
            <a:avLst/>
          </a:prstGeom>
          <a:solidFill>
            <a:srgbClr val="E6E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17320"/>
            <a:ext cx="1076248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6600"/>
                </a:solidFill>
                <a:latin typeface="Arial"/>
              </a:rP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97840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B7B"/>
                </a:solidFill>
                <a:latin typeface="Arial"/>
              </a:rPr>
              <a:t>El equipo comercial revisa, ajusta y personaliza esta propuesta antes de cualquier interacción con el cliente.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743200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1.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" y="2743200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48–72h: solicitar documentación mínima para diagnóstico (extractos 6–12 meses, calendario de impuestos, principales pagos recurrentes, facturación mensual aproximada y cualquier deuda vigente). Responsable: gestor comercial.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584448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" y="3584448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5 días laborables: entregar propuesta cerrada de cuenta principal + paquete de operativa diaria (domiciliaciones, impuestos, tarjetas, transferencias) y plan de migración (checklist de cambios). Responsable: gestor comercial + soporte de onboarding.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4425696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4425696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En 7–10 días laborables: presentar preoferta de liquidez (póliza/línea flexible y/o anticipo de facturas) con rango de límite y condiciones sujeto a verificación de movimientos. Responsable: riesgos/negocio.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266944"/>
            <a:ext cx="274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FF6600"/>
                </a:solidFill>
                <a:latin typeface="Arial"/>
              </a:rPr>
              <a:t>4.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" y="5266944"/>
            <a:ext cx="96194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222222"/>
                </a:solidFill>
                <a:latin typeface="Arial"/>
              </a:rPr>
              <a:t>Tras 30 días de operativa: revisión de saldos y estacionalidad observada para ajustar límites, definir saldo mínimo operativo y activar rentabilización del excedente (si aplica). Responsable: gestor comercial.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6400800"/>
            <a:ext cx="8229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8A96A3"/>
                </a:solidFill>
                <a:latin typeface="Arial"/>
              </a:rPr>
              <a:t>Corporate &amp; Deal Intelligence  ·  Documento de uso interno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
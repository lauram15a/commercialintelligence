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097280"/>
            <a:ext cx="3840480" cy="3840480"/>
          </a:xfrm>
          <a:prstGeom prst="ellipse">
            <a:avLst/>
          </a:prstGeom>
          <a:solidFill>
            <a:srgbClr val="2E40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206240"/>
            <a:ext cx="2377440" cy="237744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640080"/>
            <a:ext cx="18288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INMOBILIARIO</a:t>
            </a:r>
          </a:p>
        </p:txBody>
      </p:sp>
      <p:sp>
        <p:nvSpPr>
          <p:cNvPr id="6" name="TextBox 5"/>
          <p:cNvSpPr txBox="1"/>
          <p:nvPr/>
        </p:nvSpPr>
        <p:spPr>
          <a:xfrm>
            <a:off x="640080" y="2286000"/>
            <a:ext cx="10515600" cy="2194560"/>
          </a:xfrm>
          <a:prstGeom prst="rect">
            <a:avLst/>
          </a:prstGeom>
          <a:noFill/>
        </p:spPr>
        <p:txBody>
          <a:bodyPr wrap="square" anchor="t" lIns="0" rIns="0" tIns="0" bIns="0">
            <a:spAutoFit/>
          </a:bodyPr>
          <a:lstStyle/>
          <a:p>
            <a:pPr algn="l">
              <a:lnSpc>
                <a:spcPct val="108000"/>
              </a:lnSpc>
            </a:pPr>
            <a:r>
              <a:rPr sz="3200" b="1" i="0">
                <a:solidFill>
                  <a:srgbClr val="FFFFFF"/>
                </a:solidFill>
                <a:latin typeface="Cambria"/>
              </a:rPr>
              <a:t>Propuesta comercial | Financiación promotor para Promotora Levante Residencial SL</a:t>
            </a:r>
          </a:p>
        </p:txBody>
      </p:sp>
      <p:sp>
        <p:nvSpPr>
          <p:cNvPr id="7" name="TextBox 6"/>
          <p:cNvSpPr txBox="1"/>
          <p:nvPr/>
        </p:nvSpPr>
        <p:spPr>
          <a:xfrm>
            <a:off x="640080" y="4480560"/>
            <a:ext cx="9875520" cy="914400"/>
          </a:xfrm>
          <a:prstGeom prst="rect">
            <a:avLst/>
          </a:prstGeom>
          <a:noFill/>
        </p:spPr>
        <p:txBody>
          <a:bodyPr wrap="square" anchor="t" lIns="0" rIns="0" tIns="0" bIns="0">
            <a:spAutoFit/>
          </a:bodyPr>
          <a:lstStyle/>
          <a:p>
            <a:pPr algn="l">
              <a:lnSpc>
                <a:spcPct val="125000"/>
              </a:lnSpc>
            </a:pPr>
            <a:r>
              <a:rPr sz="1800" b="0" i="1">
                <a:solidFill>
                  <a:srgbClr val="C9D2E6"/>
                </a:solidFill>
                <a:latin typeface="Calibri"/>
              </a:rPr>
              <a:t>Estructuración y aseguramiento de deuda de proyecto para 2 promociones de obra nueva en 2025 en una ventana inmediata de originación</a:t>
            </a:r>
          </a:p>
        </p:txBody>
      </p:sp>
      <p:sp>
        <p:nvSpPr>
          <p:cNvPr id="8" name="TextBox 7"/>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OPORTUNIDAD DETECTADA</a:t>
            </a:r>
          </a:p>
        </p:txBody>
      </p:sp>
      <p:sp>
        <p:nvSpPr>
          <p:cNvPr id="5" name="TextBox 4"/>
          <p:cNvSpPr txBox="1"/>
          <p:nvPr/>
        </p:nvSpPr>
        <p:spPr>
          <a:xfrm>
            <a:off x="640080" y="1371600"/>
            <a:ext cx="6858000" cy="822960"/>
          </a:xfrm>
          <a:prstGeom prst="rect">
            <a:avLst/>
          </a:prstGeom>
          <a:noFill/>
        </p:spPr>
        <p:txBody>
          <a:bodyPr wrap="square" anchor="t" lIns="0" rIns="0" tIns="0" bIns="0">
            <a:spAutoFit/>
          </a:bodyPr>
          <a:lstStyle/>
          <a:p>
            <a:pPr algn="l"/>
            <a:r>
              <a:rPr sz="2800" b="1" i="0">
                <a:solidFill>
                  <a:srgbClr val="222A39"/>
                </a:solidFill>
                <a:latin typeface="Cambria"/>
              </a:rPr>
              <a:t>Promotora Levante Residencial SL</a:t>
            </a:r>
          </a:p>
        </p:txBody>
      </p:sp>
      <p:sp>
        <p:nvSpPr>
          <p:cNvPr id="6" name="TextBox 5"/>
          <p:cNvSpPr txBox="1"/>
          <p:nvPr/>
        </p:nvSpPr>
        <p:spPr>
          <a:xfrm>
            <a:off x="640080" y="2148840"/>
            <a:ext cx="6858000" cy="2468880"/>
          </a:xfrm>
          <a:prstGeom prst="rect">
            <a:avLst/>
          </a:prstGeom>
          <a:noFill/>
        </p:spPr>
        <p:txBody>
          <a:bodyPr wrap="square" anchor="t" lIns="0" rIns="0" tIns="0" bIns="0">
            <a:spAutoFit/>
          </a:bodyPr>
          <a:lstStyle/>
          <a:p>
            <a:pPr algn="l">
              <a:lnSpc>
                <a:spcPct val="135000"/>
              </a:lnSpc>
            </a:pPr>
            <a:r>
              <a:rPr sz="1500" b="0" i="0">
                <a:solidFill>
                  <a:srgbClr val="222A39"/>
                </a:solidFill>
                <a:latin typeface="Calibri"/>
              </a:rPr>
              <a:t>La compañía prevé el lanzamiento de dos promociones de obra nueva en 2025 y ha manifestado una necesidad explícita de financiación promotor, contactando activamente con entidades. Esto sugiere un proceso competitivo en curso y una ventana inmediata para presentar una propuesta de financiación de proyecto. Con la información disponible (ingresos estimados ~18,0 M€), la prioridad es avanzar rápido con una pre-propuesta sujeta a información mínima de crédito y a la due diligence del proyecto.</a:t>
            </a:r>
          </a:p>
        </p:txBody>
      </p:sp>
      <p:sp>
        <p:nvSpPr>
          <p:cNvPr id="7" name="TextBox 6"/>
          <p:cNvSpPr txBox="1"/>
          <p:nvPr/>
        </p:nvSpPr>
        <p:spPr>
          <a:xfrm>
            <a:off x="640080" y="5212080"/>
            <a:ext cx="6858000" cy="365760"/>
          </a:xfrm>
          <a:prstGeom prst="rect">
            <a:avLst/>
          </a:prstGeom>
          <a:noFill/>
        </p:spPr>
        <p:txBody>
          <a:bodyPr wrap="square" anchor="t" lIns="0" rIns="0" tIns="0" bIns="0">
            <a:spAutoFit/>
          </a:bodyPr>
          <a:lstStyle/>
          <a:p>
            <a:pPr algn="l"/>
            <a:r>
              <a:rPr sz="1100" b="1" i="0">
                <a:solidFill>
                  <a:srgbClr val="6B7385"/>
                </a:solidFill>
                <a:latin typeface="Calibri"/>
              </a:rPr>
              <a:t>PRÓXIMA ACCIÓN</a:t>
            </a:r>
          </a:p>
        </p:txBody>
      </p:sp>
      <p:sp>
        <p:nvSpPr>
          <p:cNvPr id="8" name="TextBox 7"/>
          <p:cNvSpPr txBox="1"/>
          <p:nvPr/>
        </p:nvSpPr>
        <p:spPr>
          <a:xfrm>
            <a:off x="640080" y="5532120"/>
            <a:ext cx="6858000" cy="914400"/>
          </a:xfrm>
          <a:prstGeom prst="rect">
            <a:avLst/>
          </a:prstGeom>
          <a:noFill/>
        </p:spPr>
        <p:txBody>
          <a:bodyPr wrap="square" anchor="t" lIns="0" rIns="0" tIns="0" bIns="0">
            <a:spAutoFit/>
          </a:bodyPr>
          <a:lstStyle/>
          <a:p>
            <a:pPr algn="l">
              <a:lnSpc>
                <a:spcPct val="125000"/>
              </a:lnSpc>
            </a:pPr>
            <a:r>
              <a:rPr sz="1400" b="0" i="1">
                <a:solidFill>
                  <a:srgbClr val="1B2A4A"/>
                </a:solidFill>
                <a:latin typeface="Calibri"/>
              </a:rPr>
              <a:t>Reunión de 45–60 minutos para confirmar alcance y calendario de las 2 promociones (ubicación, tipología, unidades, precios objetivo, plan de ventas, hitos de licencias y obra) y dimensionar necesidades de caja por fase.</a:t>
            </a:r>
          </a:p>
        </p:txBody>
      </p:sp>
      <p:sp>
        <p:nvSpPr>
          <p:cNvPr id="9" name="Rounded Rectangle 8"/>
          <p:cNvSpPr/>
          <p:nvPr/>
        </p:nvSpPr>
        <p:spPr>
          <a:xfrm>
            <a:off x="7863840" y="1371600"/>
            <a:ext cx="3657600" cy="484632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
          </a:xfrm>
          <a:prstGeom prst="rect">
            <a:avLst/>
          </a:prstGeom>
          <a:noFill/>
        </p:spPr>
        <p:txBody>
          <a:bodyPr wrap="square" anchor="t" lIns="0" rIns="0" tIns="0" bIns="0">
            <a:spAutoFit/>
          </a:bodyPr>
          <a:lstStyle/>
          <a:p>
            <a:pPr algn="l"/>
            <a:r>
              <a:rPr sz="1100" b="1" i="0">
                <a:solidFill>
                  <a:srgbClr val="6B7385"/>
                </a:solidFill>
                <a:latin typeface="Calibri"/>
              </a:rPr>
              <a:t>EN UNA CIFRA</a:t>
            </a:r>
          </a:p>
        </p:txBody>
      </p:sp>
      <p:sp>
        <p:nvSpPr>
          <p:cNvPr id="11" name="TextBox 10"/>
          <p:cNvSpPr txBox="1"/>
          <p:nvPr/>
        </p:nvSpPr>
        <p:spPr>
          <a:xfrm>
            <a:off x="8229600" y="2057400"/>
            <a:ext cx="3017520" cy="914400"/>
          </a:xfrm>
          <a:prstGeom prst="rect">
            <a:avLst/>
          </a:prstGeom>
          <a:noFill/>
        </p:spPr>
        <p:txBody>
          <a:bodyPr wrap="square" anchor="t" lIns="0" rIns="0" tIns="0" bIns="0">
            <a:spAutoFit/>
          </a:bodyPr>
          <a:lstStyle/>
          <a:p>
            <a:pPr algn="l">
              <a:lnSpc>
                <a:spcPct val="100000"/>
              </a:lnSpc>
            </a:pPr>
            <a:r>
              <a:rPr sz="4800" b="1" i="0">
                <a:solidFill>
                  <a:srgbClr val="C97B4A"/>
                </a:solidFill>
                <a:latin typeface="Cambria"/>
              </a:rPr>
              <a:t>~18,0 M€</a:t>
            </a:r>
          </a:p>
        </p:txBody>
      </p:sp>
      <p:sp>
        <p:nvSpPr>
          <p:cNvPr id="12" name="TextBox 11"/>
          <p:cNvSpPr txBox="1"/>
          <p:nvPr/>
        </p:nvSpPr>
        <p:spPr>
          <a:xfrm>
            <a:off x="8229600" y="3063240"/>
            <a:ext cx="3017520" cy="731520"/>
          </a:xfrm>
          <a:prstGeom prst="rect">
            <a:avLst/>
          </a:prstGeom>
          <a:noFill/>
        </p:spPr>
        <p:txBody>
          <a:bodyPr wrap="square" anchor="t" lIns="0" rIns="0" tIns="0" bIns="0">
            <a:spAutoFit/>
          </a:bodyPr>
          <a:lstStyle/>
          <a:p>
            <a:pPr algn="l">
              <a:lnSpc>
                <a:spcPct val="120000"/>
              </a:lnSpc>
            </a:pPr>
            <a:r>
              <a:rPr sz="1300" b="0" i="0">
                <a:solidFill>
                  <a:srgbClr val="6B7385"/>
                </a:solidFill>
                <a:latin typeface="Calibri"/>
              </a:rPr>
              <a:t>Ingresos estimados</a:t>
            </a:r>
          </a:p>
        </p:txBody>
      </p:sp>
      <p:sp>
        <p:nvSpPr>
          <p:cNvPr id="13" name="TextBox 12"/>
          <p:cNvSpPr txBox="1"/>
          <p:nvPr/>
        </p:nvSpPr>
        <p:spPr>
          <a:xfrm>
            <a:off x="8229600" y="4023360"/>
            <a:ext cx="3017520" cy="365760"/>
          </a:xfrm>
          <a:prstGeom prst="rect">
            <a:avLst/>
          </a:prstGeom>
          <a:noFill/>
        </p:spPr>
        <p:txBody>
          <a:bodyPr wrap="square" anchor="t" lIns="0" rIns="0" tIns="0" bIns="0">
            <a:spAutoFit/>
          </a:bodyPr>
          <a:lstStyle/>
          <a:p>
            <a:pPr algn="l"/>
            <a:r>
              <a:rPr sz="1100" b="1" i="0">
                <a:solidFill>
                  <a:srgbClr val="6B7385"/>
                </a:solidFill>
                <a:latin typeface="Calibri"/>
              </a:rPr>
              <a:t>SECTOR</a:t>
            </a:r>
          </a:p>
        </p:txBody>
      </p:sp>
      <p:sp>
        <p:nvSpPr>
          <p:cNvPr id="14" name="TextBox 13"/>
          <p:cNvSpPr txBox="1"/>
          <p:nvPr/>
        </p:nvSpPr>
        <p:spPr>
          <a:xfrm>
            <a:off x="8229600" y="4297680"/>
            <a:ext cx="3017520" cy="457200"/>
          </a:xfrm>
          <a:prstGeom prst="rect">
            <a:avLst/>
          </a:prstGeom>
          <a:noFill/>
        </p:spPr>
        <p:txBody>
          <a:bodyPr wrap="square" anchor="t" lIns="0" rIns="0" tIns="0" bIns="0">
            <a:spAutoFit/>
          </a:bodyPr>
          <a:lstStyle/>
          <a:p>
            <a:pPr algn="l"/>
            <a:r>
              <a:rPr sz="1600" b="1" i="0">
                <a:solidFill>
                  <a:srgbClr val="222A39"/>
                </a:solidFill>
                <a:latin typeface="Cambria"/>
              </a:rPr>
              <a:t>Inmobiliario</a:t>
            </a:r>
          </a:p>
        </p:txBody>
      </p:sp>
      <p:sp>
        <p:nvSpPr>
          <p:cNvPr id="15" name="TextBox 14"/>
          <p:cNvSpPr txBox="1"/>
          <p:nvPr/>
        </p:nvSpPr>
        <p:spPr>
          <a:xfrm>
            <a:off x="8229600" y="4937760"/>
            <a:ext cx="3017520" cy="365760"/>
          </a:xfrm>
          <a:prstGeom prst="rect">
            <a:avLst/>
          </a:prstGeom>
          <a:noFill/>
        </p:spPr>
        <p:txBody>
          <a:bodyPr wrap="square" anchor="t" lIns="0" rIns="0" tIns="0" bIns="0">
            <a:spAutoFit/>
          </a:bodyPr>
          <a:lstStyle/>
          <a:p>
            <a:pPr algn="l"/>
            <a:r>
              <a:rPr sz="1100" b="1" i="0">
                <a:solidFill>
                  <a:srgbClr val="6B7385"/>
                </a:solidFill>
                <a:latin typeface="Calibri"/>
              </a:rPr>
              <a:t>PRIORIDAD</a:t>
            </a:r>
          </a:p>
        </p:txBody>
      </p:sp>
      <p:sp>
        <p:nvSpPr>
          <p:cNvPr id="16" name="Rounded Rectangle 15"/>
          <p:cNvSpPr/>
          <p:nvPr/>
        </p:nvSpPr>
        <p:spPr>
          <a:xfrm>
            <a:off x="8229600" y="5212080"/>
            <a:ext cx="1371600" cy="384048"/>
          </a:xfrm>
          <a:prstGeom prst="roundRect">
            <a:avLst>
              <a:gd name="adj" fmla="val 50000"/>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00" b="1">
                <a:solidFill>
                  <a:srgbClr val="FFFFFF"/>
                </a:solidFill>
                <a:latin typeface="Calibri"/>
              </a:rPr>
              <a:t>ALTA</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CONTEXTO FINANCIERO</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Lo que dicen los números</a:t>
            </a:r>
          </a:p>
        </p:txBody>
      </p:sp>
      <p:sp>
        <p:nvSpPr>
          <p:cNvPr id="6" name="Rounded Rectangle 5"/>
          <p:cNvSpPr/>
          <p:nvPr/>
        </p:nvSpPr>
        <p:spPr>
          <a:xfrm>
            <a:off x="64008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~18,0 M€</a:t>
            </a:r>
          </a:p>
        </p:txBody>
      </p:sp>
      <p:sp>
        <p:nvSpPr>
          <p:cNvPr id="8" name="TextBox 7"/>
          <p:cNvSpPr txBox="1"/>
          <p:nvPr/>
        </p:nvSpPr>
        <p:spPr>
          <a:xfrm>
            <a:off x="91440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Ingresos estimados</a:t>
            </a:r>
          </a:p>
        </p:txBody>
      </p:sp>
      <p:sp>
        <p:nvSpPr>
          <p:cNvPr id="9" name="Rounded Rectangle 8"/>
          <p:cNvSpPr/>
          <p:nvPr/>
        </p:nvSpPr>
        <p:spPr>
          <a:xfrm>
            <a:off x="4434840" y="2331720"/>
            <a:ext cx="3520440" cy="210312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09160" y="2560320"/>
            <a:ext cx="2971800" cy="822960"/>
          </a:xfrm>
          <a:prstGeom prst="rect">
            <a:avLst/>
          </a:prstGeom>
          <a:noFill/>
        </p:spPr>
        <p:txBody>
          <a:bodyPr wrap="square" anchor="t" lIns="0" rIns="0" tIns="0" bIns="0">
            <a:spAutoFit/>
          </a:bodyPr>
          <a:lstStyle/>
          <a:p>
            <a:pPr algn="l">
              <a:lnSpc>
                <a:spcPct val="100000"/>
              </a:lnSpc>
            </a:pPr>
            <a:r>
              <a:rPr sz="3600" b="1" i="0">
                <a:solidFill>
                  <a:srgbClr val="1B2A4A"/>
                </a:solidFill>
                <a:latin typeface="Cambria"/>
              </a:rPr>
              <a:t>2</a:t>
            </a:r>
          </a:p>
        </p:txBody>
      </p:sp>
      <p:sp>
        <p:nvSpPr>
          <p:cNvPr id="11" name="TextBox 10"/>
          <p:cNvSpPr txBox="1"/>
          <p:nvPr/>
        </p:nvSpPr>
        <p:spPr>
          <a:xfrm>
            <a:off x="4709160" y="3794760"/>
            <a:ext cx="2971800" cy="640080"/>
          </a:xfrm>
          <a:prstGeom prst="rect">
            <a:avLst/>
          </a:prstGeom>
          <a:noFill/>
        </p:spPr>
        <p:txBody>
          <a:bodyPr wrap="square" anchor="t" lIns="0" rIns="0" tIns="0" bIns="0">
            <a:spAutoFit/>
          </a:bodyPr>
          <a:lstStyle/>
          <a:p>
            <a:pPr algn="l">
              <a:lnSpc>
                <a:spcPct val="115000"/>
              </a:lnSpc>
            </a:pPr>
            <a:r>
              <a:rPr sz="1300" b="0" i="0">
                <a:solidFill>
                  <a:srgbClr val="6B7385"/>
                </a:solidFill>
                <a:latin typeface="Calibri"/>
              </a:rPr>
              <a:t>Nuevas promociones de obra nueva (2025)</a:t>
            </a:r>
          </a:p>
        </p:txBody>
      </p:sp>
      <p:sp>
        <p:nvSpPr>
          <p:cNvPr id="12" name="TextBox 11"/>
          <p:cNvSpPr txBox="1"/>
          <p:nvPr/>
        </p:nvSpPr>
        <p:spPr>
          <a:xfrm>
            <a:off x="640080" y="4754880"/>
            <a:ext cx="5303520" cy="365760"/>
          </a:xfrm>
          <a:prstGeom prst="rect">
            <a:avLst/>
          </a:prstGeom>
          <a:noFill/>
        </p:spPr>
        <p:txBody>
          <a:bodyPr wrap="square" anchor="t" lIns="0" rIns="0" tIns="0" bIns="0">
            <a:spAutoFit/>
          </a:bodyPr>
          <a:lstStyle/>
          <a:p>
            <a:pPr algn="l"/>
            <a:r>
              <a:rPr sz="1100" b="1" i="0">
                <a:solidFill>
                  <a:srgbClr val="6B7385"/>
                </a:solidFill>
                <a:latin typeface="Calibri"/>
              </a:rPr>
              <a:t>TENDENCIAS ESTRUCTURALES</a:t>
            </a:r>
          </a:p>
        </p:txBody>
      </p:sp>
      <p:sp>
        <p:nvSpPr>
          <p:cNvPr id="13" name="TextBox 12"/>
          <p:cNvSpPr txBox="1"/>
          <p:nvPr/>
        </p:nvSpPr>
        <p:spPr>
          <a:xfrm>
            <a:off x="640080" y="5120640"/>
            <a:ext cx="5303520" cy="1463040"/>
          </a:xfrm>
          <a:prstGeom prst="rect">
            <a:avLst/>
          </a:prstGeom>
          <a:noFill/>
        </p:spPr>
        <p:txBody>
          <a:bodyPr wrap="square" lIns="0" rIns="0" tIns="0" bIns="0">
            <a:spAutoFit/>
          </a:bodyPr>
          <a:lstStyle/>
          <a:p>
            <a:pPr>
              <a:lnSpc>
                <a:spcPct val="115000"/>
              </a:lnSpc>
              <a:spcAft>
                <a:spcPts val="600"/>
              </a:spcAft>
            </a:pPr>
            <a:r>
              <a:rPr sz="1300">
                <a:solidFill>
                  <a:srgbClr val="222A39"/>
                </a:solidFill>
                <a:latin typeface="Calibri"/>
              </a:rPr>
              <a:t>—  Expansión del negocio vía lanzamiento de nuevas promociones en 2025.</a:t>
            </a:r>
          </a:p>
          <a:p>
            <a:pPr>
              <a:lnSpc>
                <a:spcPct val="115000"/>
              </a:lnSpc>
              <a:spcAft>
                <a:spcPts val="600"/>
              </a:spcAft>
            </a:pPr>
            <a:r>
              <a:rPr sz="1300">
                <a:solidFill>
                  <a:srgbClr val="222A39"/>
                </a:solidFill>
                <a:latin typeface="Calibri"/>
              </a:rPr>
              <a:t>—  Intensificación del ciclo inversor (suelo, construcción y comercialización) con mayor consumo de caja asociado.</a:t>
            </a:r>
          </a:p>
          <a:p>
            <a:pPr>
              <a:lnSpc>
                <a:spcPct val="115000"/>
              </a:lnSpc>
              <a:spcAft>
                <a:spcPts val="600"/>
              </a:spcAft>
            </a:pPr>
            <a:r>
              <a:rPr sz="1300">
                <a:solidFill>
                  <a:srgbClr val="222A39"/>
                </a:solidFill>
                <a:latin typeface="Calibri"/>
              </a:rPr>
              <a:t>—  Búsqueda activa de financiación promotor y de entidades financieras para estructurar deuda de proyecto.</a:t>
            </a:r>
          </a:p>
        </p:txBody>
      </p:sp>
      <p:sp>
        <p:nvSpPr>
          <p:cNvPr id="14" name="Rounded Rectangle 13"/>
          <p:cNvSpPr/>
          <p:nvPr/>
        </p:nvSpPr>
        <p:spPr>
          <a:xfrm>
            <a:off x="6263640" y="4754880"/>
            <a:ext cx="5257800" cy="1737360"/>
          </a:xfrm>
          <a:prstGeom prst="roundRect">
            <a:avLst>
              <a:gd name="adj" fmla="val 6000"/>
            </a:avLst>
          </a:prstGeom>
          <a:solidFill>
            <a:srgbClr val="1B2A4A"/>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4956048"/>
            <a:ext cx="4663440" cy="365760"/>
          </a:xfrm>
          <a:prstGeom prst="rect">
            <a:avLst/>
          </a:prstGeom>
          <a:noFill/>
        </p:spPr>
        <p:txBody>
          <a:bodyPr wrap="square" anchor="t" lIns="0" rIns="0" tIns="0" bIns="0">
            <a:spAutoFit/>
          </a:bodyPr>
          <a:lstStyle/>
          <a:p>
            <a:pPr algn="l"/>
            <a:r>
              <a:rPr sz="1100" b="1" i="0">
                <a:solidFill>
                  <a:srgbClr val="C9D2E6"/>
                </a:solidFill>
                <a:latin typeface="Calibri"/>
              </a:rPr>
              <a:t>INTERPRETACIÓN</a:t>
            </a:r>
          </a:p>
        </p:txBody>
      </p:sp>
      <p:sp>
        <p:nvSpPr>
          <p:cNvPr id="16" name="TextBox 15"/>
          <p:cNvSpPr txBox="1"/>
          <p:nvPr/>
        </p:nvSpPr>
        <p:spPr>
          <a:xfrm>
            <a:off x="6583680" y="5303520"/>
            <a:ext cx="4663440" cy="1097280"/>
          </a:xfrm>
          <a:prstGeom prst="rect">
            <a:avLst/>
          </a:prstGeom>
          <a:noFill/>
        </p:spPr>
        <p:txBody>
          <a:bodyPr wrap="square" anchor="t" lIns="0" rIns="0" tIns="0" bIns="0">
            <a:spAutoFit/>
          </a:bodyPr>
          <a:lstStyle/>
          <a:p>
            <a:pPr algn="l">
              <a:lnSpc>
                <a:spcPct val="125000"/>
              </a:lnSpc>
            </a:pPr>
            <a:r>
              <a:rPr sz="1300" b="0" i="1">
                <a:solidFill>
                  <a:srgbClr val="FFFFFF"/>
                </a:solidFill>
                <a:latin typeface="Calibri"/>
              </a:rPr>
              <a:t>La compañía entra en una fase de crecimiento impulsada por el inicio de dos promociones en 2025, lo que previsiblemente incrementará la inversión y el consumo de caja. Dado que existe una necesidad explícita de financiación promotor y se está buscando activamente financiación bancaria, es probable una necesidad inmediata de estructurar deuda de proyecto ligada a dichas promociones. La ausencia de datos de márgenes y endeudamiento impide evaluar rentabilidad, apalancamiento y capacidad de repago con precisión.</a:t>
            </a:r>
          </a:p>
        </p:txBody>
      </p:sp>
      <p:sp>
        <p:nvSpPr>
          <p:cNvPr id="17" name="TextBox 16"/>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6B7385"/>
                </a:solidFill>
                <a:latin typeface="Calibri"/>
              </a:rPr>
              <a:t>Corporate &amp; Deal Intelligence  ·  Documento de uso interno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BRIEFING DE CLIENTE</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Perfil y situación actual</a:t>
            </a:r>
          </a:p>
        </p:txBody>
      </p:sp>
      <p:sp>
        <p:nvSpPr>
          <p:cNvPr id="6" name="TextBox 5"/>
          <p:cNvSpPr txBox="1"/>
          <p:nvPr/>
        </p:nvSpPr>
        <p:spPr>
          <a:xfrm>
            <a:off x="640080" y="2148840"/>
            <a:ext cx="10881360" cy="822960"/>
          </a:xfrm>
          <a:prstGeom prst="rect">
            <a:avLst/>
          </a:prstGeom>
          <a:noFill/>
        </p:spPr>
        <p:txBody>
          <a:bodyPr wrap="square" anchor="t" lIns="0" rIns="0" tIns="0" bIns="0">
            <a:spAutoFit/>
          </a:bodyPr>
          <a:lstStyle/>
          <a:p>
            <a:pPr algn="l">
              <a:lnSpc>
                <a:spcPct val="130000"/>
              </a:lnSpc>
            </a:pPr>
            <a:r>
              <a:rPr sz="1400" b="0" i="0">
                <a:solidFill>
                  <a:srgbClr val="222A39"/>
                </a:solidFill>
                <a:latin typeface="Calibri"/>
              </a:rPr>
              <a:t>Promotora Levante Residencial SL es una compañía del sector inmobiliario enfocada en promoción residencial. Se encuentra en una fase de expansión, con el lanzamiento previsto de dos promociones de obra nueva en 2025 y una búsqueda activa de financiación bancaria asociada.</a:t>
            </a:r>
          </a:p>
        </p:txBody>
      </p:sp>
      <p:sp>
        <p:nvSpPr>
          <p:cNvPr id="7" name="TextBox 6"/>
          <p:cNvSpPr txBox="1"/>
          <p:nvPr/>
        </p:nvSpPr>
        <p:spPr>
          <a:xfrm>
            <a:off x="640080" y="2880360"/>
            <a:ext cx="10881360" cy="822960"/>
          </a:xfrm>
          <a:prstGeom prst="rect">
            <a:avLst/>
          </a:prstGeom>
          <a:noFill/>
        </p:spPr>
        <p:txBody>
          <a:bodyPr wrap="square" anchor="t" lIns="0" rIns="0" tIns="0" bIns="0">
            <a:spAutoFit/>
          </a:bodyPr>
          <a:lstStyle/>
          <a:p>
            <a:pPr algn="l">
              <a:lnSpc>
                <a:spcPct val="130000"/>
              </a:lnSpc>
            </a:pPr>
            <a:r>
              <a:rPr sz="1400" b="0" i="1">
                <a:solidFill>
                  <a:srgbClr val="6B7385"/>
                </a:solidFill>
                <a:latin typeface="Calibri"/>
              </a:rPr>
              <a:t>La oportunidad se considera de prioridad alta por la ventana inmediata de originación: la empresa ha manifestado necesidad explícita de financiación promotor y está contactando entidades, lo que sugiere un proceso competitivo en curso. Con la información disponible solo constan ingresos estimados de ~18,0 M€ y no hay datos de márgenes, CAPEX detallado, endeudamiento ni estructura de capital, por lo que la evaluación financiera es incompleta.</a:t>
            </a:r>
          </a:p>
        </p:txBody>
      </p:sp>
      <p:sp>
        <p:nvSpPr>
          <p:cNvPr id="8" name="Rounded Rectangle 7"/>
          <p:cNvSpPr/>
          <p:nvPr/>
        </p:nvSpPr>
        <p:spPr>
          <a:xfrm>
            <a:off x="640080" y="3794760"/>
            <a:ext cx="5349240" cy="2697480"/>
          </a:xfrm>
          <a:prstGeom prst="roundRect">
            <a:avLst>
              <a:gd name="adj" fmla="val 6000"/>
            </a:avLst>
          </a:prstGeom>
          <a:solidFill>
            <a:srgbClr val="EDE6D9"/>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14400" y="4069080"/>
            <a:ext cx="384048" cy="384048"/>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0" name="TextBox 9"/>
          <p:cNvSpPr txBox="1"/>
          <p:nvPr/>
        </p:nvSpPr>
        <p:spPr>
          <a:xfrm>
            <a:off x="146304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NECESIDADES POTENCIALES</a:t>
            </a:r>
          </a:p>
        </p:txBody>
      </p:sp>
      <p:sp>
        <p:nvSpPr>
          <p:cNvPr id="11" name="TextBox 10"/>
          <p:cNvSpPr txBox="1"/>
          <p:nvPr/>
        </p:nvSpPr>
        <p:spPr>
          <a:xfrm>
            <a:off x="91440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Financiación promotor para las dos promociones de obra nueva previstas en 2025 (deuda de proyecto).</a:t>
            </a:r>
          </a:p>
          <a:p>
            <a:pPr>
              <a:lnSpc>
                <a:spcPct val="115000"/>
              </a:lnSpc>
              <a:spcAft>
                <a:spcPts val="800"/>
              </a:spcAft>
            </a:pPr>
            <a:r>
              <a:rPr sz="1300">
                <a:solidFill>
                  <a:srgbClr val="222A39"/>
                </a:solidFill>
                <a:latin typeface="Calibri"/>
              </a:rPr>
              <a:t>—  Estructuración de un paquete de financiación alineado con el ciclo inversor (suelo, construcción y comercialización) y el consumo de caja asociado.</a:t>
            </a:r>
          </a:p>
          <a:p>
            <a:pPr>
              <a:lnSpc>
                <a:spcPct val="115000"/>
              </a:lnSpc>
              <a:spcAft>
                <a:spcPts val="800"/>
              </a:spcAft>
            </a:pPr>
            <a:r>
              <a:rPr sz="1300">
                <a:solidFill>
                  <a:srgbClr val="222A39"/>
                </a:solidFill>
                <a:latin typeface="Calibri"/>
              </a:rPr>
              <a:t>—  Acompañamiento en el proceso de búsqueda de entidades (propuesta competitiva en precio, plazos y condiciones).</a:t>
            </a:r>
          </a:p>
        </p:txBody>
      </p:sp>
      <p:sp>
        <p:nvSpPr>
          <p:cNvPr id="12" name="Rounded Rectangle 11"/>
          <p:cNvSpPr/>
          <p:nvPr/>
        </p:nvSpPr>
        <p:spPr>
          <a:xfrm>
            <a:off x="6217920" y="3794760"/>
            <a:ext cx="5349240" cy="2697480"/>
          </a:xfrm>
          <a:prstGeom prst="roundRect">
            <a:avLst>
              <a:gd name="adj" fmla="val 6000"/>
            </a:avLst>
          </a:prstGeom>
          <a:solidFill>
            <a:srgbClr val="FFFFFF"/>
          </a:solidFill>
          <a:ln w="9525">
            <a:solidFill>
              <a:srgbClr val="DDD2BE"/>
            </a:solid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92240" y="4069080"/>
            <a:ext cx="384048" cy="384048"/>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a:t>
            </a:r>
          </a:p>
        </p:txBody>
      </p:sp>
      <p:sp>
        <p:nvSpPr>
          <p:cNvPr id="14" name="TextBox 13"/>
          <p:cNvSpPr txBox="1"/>
          <p:nvPr/>
        </p:nvSpPr>
        <p:spPr>
          <a:xfrm>
            <a:off x="7040880" y="4069080"/>
            <a:ext cx="4206240" cy="411480"/>
          </a:xfrm>
          <a:prstGeom prst="rect">
            <a:avLst/>
          </a:prstGeom>
          <a:noFill/>
        </p:spPr>
        <p:txBody>
          <a:bodyPr wrap="square" anchor="ctr" lIns="0" rIns="0" tIns="0" bIns="0">
            <a:spAutoFit/>
          </a:bodyPr>
          <a:lstStyle/>
          <a:p>
            <a:pPr algn="l"/>
            <a:r>
              <a:rPr sz="1200" b="1" i="0">
                <a:solidFill>
                  <a:srgbClr val="1B2A4A"/>
                </a:solidFill>
                <a:latin typeface="Calibri"/>
              </a:rPr>
              <a:t>RIESGOS Y PUNTOS DE ATENCIÓN</a:t>
            </a:r>
          </a:p>
        </p:txBody>
      </p:sp>
      <p:sp>
        <p:nvSpPr>
          <p:cNvPr id="15" name="TextBox 14"/>
          <p:cNvSpPr txBox="1"/>
          <p:nvPr/>
        </p:nvSpPr>
        <p:spPr>
          <a:xfrm>
            <a:off x="6492240" y="4663440"/>
            <a:ext cx="4846320" cy="1737360"/>
          </a:xfrm>
          <a:prstGeom prst="rect">
            <a:avLst/>
          </a:prstGeom>
          <a:noFill/>
        </p:spPr>
        <p:txBody>
          <a:bodyPr wrap="square" lIns="0" rIns="0" tIns="0" bIns="0">
            <a:spAutoFit/>
          </a:bodyPr>
          <a:lstStyle/>
          <a:p>
            <a:pPr>
              <a:lnSpc>
                <a:spcPct val="115000"/>
              </a:lnSpc>
              <a:spcAft>
                <a:spcPts val="800"/>
              </a:spcAft>
            </a:pPr>
            <a:r>
              <a:rPr sz="1300">
                <a:solidFill>
                  <a:srgbClr val="222A39"/>
                </a:solidFill>
                <a:latin typeface="Calibri"/>
              </a:rPr>
              <a:t>—  Información financiera insuficiente: ausencia de datos de márgenes/EBITDA, CAPEX, endeudamiento y estructura de capital limita el análisis de rentabilidad, apalancamiento y capacidad de repago.</a:t>
            </a:r>
          </a:p>
          <a:p>
            <a:pPr>
              <a:lnSpc>
                <a:spcPct val="115000"/>
              </a:lnSpc>
              <a:spcAft>
                <a:spcPts val="800"/>
              </a:spcAft>
            </a:pPr>
            <a:r>
              <a:rPr sz="1300">
                <a:solidFill>
                  <a:srgbClr val="222A39"/>
                </a:solidFill>
                <a:latin typeface="Calibri"/>
              </a:rPr>
              <a:t>—  Riesgo de ejecución y de caja asociado al inicio simultáneo de dos promociones en 2025 (incremento relevante de inversión y consumo de liquidez).</a:t>
            </a:r>
          </a:p>
          <a:p>
            <a:pPr>
              <a:lnSpc>
                <a:spcPct val="115000"/>
              </a:lnSpc>
              <a:spcAft>
                <a:spcPts val="800"/>
              </a:spcAft>
            </a:pPr>
            <a:r>
              <a:rPr sz="1300">
                <a:solidFill>
                  <a:srgbClr val="222A39"/>
                </a:solidFill>
                <a:latin typeface="Calibri"/>
              </a:rPr>
              <a:t>—  Proceso competitivo en curso: posible presión en condiciones y riesgo de perder la operación si no se actúa con rapidez.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E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40080" y="594360"/>
            <a:ext cx="457200" cy="45720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 name="TextBox 3"/>
          <p:cNvSpPr txBox="1"/>
          <p:nvPr/>
        </p:nvSpPr>
        <p:spPr>
          <a:xfrm>
            <a:off x="1234440" y="548640"/>
            <a:ext cx="9144000" cy="548640"/>
          </a:xfrm>
          <a:prstGeom prst="rect">
            <a:avLst/>
          </a:prstGeom>
          <a:noFill/>
        </p:spPr>
        <p:txBody>
          <a:bodyPr wrap="square" anchor="ctr" lIns="0" rIns="0" tIns="0" bIns="0">
            <a:spAutoFit/>
          </a:bodyPr>
          <a:lstStyle/>
          <a:p>
            <a:pPr algn="l"/>
            <a:r>
              <a:rPr sz="1400" b="1" i="0">
                <a:solidFill>
                  <a:srgbClr val="1B2A4A"/>
                </a:solidFill>
                <a:latin typeface="Calibri"/>
              </a:rPr>
              <a:t>ENCAJE Y COMPARABLES</a:t>
            </a:r>
          </a:p>
        </p:txBody>
      </p:sp>
      <p:sp>
        <p:nvSpPr>
          <p:cNvPr id="5" name="TextBox 4"/>
          <p:cNvSpPr txBox="1"/>
          <p:nvPr/>
        </p:nvSpPr>
        <p:spPr>
          <a:xfrm>
            <a:off x="640080" y="1325880"/>
            <a:ext cx="10881360" cy="731520"/>
          </a:xfrm>
          <a:prstGeom prst="rect">
            <a:avLst/>
          </a:prstGeom>
          <a:noFill/>
        </p:spPr>
        <p:txBody>
          <a:bodyPr wrap="square" anchor="t" lIns="0" rIns="0" tIns="0" bIns="0">
            <a:spAutoFit/>
          </a:bodyPr>
          <a:lstStyle/>
          <a:p>
            <a:pPr algn="l"/>
            <a:r>
              <a:rPr sz="2800" b="1" i="0">
                <a:solidFill>
                  <a:srgbClr val="222A39"/>
                </a:solidFill>
                <a:latin typeface="Cambria"/>
              </a:rPr>
              <a:t>Cómo podemos ayudar</a:t>
            </a:r>
          </a:p>
        </p:txBody>
      </p:sp>
      <p:sp>
        <p:nvSpPr>
          <p:cNvPr id="6" name="TextBox 5"/>
          <p:cNvSpPr txBox="1"/>
          <p:nvPr/>
        </p:nvSpPr>
        <p:spPr>
          <a:xfrm>
            <a:off x="640080" y="2240280"/>
            <a:ext cx="6400800" cy="365760"/>
          </a:xfrm>
          <a:prstGeom prst="rect">
            <a:avLst/>
          </a:prstGeom>
          <a:noFill/>
        </p:spPr>
        <p:txBody>
          <a:bodyPr wrap="square" anchor="t" lIns="0" rIns="0" tIns="0" bIns="0">
            <a:spAutoFit/>
          </a:bodyPr>
          <a:lstStyle/>
          <a:p>
            <a:pPr algn="l"/>
            <a:r>
              <a:rPr sz="1100" b="1" i="0">
                <a:solidFill>
                  <a:srgbClr val="6B7385"/>
                </a:solidFill>
                <a:latin typeface="Calibri"/>
              </a:rPr>
              <a:t>ENCAJE CON PRODUCTOS DEL BANCO</a:t>
            </a:r>
          </a:p>
        </p:txBody>
      </p:sp>
      <p:sp>
        <p:nvSpPr>
          <p:cNvPr id="7" name="Oval 6"/>
          <p:cNvSpPr/>
          <p:nvPr/>
        </p:nvSpPr>
        <p:spPr>
          <a:xfrm>
            <a:off x="640080" y="2651760"/>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8" name="TextBox 7"/>
          <p:cNvSpPr txBox="1"/>
          <p:nvPr/>
        </p:nvSpPr>
        <p:spPr>
          <a:xfrm>
            <a:off x="1188720" y="2651760"/>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Financiación promotor (deuda de proyecto) para suelo/obra con disposiciones por certificaciones y calendario de hitos</a:t>
            </a:r>
          </a:p>
        </p:txBody>
      </p:sp>
      <p:sp>
        <p:nvSpPr>
          <p:cNvPr id="9" name="Oval 8"/>
          <p:cNvSpPr/>
          <p:nvPr/>
        </p:nvSpPr>
        <p:spPr>
          <a:xfrm>
            <a:off x="640080" y="3310128"/>
            <a:ext cx="365760" cy="365760"/>
          </a:xfrm>
          <a:prstGeom prst="ellipse">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0" name="TextBox 9"/>
          <p:cNvSpPr txBox="1"/>
          <p:nvPr/>
        </p:nvSpPr>
        <p:spPr>
          <a:xfrm>
            <a:off x="1188720" y="3310128"/>
            <a:ext cx="5852160" cy="502920"/>
          </a:xfrm>
          <a:prstGeom prst="rect">
            <a:avLst/>
          </a:prstGeom>
          <a:noFill/>
        </p:spPr>
        <p:txBody>
          <a:bodyPr wrap="square" anchor="ctr" lIns="0" rIns="0" tIns="0" bIns="0">
            <a:spAutoFit/>
          </a:bodyPr>
          <a:lstStyle/>
          <a:p>
            <a:pPr algn="l">
              <a:lnSpc>
                <a:spcPct val="110000"/>
              </a:lnSpc>
            </a:pPr>
            <a:r>
              <a:rPr sz="1350" b="0" i="0">
                <a:solidFill>
                  <a:srgbClr val="222A39"/>
                </a:solidFill>
                <a:latin typeface="Calibri"/>
              </a:rPr>
              <a:t>Líneas complementarias de circulante y avales (avales técnicos/urbanísticos y operativos) para soportar ejecución y contratación</a:t>
            </a:r>
          </a:p>
        </p:txBody>
      </p:sp>
      <p:sp>
        <p:nvSpPr>
          <p:cNvPr id="11" name="Rounded Rectangle 10"/>
          <p:cNvSpPr/>
          <p:nvPr/>
        </p:nvSpPr>
        <p:spPr>
          <a:xfrm>
            <a:off x="7406640" y="2240280"/>
            <a:ext cx="4160520" cy="3200400"/>
          </a:xfrm>
          <a:prstGeom prst="roundRect">
            <a:avLst>
              <a:gd name="adj" fmla="val 6000"/>
            </a:avLst>
          </a:prstGeom>
          <a:solidFill>
            <a:srgbClr val="FFFFFF"/>
          </a:solidFill>
          <a:ln>
            <a:noFill/>
          </a:ln>
          <a:effectLst/>
          <a:effectLst>
            <a:outerShdw blurRad="90000" dist="50000" dir="5400000" rotWithShape="0">
              <a:srgbClr val="1B2A4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514600"/>
            <a:ext cx="3566160" cy="365760"/>
          </a:xfrm>
          <a:prstGeom prst="rect">
            <a:avLst/>
          </a:prstGeom>
          <a:noFill/>
        </p:spPr>
        <p:txBody>
          <a:bodyPr wrap="square" anchor="t" lIns="0" rIns="0" tIns="0" bIns="0">
            <a:spAutoFit/>
          </a:bodyPr>
          <a:lstStyle/>
          <a:p>
            <a:pPr algn="l"/>
            <a:r>
              <a:rPr sz="1100" b="1" i="0">
                <a:solidFill>
                  <a:srgbClr val="6B7385"/>
                </a:solidFill>
                <a:latin typeface="Calibri"/>
              </a:rPr>
              <a:t>COMPARABLES SECTORIALES</a:t>
            </a:r>
          </a:p>
        </p:txBody>
      </p:sp>
      <p:sp>
        <p:nvSpPr>
          <p:cNvPr id="13" name="TextBox 12"/>
          <p:cNvSpPr txBox="1"/>
          <p:nvPr/>
        </p:nvSpPr>
        <p:spPr>
          <a:xfrm>
            <a:off x="7726679" y="297180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Promotoras residenciales regionales con pipeline de obra nueva y financiación por proyecto</a:t>
            </a:r>
          </a:p>
        </p:txBody>
      </p:sp>
      <p:sp>
        <p:nvSpPr>
          <p:cNvPr id="14" name="TextBox 13"/>
          <p:cNvSpPr txBox="1"/>
          <p:nvPr/>
        </p:nvSpPr>
        <p:spPr>
          <a:xfrm>
            <a:off x="7726679" y="4251960"/>
            <a:ext cx="3566160" cy="1371600"/>
          </a:xfrm>
          <a:prstGeom prst="rect">
            <a:avLst/>
          </a:prstGeom>
          <a:noFill/>
        </p:spPr>
        <p:txBody>
          <a:bodyPr wrap="square" anchor="t" lIns="0" rIns="0" tIns="0" bIns="0">
            <a:spAutoFit/>
          </a:bodyPr>
          <a:lstStyle/>
          <a:p>
            <a:pPr algn="l">
              <a:lnSpc>
                <a:spcPct val="130000"/>
              </a:lnSpc>
            </a:pPr>
            <a:r>
              <a:rPr sz="1250" b="0" i="0">
                <a:solidFill>
                  <a:srgbClr val="222A39"/>
                </a:solidFill>
                <a:latin typeface="Calibri"/>
              </a:rPr>
              <a:t>Vehículos de promoción por SPV para desarrollos residenciales con preventas y garantías reales</a:t>
            </a:r>
          </a:p>
        </p:txBody>
      </p:sp>
      <p:sp>
        <p:nvSpPr>
          <p:cNvPr id="15" name="TextBox 14"/>
          <p:cNvSpPr txBox="1"/>
          <p:nvPr/>
        </p:nvSpPr>
        <p:spPr>
          <a:xfrm>
            <a:off x="640080" y="5440680"/>
            <a:ext cx="10881360" cy="365760"/>
          </a:xfrm>
          <a:prstGeom prst="rect">
            <a:avLst/>
          </a:prstGeom>
          <a:noFill/>
        </p:spPr>
        <p:txBody>
          <a:bodyPr wrap="square" anchor="t" lIns="0" rIns="0" tIns="0" bIns="0">
            <a:spAutoFit/>
          </a:bodyPr>
          <a:lstStyle/>
          <a:p>
            <a:pPr algn="l"/>
            <a:r>
              <a:rPr sz="1100" b="1" i="0">
                <a:solidFill>
                  <a:srgbClr val="6B7385"/>
                </a:solidFill>
                <a:latin typeface="Calibri"/>
              </a:rPr>
              <a:t>ARGUMENTOS DE VALOR</a:t>
            </a:r>
          </a:p>
        </p:txBody>
      </p:sp>
      <p:sp>
        <p:nvSpPr>
          <p:cNvPr id="16" name="Rounded Rectangle 15"/>
          <p:cNvSpPr/>
          <p:nvPr/>
        </p:nvSpPr>
        <p:spPr>
          <a:xfrm>
            <a:off x="64008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Rapidez y certidumbre de ejecución: propuesta preliminar en plazos cortos, con hoja de términos sujeta a información mínima y validación interna, para competir en un proceso activo.</a:t>
            </a:r>
          </a:p>
        </p:txBody>
      </p:sp>
      <p:sp>
        <p:nvSpPr>
          <p:cNvPr id="18" name="Rounded Rectangle 17"/>
          <p:cNvSpPr/>
          <p:nvPr/>
        </p:nvSpPr>
        <p:spPr>
          <a:xfrm>
            <a:off x="443484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Estructura alineada al ciclo del proyecto: financiación por fases (suelo/obra/comercialización) con disposiciones por hitos, covenants de obra y ventas, y mecanismos de control de caja para mitigar riesgo.</a:t>
            </a:r>
          </a:p>
        </p:txBody>
      </p:sp>
      <p:sp>
        <p:nvSpPr>
          <p:cNvPr id="20" name="Rounded Rectangle 19"/>
          <p:cNvSpPr/>
          <p:nvPr/>
        </p:nvSpPr>
        <p:spPr>
          <a:xfrm>
            <a:off x="8229600" y="5760720"/>
            <a:ext cx="3520440" cy="914400"/>
          </a:xfrm>
          <a:prstGeom prst="roundRect">
            <a:avLst>
              <a:gd name="adj" fmla="val 6000"/>
            </a:avLst>
          </a:prstGeom>
          <a:solidFill>
            <a:srgbClr val="FFFFFF"/>
          </a:solidFill>
          <a:ln w="9525">
            <a:solidFill>
              <a:srgbClr val="DDD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5879592"/>
            <a:ext cx="3063240" cy="685800"/>
          </a:xfrm>
          <a:prstGeom prst="rect">
            <a:avLst/>
          </a:prstGeom>
          <a:noFill/>
        </p:spPr>
        <p:txBody>
          <a:bodyPr wrap="square" anchor="ctr" lIns="0" rIns="0" tIns="0" bIns="0">
            <a:spAutoFit/>
          </a:bodyPr>
          <a:lstStyle/>
          <a:p>
            <a:pPr algn="l">
              <a:lnSpc>
                <a:spcPct val="115000"/>
              </a:lnSpc>
            </a:pPr>
            <a:r>
              <a:rPr sz="1150" b="0" i="0">
                <a:solidFill>
                  <a:srgbClr val="222A39"/>
                </a:solidFill>
                <a:latin typeface="Calibri"/>
              </a:rPr>
              <a:t>Optimización de condiciones y flexibilidad: diseño de un paquete integral (deuda de proyecto + avales + circulante) que reduzca fricciones operativas y mejore la capacidad de ejecución de las dos promociones en paralelo.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685800"/>
            <a:ext cx="10881360" cy="822960"/>
          </a:xfrm>
          <a:prstGeom prst="rect">
            <a:avLst/>
          </a:prstGeom>
          <a:noFill/>
        </p:spPr>
        <p:txBody>
          <a:bodyPr wrap="square" anchor="t" lIns="0" rIns="0" tIns="0" bIns="0">
            <a:spAutoFit/>
          </a:bodyPr>
          <a:lstStyle/>
          <a:p>
            <a:pPr algn="l"/>
            <a:r>
              <a:rPr sz="3400" b="1" i="0">
                <a:solidFill>
                  <a:srgbClr val="FFFFFF"/>
                </a:solidFill>
                <a:latin typeface="Cambria"/>
              </a:rPr>
              <a:t>Próximos pasos</a:t>
            </a:r>
          </a:p>
        </p:txBody>
      </p:sp>
      <p:sp>
        <p:nvSpPr>
          <p:cNvPr id="4" name="TextBox 3"/>
          <p:cNvSpPr txBox="1"/>
          <p:nvPr/>
        </p:nvSpPr>
        <p:spPr>
          <a:xfrm>
            <a:off x="640080" y="1463040"/>
            <a:ext cx="10058400" cy="548640"/>
          </a:xfrm>
          <a:prstGeom prst="rect">
            <a:avLst/>
          </a:prstGeom>
          <a:noFill/>
        </p:spPr>
        <p:txBody>
          <a:bodyPr wrap="square" anchor="t" lIns="0" rIns="0" tIns="0" bIns="0">
            <a:spAutoFit/>
          </a:bodyPr>
          <a:lstStyle/>
          <a:p>
            <a:pPr algn="l">
              <a:lnSpc>
                <a:spcPct val="130000"/>
              </a:lnSpc>
            </a:pPr>
            <a:r>
              <a:rPr sz="1500" b="0" i="1">
                <a:solidFill>
                  <a:srgbClr val="C9D2E6"/>
                </a:solidFill>
                <a:latin typeface="Calibri"/>
              </a:rPr>
              <a:t>El equipo comercial revisa, ajusta y personaliza esta propuesta antes de cualquier interacción con el cliente.</a:t>
            </a:r>
          </a:p>
        </p:txBody>
      </p:sp>
      <p:sp>
        <p:nvSpPr>
          <p:cNvPr id="5" name="Oval 4"/>
          <p:cNvSpPr/>
          <p:nvPr/>
        </p:nvSpPr>
        <p:spPr>
          <a:xfrm>
            <a:off x="640080" y="237744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1325880" y="235915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Reunión de 45–60 minutos para confirmar alcance y calendario de las 2 promociones (ubicación, tipología, unidades, precios objetivo, plan de ventas, hitos de licencias y obra) y dimensionar necesidades de caja por fase.</a:t>
            </a:r>
          </a:p>
        </p:txBody>
      </p:sp>
      <p:sp>
        <p:nvSpPr>
          <p:cNvPr id="7" name="Oval 6"/>
          <p:cNvSpPr/>
          <p:nvPr/>
        </p:nvSpPr>
        <p:spPr>
          <a:xfrm>
            <a:off x="640080" y="338328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8" name="TextBox 7"/>
          <p:cNvSpPr txBox="1"/>
          <p:nvPr/>
        </p:nvSpPr>
        <p:spPr>
          <a:xfrm>
            <a:off x="1325880" y="336499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Solicitud de información mínima para crédito y proyecto: presupuesto detallado (suelo, construcción, gastos, contingencias), plan de preventas, calendario de obra, estructura societaria/SPV, detalle de endeudamiento actual y garantías disponibles.</a:t>
            </a:r>
          </a:p>
        </p:txBody>
      </p:sp>
      <p:sp>
        <p:nvSpPr>
          <p:cNvPr id="9" name="Oval 8"/>
          <p:cNvSpPr/>
          <p:nvPr/>
        </p:nvSpPr>
        <p:spPr>
          <a:xfrm>
            <a:off x="640080" y="4389120"/>
            <a:ext cx="502920" cy="502920"/>
          </a:xfrm>
          <a:prstGeom prst="ellipse">
            <a:avLst/>
          </a:prstGeom>
          <a:solidFill>
            <a:srgbClr val="C97B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0" name="TextBox 9"/>
          <p:cNvSpPr txBox="1"/>
          <p:nvPr/>
        </p:nvSpPr>
        <p:spPr>
          <a:xfrm>
            <a:off x="1325880" y="4370832"/>
            <a:ext cx="9875520" cy="868680"/>
          </a:xfrm>
          <a:prstGeom prst="rect">
            <a:avLst/>
          </a:prstGeom>
          <a:noFill/>
        </p:spPr>
        <p:txBody>
          <a:bodyPr wrap="square" anchor="ctr" lIns="0" rIns="0" tIns="0" bIns="0">
            <a:spAutoFit/>
          </a:bodyPr>
          <a:lstStyle/>
          <a:p>
            <a:pPr algn="l">
              <a:lnSpc>
                <a:spcPct val="120000"/>
              </a:lnSpc>
            </a:pPr>
            <a:r>
              <a:rPr sz="1700" b="0" i="0">
                <a:solidFill>
                  <a:srgbClr val="FFFFFF"/>
                </a:solidFill>
                <a:latin typeface="Calibri"/>
              </a:rPr>
              <a:t>Entrega de una hoja de términos indicativa y cronograma de aprobación (incluyendo condiciones precedentes, esquema de disposiciones, garantías, covenants y reporting) para posicionar la oferta en el proceso competitivo.</a:t>
            </a:r>
          </a:p>
        </p:txBody>
      </p:sp>
      <p:sp>
        <p:nvSpPr>
          <p:cNvPr id="11" name="TextBox 10"/>
          <p:cNvSpPr txBox="1"/>
          <p:nvPr/>
        </p:nvSpPr>
        <p:spPr>
          <a:xfrm>
            <a:off x="640080" y="6400800"/>
            <a:ext cx="8229600" cy="320040"/>
          </a:xfrm>
          <a:prstGeom prst="rect">
            <a:avLst/>
          </a:prstGeom>
          <a:noFill/>
        </p:spPr>
        <p:txBody>
          <a:bodyPr wrap="square" anchor="t" lIns="0" rIns="0" tIns="0" bIns="0">
            <a:spAutoFit/>
          </a:bodyPr>
          <a:lstStyle/>
          <a:p>
            <a:pPr algn="l"/>
            <a:r>
              <a:rPr sz="1050" b="0" i="0">
                <a:solidFill>
                  <a:srgbClr val="8C99BA"/>
                </a:solidFill>
                <a:latin typeface="Calibri"/>
              </a:rPr>
              <a:t>Corporate &amp; Deal Intelligence  ·  Documento de uso interno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
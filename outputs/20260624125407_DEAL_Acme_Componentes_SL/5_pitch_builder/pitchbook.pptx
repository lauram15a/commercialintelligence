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NO ESPECIFICADO</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4000" b="1" i="0">
                <a:solidFill>
                  <a:srgbClr val="222222"/>
                </a:solidFill>
                <a:latin typeface="Arial"/>
              </a:rPr>
              <a:t>Propuesta comercial | Acme Componentes SL</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Financiación de crecimiento y optimización de estructura de capital para sostener la expansión rentable en un entorno de desaceleración</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Acme Componentes SL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Acme Componentes SL combina crecimiento de ingresos (32,0m€ en 2022 a 42,0m€ en 2024) con mejora de márgenes (EBITDA 11,9%→13,8%), lo que sugiere apalancamiento operativo y capacidad de generación de resultados. En paralelo, el aumento de deuda (8,0m€→12,0m€) y del gasto financiero (0,45m€→0,61m€) apunta a una oportunidad de revisar el mix de financiación, reforzar flexibilidad y acompañar un posible ciclo inversor (proxy: amortizaciones al alza).</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Reunión de diagnóstico (60–90 min): confirmar drivers de crecimiento 2022–2024, lectura de la desaceleración 2024 y plan comercial/operativo 2025.</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2400" b="1" i="0">
                <a:solidFill>
                  <a:srgbClr val="FF6600"/>
                </a:solidFill>
                <a:latin typeface="Arial"/>
              </a:rPr>
              <a:t>32,0m€ (2022) → 38,0m€ (2023, +18,8% YoY) → 42,0m€ (2024, +10,5% YoY)</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No especificado</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32,0m€ (2022) → 38,0m€ (2023, +18,8% YoY) → 42,0m€ (2024, +10,5% YoY)</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11,9% (2022) → 12,9% (2023) → 13,8% (2024)</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Margen EBITDA</a:t>
            </a:r>
          </a:p>
        </p:txBody>
      </p:sp>
      <p:sp>
        <p:nvSpPr>
          <p:cNvPr id="14" name="Rectangle 13"/>
          <p:cNvSpPr/>
          <p:nvPr/>
        </p:nvSpPr>
        <p:spPr>
          <a:xfrm>
            <a:off x="822960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8,9% (2022) → 9,9% (2023) → 10,8% (2024)</a:t>
            </a:r>
          </a:p>
        </p:txBody>
      </p:sp>
      <p:sp>
        <p:nvSpPr>
          <p:cNvPr id="16" name="TextBox 15"/>
          <p:cNvSpPr txBox="1"/>
          <p:nvPr/>
        </p:nvSpPr>
        <p:spPr>
          <a:xfrm>
            <a:off x="848563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Margen EBIT</a:t>
            </a:r>
          </a:p>
        </p:txBody>
      </p:sp>
      <p:sp>
        <p:nvSpPr>
          <p:cNvPr id="17" name="TextBox 16"/>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8" name="TextBox 17"/>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Crecimiento de ingresos sostenido con desaceleración del ritmo en 2024, manteniendo expansión.</a:t>
            </a:r>
          </a:p>
          <a:p>
            <a:pPr>
              <a:lnSpc>
                <a:spcPct val="115000"/>
              </a:lnSpc>
              <a:spcAft>
                <a:spcPts val="800"/>
              </a:spcAft>
            </a:pPr>
            <a:r>
              <a:rPr sz="1300">
                <a:solidFill>
                  <a:srgbClr val="222222"/>
                </a:solidFill>
                <a:latin typeface="Arial"/>
              </a:rPr>
              <a:t>• Mejora progresiva de márgenes (EBITDA y EBIT), sugiriendo apalancamiento operativo pese al aumento de gastos de explotación.</a:t>
            </a:r>
          </a:p>
          <a:p>
            <a:pPr>
              <a:lnSpc>
                <a:spcPct val="115000"/>
              </a:lnSpc>
              <a:spcAft>
                <a:spcPts val="800"/>
              </a:spcAft>
            </a:pPr>
            <a:r>
              <a:rPr sz="1300">
                <a:solidFill>
                  <a:srgbClr val="222222"/>
                </a:solidFill>
                <a:latin typeface="Arial"/>
              </a:rPr>
              <a:t>• Aumento de amortizaciones (0,96m€ → 1,26m€) que apunta a mayor base de activos y posible intensificación de inversión.</a:t>
            </a:r>
          </a:p>
          <a:p>
            <a:pPr>
              <a:lnSpc>
                <a:spcPct val="115000"/>
              </a:lnSpc>
              <a:spcAft>
                <a:spcPts val="800"/>
              </a:spcAft>
            </a:pPr>
            <a:r>
              <a:rPr sz="1300">
                <a:solidFill>
                  <a:srgbClr val="222222"/>
                </a:solidFill>
                <a:latin typeface="Arial"/>
              </a:rPr>
              <a:t>• Incremento del endeudamiento financiero acompañado de crecimiento del patrimonio neto, consistente con retención de resultados.</a:t>
            </a:r>
          </a:p>
        </p:txBody>
      </p:sp>
      <p:sp>
        <p:nvSpPr>
          <p:cNvPr id="19" name="Rectangle 18"/>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21" name="TextBox 20"/>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compañía combina crecimiento con mejora de rentabilidad operativa, lo que indica una trayectoria financiera positiva y capacidad de generar resultados crecientes. Sin embargo, el aumento de deuda y de gastos financieros sugiere mayor apalancamiento y/o encarecimiento del coste de financiación. Si la expansión viene acompañada de mayor inversión en activos (inferida por el alza de amortizaciones), podría requerirse financiación adicional para sostener el plan de crecimiento y optimizar la estructura de capital.</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Acme Componentes SL es una compañía con crecimiento sostenido de ingresos entre 2022 y 2024 (32,0m€ → 42,0m€) y mejora progresiva de rentabilidad operativa. La evolución de márgenes (EBITDA y EBIT al alza) sugiere apalancamiento operativo y una gestión eficiente pese al aumento de gastos de explotación.</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En 2024 el crecimiento se desacelera (+10,5% YoY vs +18,8% en 2023), pero la expansión continúa y los márgenes mejoran (EBITDA 13,8%; EBIT 10,8%). A la vez, aumenta el endeudamiento financiero (8,0m€ → 12,0m€) y los gastos financieros (0,45m€ → 0,61m€), mientras el patrimonio neto crece (6,8m€ → 9,9m€), consistente con retención de resultados. Historial bancario: cliente desde N/D, rating interno N/D, sin operaciones activas e impagos 0.</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para sostener el crecimiento y posibles inversiones en activos (inferidas por el aumento de amortizaciones de 0,96m€ a 1,26m€).</a:t>
            </a:r>
          </a:p>
          <a:p>
            <a:pPr>
              <a:lnSpc>
                <a:spcPct val="115000"/>
              </a:lnSpc>
              <a:spcAft>
                <a:spcPts val="1000"/>
              </a:spcAft>
            </a:pPr>
            <a:r>
              <a:rPr sz="1300">
                <a:solidFill>
                  <a:srgbClr val="222222"/>
                </a:solidFill>
                <a:latin typeface="Arial"/>
              </a:rPr>
              <a:t>• Optimización de estructura de capital ante el incremento de deuda y del coste financiero (revisión de plazos, tipos y mix de financiación).</a:t>
            </a:r>
          </a:p>
          <a:p>
            <a:pPr>
              <a:lnSpc>
                <a:spcPct val="115000"/>
              </a:lnSpc>
              <a:spcAft>
                <a:spcPts val="1000"/>
              </a:spcAft>
            </a:pPr>
            <a:r>
              <a:rPr sz="1300">
                <a:solidFill>
                  <a:srgbClr val="222222"/>
                </a:solidFill>
                <a:latin typeface="Arial"/>
              </a:rPr>
              <a:t>• Soluciones de circulante para acompañar el crecimiento de ventas (p. ej., necesidades estacionales o por expansión), dado el aumento de escala del negocio.</a:t>
            </a:r>
          </a:p>
          <a:p>
            <a:pPr>
              <a:lnSpc>
                <a:spcPct val="115000"/>
              </a:lnSpc>
              <a:spcAft>
                <a:spcPts val="1000"/>
              </a:spcAft>
            </a:pPr>
            <a:r>
              <a:rPr sz="1300">
                <a:solidFill>
                  <a:srgbClr val="222222"/>
                </a:solidFill>
                <a:latin typeface="Arial"/>
              </a:rPr>
              <a:t>• Revisión de planificación financiera para mantener la mejora de márgenes en un entorno de desaceleración del crecimiento.</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Mayor apalancamiento financiero (deuda 12,0m€ en 2024) y aumento de gastos financieros, con potencial presión sobre el resultado si suben tipos o cae la actividad.</a:t>
            </a:r>
          </a:p>
          <a:p>
            <a:pPr>
              <a:lnSpc>
                <a:spcPct val="115000"/>
              </a:lnSpc>
              <a:spcAft>
                <a:spcPts val="1000"/>
              </a:spcAft>
            </a:pPr>
            <a:r>
              <a:rPr sz="1300">
                <a:solidFill>
                  <a:srgbClr val="222222"/>
                </a:solidFill>
                <a:latin typeface="Arial"/>
              </a:rPr>
              <a:t>• Desaceleración del crecimiento en 2024 que podría reducir el apalancamiento operativo si continúa la moderación de ingresos.</a:t>
            </a:r>
          </a:p>
          <a:p>
            <a:pPr>
              <a:lnSpc>
                <a:spcPct val="115000"/>
              </a:lnSpc>
              <a:spcAft>
                <a:spcPts val="1000"/>
              </a:spcAft>
            </a:pPr>
            <a:r>
              <a:rPr sz="1300">
                <a:solidFill>
                  <a:srgbClr val="222222"/>
                </a:solidFill>
                <a:latin typeface="Arial"/>
              </a:rPr>
              <a:t>• Posible intensificación de inversión en activos (proxy: amortizaciones al alza) sin visibilidad de CAPEX, con riesgo de tensiones de caja si la inversión se acelera.</a:t>
            </a:r>
          </a:p>
          <a:p>
            <a:pPr>
              <a:lnSpc>
                <a:spcPct val="115000"/>
              </a:lnSpc>
              <a:spcAft>
                <a:spcPts val="1000"/>
              </a:spcAft>
            </a:pPr>
            <a:r>
              <a:rPr sz="1300">
                <a:solidFill>
                  <a:srgbClr val="222222"/>
                </a:solidFill>
                <a:latin typeface="Arial"/>
              </a:rPr>
              <a:t>• Ausencia de información clave (rating interno N/D, antigüedad N/D, sin detalle de CAPEX) que limita la evaluación completa de necesidades y capacidad de endeudamiento.</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a medio/largo plazo para inversión y crecimiento (préstamo/financiación de activos) con estructura de amortización alineada a generación de caja y vida útil de activos.</a:t>
            </a:r>
          </a:p>
          <a:p>
            <a:pPr>
              <a:lnSpc>
                <a:spcPct val="115000"/>
              </a:lnSpc>
              <a:spcAft>
                <a:spcPts val="1000"/>
              </a:spcAft>
            </a:pPr>
            <a:r>
              <a:rPr sz="1350">
                <a:solidFill>
                  <a:srgbClr val="222222"/>
                </a:solidFill>
                <a:latin typeface="Arial"/>
              </a:rPr>
              <a:t>• Soluciones de circulante (líneas de crédito, financiación de cobros/pagos) para absorber necesidades derivadas del aumento de escala y posibles picos estacionales, con covenants y reporting adaptados.</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Fabricantes de componentes industriales (pymes) con crecimiento orgánico y necesidad de CAPEX para capacidad/productividad</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Proveedores B2B de componentes para automoción/maquinaria/industria con márgenes EBITDA en el rango bajo-medio teens y apalancamiento moderado</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Acompañamiento del plan 2025–2026: estructurar financiación que permita sostener crecimiento sin tensionar caja, especialmente si el ciclo inversor se acelera (amortizaciones al alza como indicador).</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Optimización del coste y del riesgo financiero: revisión de vencimientos, tipos (fijo/variable) y mix de deuda para mitigar sensibilidad a tipos y mejorar visibilidad de gastos financieros.</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Flexibilidad operativa: combinación de financiación de inversión + circulante para cubrir calendario de desembolsos/cobros, preservando capacidad de maniobra ante una posible continuidad de la desaceleración del crecimiento.</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Reunión de diagnóstico (60–90 min): confirmar drivers de crecimiento 2022–2024, lectura de la desaceleración 2024 y plan comercial/operativo 2025.</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Recopilación de información clave: detalle de deuda (importe, vencimientos, garantías, tipo fijo/variable), CAPEX histórico y previsto, y necesidades de circulante (DSO/DPO/stock) para dimensionar soluciones.</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Entrega de propuesta preliminar: alternativas de estructura (inversión vs circulante), calendario, rango de importes y condiciones indicativas, incluyendo escenarios de sensibilidad (tipos/crecimiento/márgenes).</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
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SALUD Y FARMACIA</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3200" b="1" i="0">
                <a:solidFill>
                  <a:srgbClr val="FFFFFF"/>
                </a:solidFill>
                <a:latin typeface="Cambria"/>
              </a:rPr>
              <a:t>BioMédica Ibérica SA | Financiación de expansión (20M€ CAPEX) y asesoramiento estratégico para optimizar estructura de capital</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Estructurar financiación a largo plazo y liquidez de apoyo para un CAPEX transformacional, manteniendo opcionalidad para incorporar un socio industrial.</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BioMédica Ibérica SA</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La compañía afronta un plan de CAPEX de 20M EUR para ampliar capacidad, de magnitud muy elevada frente a sus ingresos estimados, lo que apunta a una necesidad inmediata de financiación a largo plazo y una estructuración de deuda alineada con el ramp-up operativo. En paralelo, la mención de un posible socio industrial abre una ventana para asesoramiento estratégico/M&amp;A que permita optimizar el mix deuda/capital, mitigar riesgos de ejecución y acelerar el crecimiento. La oportunidad combina originación de financiación (prioridad alta) con un potencial mandato de asesoramiento corporativo.</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Solicitar paquete mínimo de información (teaser del proyecto, calendario CAPEX por tramos, plan de capacidad/ventas, endeudamiento actual, caja, EBITDA/FCF y proyecciones 3-5 años) para dimensionar capacidad de deuda y estructura objetivo.</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20M EUR</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CAPEX previsto</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Salud y Farmacia</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20M EUR</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CAPEX previsto</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31,0M EUR</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a:t>
            </a:r>
          </a:p>
        </p:txBody>
      </p:sp>
      <p:sp>
        <p:nvSpPr>
          <p:cNvPr id="12" name="Rounded Rectangle 11"/>
          <p:cNvSpPr/>
          <p:nvPr/>
        </p:nvSpPr>
        <p:spPr>
          <a:xfrm>
            <a:off x="822960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~65%</a:t>
            </a:r>
          </a:p>
        </p:txBody>
      </p:sp>
      <p:sp>
        <p:nvSpPr>
          <p:cNvPr id="14" name="TextBox 13"/>
          <p:cNvSpPr txBox="1"/>
          <p:nvPr/>
        </p:nvSpPr>
        <p:spPr>
          <a:xfrm>
            <a:off x="850392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CAPEX / ingresos</a:t>
            </a:r>
          </a:p>
        </p:txBody>
      </p:sp>
      <p:sp>
        <p:nvSpPr>
          <p:cNvPr id="15" name="TextBox 14"/>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6" name="TextBox 15"/>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Intensificación del esfuerzo inversor (CAPEX elevado) orientado a expansión de capacidad.</a:t>
            </a:r>
          </a:p>
          <a:p>
            <a:pPr>
              <a:lnSpc>
                <a:spcPct val="115000"/>
              </a:lnSpc>
              <a:spcAft>
                <a:spcPts val="600"/>
              </a:spcAft>
            </a:pPr>
            <a:r>
              <a:rPr sz="1300">
                <a:solidFill>
                  <a:srgbClr val="222A39"/>
                </a:solidFill>
                <a:latin typeface="Calibri"/>
              </a:rPr>
              <a:t>—  Potencial transformación del perfil operativo por ampliación de activos productivos.</a:t>
            </a:r>
          </a:p>
          <a:p>
            <a:pPr>
              <a:lnSpc>
                <a:spcPct val="115000"/>
              </a:lnSpc>
              <a:spcAft>
                <a:spcPts val="600"/>
              </a:spcAft>
            </a:pPr>
            <a:r>
              <a:rPr sz="1300">
                <a:solidFill>
                  <a:srgbClr val="222A39"/>
                </a:solidFill>
                <a:latin typeface="Calibri"/>
              </a:rPr>
              <a:t>—  Apertura a alternativas de financiación no bancaria mediante socio industrial/alianza.</a:t>
            </a:r>
          </a:p>
          <a:p>
            <a:pPr>
              <a:lnSpc>
                <a:spcPct val="115000"/>
              </a:lnSpc>
              <a:spcAft>
                <a:spcPts val="600"/>
              </a:spcAft>
            </a:pPr>
            <a:r>
              <a:rPr sz="1300">
                <a:solidFill>
                  <a:srgbClr val="222A39"/>
                </a:solidFill>
                <a:latin typeface="Calibri"/>
              </a:rPr>
              <a:t>—  Probable transición hacia una estructura de capital más compleja para sostener el crecimiento.</a:t>
            </a:r>
          </a:p>
        </p:txBody>
      </p:sp>
      <p:sp>
        <p:nvSpPr>
          <p:cNvPr id="17" name="Rounded Rectangle 16"/>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9" name="TextBox 18"/>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El plan de CAPEX (20M EUR) es muy elevado frente a los ingresos estimados (31,0M EUR), lo que sugiere una fase de expansión que probablemente tensionará la liquidez y requerirá financiación de largo plazo. La ausencia de datos de rentabilidad y endeudamiento impide evaluar capacidad de servicio de deuda, por lo que la estructuración (mix deuda/capital) será clave. La mención de un posible socio industrial apunta a una vía complementaria de capital/alianza para acelerar el crecimiento y mitigar el riesgo financiero del ciclo inversor.</a:t>
            </a:r>
          </a:p>
        </p:txBody>
      </p:sp>
      <p:sp>
        <p:nvSpPr>
          <p:cNvPr id="20" name="TextBox 19"/>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BioMédica Ibérica SA es una compañía del sector biomédico con ingresos estimados de 31,0M EUR. Se encuentra en una fase de expansión intensiva en inversión, con un plan de CAPEX relevante orientado a aumentar capacidad. La empresa contempla además alternativas estratégicas como la incorporación de un posible socio industrial.</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La compañía afronta un CAPEX previsto de 20M EUR (≈65% de los ingresos estimados), lo que sugiere un proyecto de expansión potencialmente transformacional y con impacto en liquidez. No se dispone de información sobre rentabilidad, generación de caja ni endeudamiento actual, por lo que la capacidad de asumir nueva deuda y el mix óptimo deuda/capital deben validarse. La mención de un socio industrial abre una vía complementaria a la financiación bancaria y puede afectar a la estructura de capital y al ritmo de crecimiento.</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Financiación a largo plazo para CAPEX (p.ej., préstamo/financiación de proyecto) y calendarización de desembolsos.</a:t>
            </a:r>
          </a:p>
          <a:p>
            <a:pPr>
              <a:lnSpc>
                <a:spcPct val="115000"/>
              </a:lnSpc>
              <a:spcAft>
                <a:spcPts val="800"/>
              </a:spcAft>
            </a:pPr>
            <a:r>
              <a:rPr sz="1300">
                <a:solidFill>
                  <a:srgbClr val="222A39"/>
                </a:solidFill>
                <a:latin typeface="Calibri"/>
              </a:rPr>
              <a:t>—  Estructuración de deuda (mix de plazos, amortización, posibles periodos de carencia) alineada con la puesta en marcha de la nueva capacidad.</a:t>
            </a:r>
          </a:p>
          <a:p>
            <a:pPr>
              <a:lnSpc>
                <a:spcPct val="115000"/>
              </a:lnSpc>
              <a:spcAft>
                <a:spcPts val="800"/>
              </a:spcAft>
            </a:pPr>
            <a:r>
              <a:rPr sz="1300">
                <a:solidFill>
                  <a:srgbClr val="222A39"/>
                </a:solidFill>
                <a:latin typeface="Calibri"/>
              </a:rPr>
              <a:t>—  Soluciones de liquidez durante el ciclo inversor (p.ej., puente a largo plazo) para mitigar tensiones de caja.</a:t>
            </a:r>
          </a:p>
          <a:p>
            <a:pPr>
              <a:lnSpc>
                <a:spcPct val="115000"/>
              </a:lnSpc>
              <a:spcAft>
                <a:spcPts val="800"/>
              </a:spcAft>
            </a:pPr>
            <a:r>
              <a:rPr sz="1300">
                <a:solidFill>
                  <a:srgbClr val="222A39"/>
                </a:solidFill>
                <a:latin typeface="Calibri"/>
              </a:rPr>
              <a:t>—  Asesoramiento estratégico/M&amp;A para evaluar entrada de socio industrial (estructura, valoración, implicaciones en control y estructura de capital).</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Riesgo de ejecución del CAPEX (desviaciones de coste/plazo) dada la magnitud relativa del plan inversor.</a:t>
            </a:r>
          </a:p>
          <a:p>
            <a:pPr>
              <a:lnSpc>
                <a:spcPct val="115000"/>
              </a:lnSpc>
              <a:spcAft>
                <a:spcPts val="800"/>
              </a:spcAft>
            </a:pPr>
            <a:r>
              <a:rPr sz="1300">
                <a:solidFill>
                  <a:srgbClr val="222A39"/>
                </a:solidFill>
                <a:latin typeface="Calibri"/>
              </a:rPr>
              <a:t>—  Riesgo de liquidez y de descalce de plazos si la financiación no acompasa el calendario de inversión.</a:t>
            </a:r>
          </a:p>
          <a:p>
            <a:pPr>
              <a:lnSpc>
                <a:spcPct val="115000"/>
              </a:lnSpc>
              <a:spcAft>
                <a:spcPts val="800"/>
              </a:spcAft>
            </a:pPr>
            <a:r>
              <a:rPr sz="1300">
                <a:solidFill>
                  <a:srgbClr val="222A39"/>
                </a:solidFill>
                <a:latin typeface="Calibri"/>
              </a:rPr>
              <a:t>—  Incertidumbre sobre capacidad de servicio de deuda por ausencia de datos de rentabilidad, caja y endeudamiento actual.</a:t>
            </a:r>
          </a:p>
          <a:p>
            <a:pPr>
              <a:lnSpc>
                <a:spcPct val="115000"/>
              </a:lnSpc>
              <a:spcAft>
                <a:spcPts val="800"/>
              </a:spcAft>
            </a:pPr>
            <a:r>
              <a:rPr sz="1300">
                <a:solidFill>
                  <a:srgbClr val="222A39"/>
                </a:solidFill>
                <a:latin typeface="Calibri"/>
              </a:rPr>
              <a:t>—  Riesgo de complejidad/impacto en gobernanza y estructura de capital derivado de la potencial entrada de un socio industrial.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de inversión a largo plazo (préstamo bilateral/sindicado) con amortización adaptada al ramp-up</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puente y línea de circulante para cubrir picos de caja durante la ejecución del CAPEX</a:t>
            </a:r>
          </a:p>
        </p:txBody>
      </p:sp>
      <p:sp>
        <p:nvSpPr>
          <p:cNvPr id="11" name="Oval 10"/>
          <p:cNvSpPr/>
          <p:nvPr/>
        </p:nvSpPr>
        <p:spPr>
          <a:xfrm>
            <a:off x="640080" y="3968496"/>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1188720" y="3968496"/>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Estructuración de deuda y covenant package (carencias, perfiles de amortización, DSCR/ratios) alineados con hitos del proyecto</a:t>
            </a:r>
          </a:p>
        </p:txBody>
      </p:sp>
      <p:sp>
        <p:nvSpPr>
          <p:cNvPr id="13" name="Oval 12"/>
          <p:cNvSpPr/>
          <p:nvPr/>
        </p:nvSpPr>
        <p:spPr>
          <a:xfrm>
            <a:off x="640080" y="4626864"/>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188720" y="4626864"/>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Asesoramiento estratégico y M&amp;A (búsqueda/selección de socio industrial, valoración, estructura de la operación y negociación)</a:t>
            </a:r>
          </a:p>
        </p:txBody>
      </p:sp>
      <p:sp>
        <p:nvSpPr>
          <p:cNvPr id="15" name="Rounded Rectangle 14"/>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7" name="TextBox 16"/>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Grifols</a:t>
            </a:r>
          </a:p>
        </p:txBody>
      </p:sp>
      <p:sp>
        <p:nvSpPr>
          <p:cNvPr id="18" name="TextBox 17"/>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Rovi</a:t>
            </a:r>
          </a:p>
        </p:txBody>
      </p:sp>
      <p:sp>
        <p:nvSpPr>
          <p:cNvPr id="19" name="TextBox 18"/>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20" name="Rounded Rectangle 19"/>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Estructuración a medida del calendario de desembolsos y puesta en marcha: periodos de carencia y amortización escalonada para reducir presión de caja en el ramp-up.</a:t>
            </a:r>
          </a:p>
        </p:txBody>
      </p:sp>
      <p:sp>
        <p:nvSpPr>
          <p:cNvPr id="22" name="Rounded Rectangle 21"/>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Enfoque integral deuda + capital: mantener opcionalidad entre financiación bancaria y entrada de socio industrial para optimizar coste de capital y control.</a:t>
            </a:r>
          </a:p>
        </p:txBody>
      </p:sp>
      <p:sp>
        <p:nvSpPr>
          <p:cNvPr id="24" name="Rounded Rectangle 23"/>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Gestión de riesgos del CAPEX: paquete de financiación con hitos, condiciones precedentes y mecanismos de seguimiento para mitigar desviaciones de coste/plazo.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Solicitar paquete mínimo de información (teaser del proyecto, calendario CAPEX por tramos, plan de capacidad/ventas, endeudamiento actual, caja, EBITDA/FCF y proyecciones 3-5 años) para dimensionar capacidad de deuda y estructura objetivo.</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Proponer en 5-7 días laborables un term sheet indicativo de financiación (largo plazo + puente/circulante) con escenarios de amortización y carencia ligados al ramp-up.</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Acordar un workshop estratégico sobre socio industrial (objetivo, perímetro, control, timing) y, si procede, definir alcance de mandato de asesoramiento (proceso, lista larga, criterios y calendario).</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
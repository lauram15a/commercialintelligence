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097280"/>
            <a:ext cx="3840480" cy="3840480"/>
          </a:xfrm>
          <a:prstGeom prst="ellipse">
            <a:avLst/>
          </a:prstGeom>
          <a:solidFill>
            <a:srgbClr val="2E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206240"/>
            <a:ext cx="2377440" cy="237744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640080"/>
            <a:ext cx="18288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INMOBILIARIO</a:t>
            </a:r>
          </a:p>
        </p:txBody>
      </p:sp>
      <p:sp>
        <p:nvSpPr>
          <p:cNvPr id="6" name="TextBox 5"/>
          <p:cNvSpPr txBox="1"/>
          <p:nvPr/>
        </p:nvSpPr>
        <p:spPr>
          <a:xfrm>
            <a:off x="640080" y="2286000"/>
            <a:ext cx="10515600" cy="2194560"/>
          </a:xfrm>
          <a:prstGeom prst="rect">
            <a:avLst/>
          </a:prstGeom>
          <a:noFill/>
        </p:spPr>
        <p:txBody>
          <a:bodyPr wrap="square" anchor="t" lIns="0" rIns="0" tIns="0" bIns="0">
            <a:spAutoFit/>
          </a:bodyPr>
          <a:lstStyle/>
          <a:p>
            <a:pPr algn="l">
              <a:lnSpc>
                <a:spcPct val="108000"/>
              </a:lnSpc>
            </a:pPr>
            <a:r>
              <a:rPr sz="3200" b="1" i="0">
                <a:solidFill>
                  <a:srgbClr val="FFFFFF"/>
                </a:solidFill>
                <a:latin typeface="Cambria"/>
              </a:rPr>
              <a:t>Propuesta comercial | Financiación promotor para nuevas promociones 2025</a:t>
            </a:r>
          </a:p>
        </p:txBody>
      </p:sp>
      <p:sp>
        <p:nvSpPr>
          <p:cNvPr id="7" name="TextBox 6"/>
          <p:cNvSpPr txBox="1"/>
          <p:nvPr/>
        </p:nvSpPr>
        <p:spPr>
          <a:xfrm>
            <a:off x="640080" y="4480560"/>
            <a:ext cx="9875520" cy="914400"/>
          </a:xfrm>
          <a:prstGeom prst="rect">
            <a:avLst/>
          </a:prstGeom>
          <a:noFill/>
        </p:spPr>
        <p:txBody>
          <a:bodyPr wrap="square" anchor="t" lIns="0" rIns="0" tIns="0" bIns="0">
            <a:spAutoFit/>
          </a:bodyPr>
          <a:lstStyle/>
          <a:p>
            <a:pPr algn="l">
              <a:lnSpc>
                <a:spcPct val="125000"/>
              </a:lnSpc>
            </a:pPr>
            <a:r>
              <a:rPr sz="1800" b="0" i="1">
                <a:solidFill>
                  <a:srgbClr val="C9D2E6"/>
                </a:solidFill>
                <a:latin typeface="Calibri"/>
              </a:rPr>
              <a:t>Estructurar financiación por proyecto (préstamo promotor + soluciones de ejecución) para acelerar el lanzamiento de 2 promociones en 2025 con disciplina de hitos y preventas</a:t>
            </a:r>
          </a:p>
        </p:txBody>
      </p:sp>
      <p:sp>
        <p:nvSpPr>
          <p:cNvPr id="8" name="TextBox 7"/>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OPORTUNIDAD DETECTADA</a:t>
            </a:r>
          </a:p>
        </p:txBody>
      </p:sp>
      <p:sp>
        <p:nvSpPr>
          <p:cNvPr id="5" name="TextBox 4"/>
          <p:cNvSpPr txBox="1"/>
          <p:nvPr/>
        </p:nvSpPr>
        <p:spPr>
          <a:xfrm>
            <a:off x="640080" y="1371600"/>
            <a:ext cx="6858000" cy="822960"/>
          </a:xfrm>
          <a:prstGeom prst="rect">
            <a:avLst/>
          </a:prstGeom>
          <a:noFill/>
        </p:spPr>
        <p:txBody>
          <a:bodyPr wrap="square" anchor="t" lIns="0" rIns="0" tIns="0" bIns="0">
            <a:spAutoFit/>
          </a:bodyPr>
          <a:lstStyle/>
          <a:p>
            <a:pPr algn="l"/>
            <a:r>
              <a:rPr sz="2800" b="1" i="0">
                <a:solidFill>
                  <a:srgbClr val="222A39"/>
                </a:solidFill>
                <a:latin typeface="Cambria"/>
              </a:rPr>
              <a:t>Promotora Levante Residencial SL</a:t>
            </a:r>
          </a:p>
        </p:txBody>
      </p:sp>
      <p:sp>
        <p:nvSpPr>
          <p:cNvPr id="6" name="TextBox 5"/>
          <p:cNvSpPr txBox="1"/>
          <p:nvPr/>
        </p:nvSpPr>
        <p:spPr>
          <a:xfrm>
            <a:off x="640080" y="2148840"/>
            <a:ext cx="6858000" cy="2468880"/>
          </a:xfrm>
          <a:prstGeom prst="rect">
            <a:avLst/>
          </a:prstGeom>
          <a:noFill/>
        </p:spPr>
        <p:txBody>
          <a:bodyPr wrap="square" anchor="t" lIns="0" rIns="0" tIns="0" bIns="0">
            <a:spAutoFit/>
          </a:bodyPr>
          <a:lstStyle/>
          <a:p>
            <a:pPr algn="l">
              <a:lnSpc>
                <a:spcPct val="135000"/>
              </a:lnSpc>
            </a:pPr>
            <a:r>
              <a:rPr sz="1500" b="0" i="0">
                <a:solidFill>
                  <a:srgbClr val="222A39"/>
                </a:solidFill>
                <a:latin typeface="Calibri"/>
              </a:rPr>
              <a:t>Promotora Levante Residencial SL ha anunciado el lanzamiento de dos nuevas promociones en 2025 y está en búsqueda activa de financiación promotor, lo que sugiere un proceso competitivo en curso y una ventana inmediata para originación. La oportunidad consiste en liderar una estructura de financiación por proyecto, con calendario de disposiciones ligado a hitos de obra y niveles de preventa, complementada con soluciones operativas (avales y confirming a contratistas) para asegurar ejecución y cadena de suministro.</a:t>
            </a:r>
          </a:p>
        </p:txBody>
      </p:sp>
      <p:sp>
        <p:nvSpPr>
          <p:cNvPr id="7" name="TextBox 6"/>
          <p:cNvSpPr txBox="1"/>
          <p:nvPr/>
        </p:nvSpPr>
        <p:spPr>
          <a:xfrm>
            <a:off x="640080" y="5212080"/>
            <a:ext cx="6858000" cy="365760"/>
          </a:xfrm>
          <a:prstGeom prst="rect">
            <a:avLst/>
          </a:prstGeom>
          <a:noFill/>
        </p:spPr>
        <p:txBody>
          <a:bodyPr wrap="square" anchor="t" lIns="0" rIns="0" tIns="0" bIns="0">
            <a:spAutoFit/>
          </a:bodyPr>
          <a:lstStyle/>
          <a:p>
            <a:pPr algn="l"/>
            <a:r>
              <a:rPr sz="1100" b="1" i="0">
                <a:solidFill>
                  <a:srgbClr val="6B7385"/>
                </a:solidFill>
                <a:latin typeface="Calibri"/>
              </a:rPr>
              <a:t>PRÓXIMA ACCIÓN</a:t>
            </a:r>
          </a:p>
        </p:txBody>
      </p:sp>
      <p:sp>
        <p:nvSpPr>
          <p:cNvPr id="8" name="TextBox 7"/>
          <p:cNvSpPr txBox="1"/>
          <p:nvPr/>
        </p:nvSpPr>
        <p:spPr>
          <a:xfrm>
            <a:off x="640080" y="5532120"/>
            <a:ext cx="6858000" cy="914400"/>
          </a:xfrm>
          <a:prstGeom prst="rect">
            <a:avLst/>
          </a:prstGeom>
          <a:noFill/>
        </p:spPr>
        <p:txBody>
          <a:bodyPr wrap="square" anchor="t" lIns="0" rIns="0" tIns="0" bIns="0">
            <a:spAutoFit/>
          </a:bodyPr>
          <a:lstStyle/>
          <a:p>
            <a:pPr algn="l">
              <a:lnSpc>
                <a:spcPct val="125000"/>
              </a:lnSpc>
            </a:pPr>
            <a:r>
              <a:rPr sz="1400" b="0" i="1">
                <a:solidFill>
                  <a:srgbClr val="1B2A4A"/>
                </a:solidFill>
                <a:latin typeface="Calibri"/>
              </a:rPr>
              <a:t>Solicitud de información (por promoción): ubicación y tipología, presupuesto total (suelo/obra/gastos), calendario de obra, plan de comercialización, estado de licencias, preventas (unidades, % y señal), y estructura societaria del proyecto.</a:t>
            </a:r>
          </a:p>
        </p:txBody>
      </p:sp>
      <p:sp>
        <p:nvSpPr>
          <p:cNvPr id="9" name="Rounded Rectangle 8"/>
          <p:cNvSpPr/>
          <p:nvPr/>
        </p:nvSpPr>
        <p:spPr>
          <a:xfrm>
            <a:off x="7863840" y="1371600"/>
            <a:ext cx="3657600" cy="484632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65760"/>
          </a:xfrm>
          <a:prstGeom prst="rect">
            <a:avLst/>
          </a:prstGeom>
          <a:noFill/>
        </p:spPr>
        <p:txBody>
          <a:bodyPr wrap="square" anchor="t" lIns="0" rIns="0" tIns="0" bIns="0">
            <a:spAutoFit/>
          </a:bodyPr>
          <a:lstStyle/>
          <a:p>
            <a:pPr algn="l"/>
            <a:r>
              <a:rPr sz="1100" b="1" i="0">
                <a:solidFill>
                  <a:srgbClr val="6B7385"/>
                </a:solidFill>
                <a:latin typeface="Calibri"/>
              </a:rPr>
              <a:t>EN UNA CIFRA</a:t>
            </a:r>
          </a:p>
        </p:txBody>
      </p:sp>
      <p:sp>
        <p:nvSpPr>
          <p:cNvPr id="11" name="TextBox 10"/>
          <p:cNvSpPr txBox="1"/>
          <p:nvPr/>
        </p:nvSpPr>
        <p:spPr>
          <a:xfrm>
            <a:off x="8229600" y="2057400"/>
            <a:ext cx="3017520" cy="914400"/>
          </a:xfrm>
          <a:prstGeom prst="rect">
            <a:avLst/>
          </a:prstGeom>
          <a:noFill/>
        </p:spPr>
        <p:txBody>
          <a:bodyPr wrap="square" anchor="t" lIns="0" rIns="0" tIns="0" bIns="0">
            <a:spAutoFit/>
          </a:bodyPr>
          <a:lstStyle/>
          <a:p>
            <a:pPr algn="l">
              <a:lnSpc>
                <a:spcPct val="100000"/>
              </a:lnSpc>
            </a:pPr>
            <a:r>
              <a:rPr sz="4800" b="1" i="0">
                <a:solidFill>
                  <a:srgbClr val="C97B4A"/>
                </a:solidFill>
                <a:latin typeface="Cambria"/>
              </a:rPr>
              <a:t>2</a:t>
            </a:r>
          </a:p>
        </p:txBody>
      </p:sp>
      <p:sp>
        <p:nvSpPr>
          <p:cNvPr id="12" name="TextBox 11"/>
          <p:cNvSpPr txBox="1"/>
          <p:nvPr/>
        </p:nvSpPr>
        <p:spPr>
          <a:xfrm>
            <a:off x="8229600" y="3063240"/>
            <a:ext cx="3017520" cy="731520"/>
          </a:xfrm>
          <a:prstGeom prst="rect">
            <a:avLst/>
          </a:prstGeom>
          <a:noFill/>
        </p:spPr>
        <p:txBody>
          <a:bodyPr wrap="square" anchor="t" lIns="0" rIns="0" tIns="0" bIns="0">
            <a:spAutoFit/>
          </a:bodyPr>
          <a:lstStyle/>
          <a:p>
            <a:pPr algn="l">
              <a:lnSpc>
                <a:spcPct val="120000"/>
              </a:lnSpc>
            </a:pPr>
            <a:r>
              <a:rPr sz="1300" b="0" i="0">
                <a:solidFill>
                  <a:srgbClr val="6B7385"/>
                </a:solidFill>
                <a:latin typeface="Calibri"/>
              </a:rPr>
              <a:t>Nuevas promociones (lanzamiento 2025)</a:t>
            </a:r>
          </a:p>
        </p:txBody>
      </p:sp>
      <p:sp>
        <p:nvSpPr>
          <p:cNvPr id="13" name="TextBox 12"/>
          <p:cNvSpPr txBox="1"/>
          <p:nvPr/>
        </p:nvSpPr>
        <p:spPr>
          <a:xfrm>
            <a:off x="8229600" y="4023360"/>
            <a:ext cx="3017520" cy="365760"/>
          </a:xfrm>
          <a:prstGeom prst="rect">
            <a:avLst/>
          </a:prstGeom>
          <a:noFill/>
        </p:spPr>
        <p:txBody>
          <a:bodyPr wrap="square" anchor="t" lIns="0" rIns="0" tIns="0" bIns="0">
            <a:spAutoFit/>
          </a:bodyPr>
          <a:lstStyle/>
          <a:p>
            <a:pPr algn="l"/>
            <a:r>
              <a:rPr sz="1100" b="1" i="0">
                <a:solidFill>
                  <a:srgbClr val="6B7385"/>
                </a:solidFill>
                <a:latin typeface="Calibri"/>
              </a:rPr>
              <a:t>SECTOR</a:t>
            </a:r>
          </a:p>
        </p:txBody>
      </p:sp>
      <p:sp>
        <p:nvSpPr>
          <p:cNvPr id="14" name="TextBox 13"/>
          <p:cNvSpPr txBox="1"/>
          <p:nvPr/>
        </p:nvSpPr>
        <p:spPr>
          <a:xfrm>
            <a:off x="8229600" y="4297680"/>
            <a:ext cx="3017520" cy="457200"/>
          </a:xfrm>
          <a:prstGeom prst="rect">
            <a:avLst/>
          </a:prstGeom>
          <a:noFill/>
        </p:spPr>
        <p:txBody>
          <a:bodyPr wrap="square" anchor="t" lIns="0" rIns="0" tIns="0" bIns="0">
            <a:spAutoFit/>
          </a:bodyPr>
          <a:lstStyle/>
          <a:p>
            <a:pPr algn="l"/>
            <a:r>
              <a:rPr sz="1600" b="1" i="0">
                <a:solidFill>
                  <a:srgbClr val="222A39"/>
                </a:solidFill>
                <a:latin typeface="Cambria"/>
              </a:rPr>
              <a:t>Inmobiliario</a:t>
            </a:r>
          </a:p>
        </p:txBody>
      </p:sp>
      <p:sp>
        <p:nvSpPr>
          <p:cNvPr id="15" name="TextBox 14"/>
          <p:cNvSpPr txBox="1"/>
          <p:nvPr/>
        </p:nvSpPr>
        <p:spPr>
          <a:xfrm>
            <a:off x="8229600" y="4937760"/>
            <a:ext cx="3017520" cy="365760"/>
          </a:xfrm>
          <a:prstGeom prst="rect">
            <a:avLst/>
          </a:prstGeom>
          <a:noFill/>
        </p:spPr>
        <p:txBody>
          <a:bodyPr wrap="square" anchor="t" lIns="0" rIns="0" tIns="0" bIns="0">
            <a:spAutoFit/>
          </a:bodyPr>
          <a:lstStyle/>
          <a:p>
            <a:pPr algn="l"/>
            <a:r>
              <a:rPr sz="1100" b="1" i="0">
                <a:solidFill>
                  <a:srgbClr val="6B7385"/>
                </a:solidFill>
                <a:latin typeface="Calibri"/>
              </a:rPr>
              <a:t>PRIORIDAD</a:t>
            </a:r>
          </a:p>
        </p:txBody>
      </p:sp>
      <p:sp>
        <p:nvSpPr>
          <p:cNvPr id="16" name="Rounded Rectangle 15"/>
          <p:cNvSpPr/>
          <p:nvPr/>
        </p:nvSpPr>
        <p:spPr>
          <a:xfrm>
            <a:off x="8229600" y="5212080"/>
            <a:ext cx="13716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ALTA</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CONTEXTO FINANCIERO</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Lo que dicen los números</a:t>
            </a:r>
          </a:p>
        </p:txBody>
      </p:sp>
      <p:sp>
        <p:nvSpPr>
          <p:cNvPr id="6" name="Rounded Rectangle 5"/>
          <p:cNvSpPr/>
          <p:nvPr/>
        </p:nvSpPr>
        <p:spPr>
          <a:xfrm>
            <a:off x="64008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2</a:t>
            </a:r>
          </a:p>
        </p:txBody>
      </p:sp>
      <p:sp>
        <p:nvSpPr>
          <p:cNvPr id="8" name="TextBox 7"/>
          <p:cNvSpPr txBox="1"/>
          <p:nvPr/>
        </p:nvSpPr>
        <p:spPr>
          <a:xfrm>
            <a:off x="91440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Nuevas promociones (lanzamiento 2025)</a:t>
            </a:r>
          </a:p>
        </p:txBody>
      </p:sp>
      <p:sp>
        <p:nvSpPr>
          <p:cNvPr id="9" name="Rounded Rectangle 8"/>
          <p:cNvSpPr/>
          <p:nvPr/>
        </p:nvSpPr>
        <p:spPr>
          <a:xfrm>
            <a:off x="443484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~18,0 M€</a:t>
            </a:r>
          </a:p>
        </p:txBody>
      </p:sp>
      <p:sp>
        <p:nvSpPr>
          <p:cNvPr id="11" name="TextBox 10"/>
          <p:cNvSpPr txBox="1"/>
          <p:nvPr/>
        </p:nvSpPr>
        <p:spPr>
          <a:xfrm>
            <a:off x="470916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Ingresos estimados asociados a nuevas promociones (2025)</a:t>
            </a:r>
          </a:p>
        </p:txBody>
      </p:sp>
      <p:sp>
        <p:nvSpPr>
          <p:cNvPr id="12" name="Rounded Rectangle 11"/>
          <p:cNvSpPr/>
          <p:nvPr/>
        </p:nvSpPr>
        <p:spPr>
          <a:xfrm>
            <a:off x="822960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560320"/>
            <a:ext cx="2971800" cy="822960"/>
          </a:xfrm>
          <a:prstGeom prst="rect">
            <a:avLst/>
          </a:prstGeom>
          <a:noFill/>
        </p:spPr>
        <p:txBody>
          <a:bodyPr wrap="square" anchor="t" lIns="0" rIns="0" tIns="0" bIns="0">
            <a:spAutoFit/>
          </a:bodyPr>
          <a:lstStyle/>
          <a:p>
            <a:pPr algn="l">
              <a:lnSpc>
                <a:spcPct val="100000"/>
              </a:lnSpc>
            </a:pPr>
            <a:r>
              <a:rPr sz="2200" b="1" i="0">
                <a:solidFill>
                  <a:srgbClr val="1B2A4A"/>
                </a:solidFill>
                <a:latin typeface="Cambria"/>
              </a:rPr>
              <a:t>búsqueda activa de financiación promotor</a:t>
            </a:r>
          </a:p>
        </p:txBody>
      </p:sp>
      <p:sp>
        <p:nvSpPr>
          <p:cNvPr id="14" name="TextBox 13"/>
          <p:cNvSpPr txBox="1"/>
          <p:nvPr/>
        </p:nvSpPr>
        <p:spPr>
          <a:xfrm>
            <a:off x="850392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Financiación</a:t>
            </a:r>
          </a:p>
        </p:txBody>
      </p:sp>
      <p:sp>
        <p:nvSpPr>
          <p:cNvPr id="15" name="TextBox 14"/>
          <p:cNvSpPr txBox="1"/>
          <p:nvPr/>
        </p:nvSpPr>
        <p:spPr>
          <a:xfrm>
            <a:off x="640080" y="4754880"/>
            <a:ext cx="5303520" cy="365760"/>
          </a:xfrm>
          <a:prstGeom prst="rect">
            <a:avLst/>
          </a:prstGeom>
          <a:noFill/>
        </p:spPr>
        <p:txBody>
          <a:bodyPr wrap="square" anchor="t" lIns="0" rIns="0" tIns="0" bIns="0">
            <a:spAutoFit/>
          </a:bodyPr>
          <a:lstStyle/>
          <a:p>
            <a:pPr algn="l"/>
            <a:r>
              <a:rPr sz="1100" b="1" i="0">
                <a:solidFill>
                  <a:srgbClr val="6B7385"/>
                </a:solidFill>
                <a:latin typeface="Calibri"/>
              </a:rPr>
              <a:t>TENDENCIAS ESTRUCTURALES</a:t>
            </a:r>
          </a:p>
        </p:txBody>
      </p:sp>
      <p:sp>
        <p:nvSpPr>
          <p:cNvPr id="16" name="TextBox 15"/>
          <p:cNvSpPr txBox="1"/>
          <p:nvPr/>
        </p:nvSpPr>
        <p:spPr>
          <a:xfrm>
            <a:off x="640080" y="5120640"/>
            <a:ext cx="5303520" cy="1463040"/>
          </a:xfrm>
          <a:prstGeom prst="rect">
            <a:avLst/>
          </a:prstGeom>
          <a:noFill/>
        </p:spPr>
        <p:txBody>
          <a:bodyPr wrap="square" lIns="0" rIns="0" tIns="0" bIns="0">
            <a:spAutoFit/>
          </a:bodyPr>
          <a:lstStyle/>
          <a:p>
            <a:pPr>
              <a:lnSpc>
                <a:spcPct val="115000"/>
              </a:lnSpc>
              <a:spcAft>
                <a:spcPts val="600"/>
              </a:spcAft>
            </a:pPr>
            <a:r>
              <a:rPr sz="1300">
                <a:solidFill>
                  <a:srgbClr val="222A39"/>
                </a:solidFill>
                <a:latin typeface="Calibri"/>
              </a:rPr>
              <a:t>—  Expansión del pipeline mediante lanzamiento de nuevas promociones en 2025.</a:t>
            </a:r>
          </a:p>
          <a:p>
            <a:pPr>
              <a:lnSpc>
                <a:spcPct val="115000"/>
              </a:lnSpc>
              <a:spcAft>
                <a:spcPts val="600"/>
              </a:spcAft>
            </a:pPr>
            <a:r>
              <a:rPr sz="1300">
                <a:solidFill>
                  <a:srgbClr val="222A39"/>
                </a:solidFill>
                <a:latin typeface="Calibri"/>
              </a:rPr>
              <a:t>—  Mayor consumo de caja esperado por adquisición de suelo, costes de construcción y gastos de comercialización.</a:t>
            </a:r>
          </a:p>
          <a:p>
            <a:pPr>
              <a:lnSpc>
                <a:spcPct val="115000"/>
              </a:lnSpc>
              <a:spcAft>
                <a:spcPts val="600"/>
              </a:spcAft>
            </a:pPr>
            <a:r>
              <a:rPr sz="1300">
                <a:solidFill>
                  <a:srgbClr val="222A39"/>
                </a:solidFill>
                <a:latin typeface="Calibri"/>
              </a:rPr>
              <a:t>—  Orientación a estructurar financiación por proyecto ligada a hitos de obra y preventas.</a:t>
            </a:r>
          </a:p>
        </p:txBody>
      </p:sp>
      <p:sp>
        <p:nvSpPr>
          <p:cNvPr id="17" name="Rounded Rectangle 16"/>
          <p:cNvSpPr/>
          <p:nvPr/>
        </p:nvSpPr>
        <p:spPr>
          <a:xfrm>
            <a:off x="6263640" y="4754880"/>
            <a:ext cx="5257800" cy="1737360"/>
          </a:xfrm>
          <a:prstGeom prst="roundRect">
            <a:avLst>
              <a:gd name="adj" fmla="val 6000"/>
            </a:avLst>
          </a:prstGeom>
          <a:solidFill>
            <a:srgbClr val="1B2A4A"/>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956048"/>
            <a:ext cx="4663440" cy="365760"/>
          </a:xfrm>
          <a:prstGeom prst="rect">
            <a:avLst/>
          </a:prstGeom>
          <a:noFill/>
        </p:spPr>
        <p:txBody>
          <a:bodyPr wrap="square" anchor="t" lIns="0" rIns="0" tIns="0" bIns="0">
            <a:spAutoFit/>
          </a:bodyPr>
          <a:lstStyle/>
          <a:p>
            <a:pPr algn="l"/>
            <a:r>
              <a:rPr sz="1100" b="1" i="0">
                <a:solidFill>
                  <a:srgbClr val="C9D2E6"/>
                </a:solidFill>
                <a:latin typeface="Calibri"/>
              </a:rPr>
              <a:t>INTERPRETACIÓN</a:t>
            </a:r>
          </a:p>
        </p:txBody>
      </p:sp>
      <p:sp>
        <p:nvSpPr>
          <p:cNvPr id="19" name="TextBox 18"/>
          <p:cNvSpPr txBox="1"/>
          <p:nvPr/>
        </p:nvSpPr>
        <p:spPr>
          <a:xfrm>
            <a:off x="6583680" y="5303520"/>
            <a:ext cx="4663440" cy="1097280"/>
          </a:xfrm>
          <a:prstGeom prst="rect">
            <a:avLst/>
          </a:prstGeom>
          <a:noFill/>
        </p:spPr>
        <p:txBody>
          <a:bodyPr wrap="square" anchor="t" lIns="0" rIns="0" tIns="0" bIns="0">
            <a:spAutoFit/>
          </a:bodyPr>
          <a:lstStyle/>
          <a:p>
            <a:pPr algn="l">
              <a:lnSpc>
                <a:spcPct val="125000"/>
              </a:lnSpc>
            </a:pPr>
            <a:r>
              <a:rPr sz="1300" b="0" i="1">
                <a:solidFill>
                  <a:srgbClr val="FFFFFF"/>
                </a:solidFill>
                <a:latin typeface="Calibri"/>
              </a:rPr>
              <a:t>La compañía se encuentra en una fase de crecimiento impulsada por nuevas promociones, pero sin información histórica ni de márgenes no puede evaluarse la calidad del crecimiento ni la rentabilidad esperada. La necesidad explícita de financiación sugiere un gap de liquidez/estructura de capital para ejecutar el plan (suelo, obra y comercialización), probablemente a cubrir con financiación promotor y herramientas asociadas (p. ej., avales) condicionadas a hitos y preventas. La ausencia de datos de endeudamiento actual impide valorar capacidad de apalancamiento y holgura financiera.</a:t>
            </a:r>
          </a:p>
        </p:txBody>
      </p:sp>
      <p:sp>
        <p:nvSpPr>
          <p:cNvPr id="20" name="TextBox 19"/>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BRIEFING DE CLIENTE</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Perfil y situación actual</a:t>
            </a:r>
          </a:p>
        </p:txBody>
      </p:sp>
      <p:sp>
        <p:nvSpPr>
          <p:cNvPr id="6" name="TextBox 5"/>
          <p:cNvSpPr txBox="1"/>
          <p:nvPr/>
        </p:nvSpPr>
        <p:spPr>
          <a:xfrm>
            <a:off x="640080" y="2148840"/>
            <a:ext cx="10881360" cy="822960"/>
          </a:xfrm>
          <a:prstGeom prst="rect">
            <a:avLst/>
          </a:prstGeom>
          <a:noFill/>
        </p:spPr>
        <p:txBody>
          <a:bodyPr wrap="square" anchor="t" lIns="0" rIns="0" tIns="0" bIns="0">
            <a:spAutoFit/>
          </a:bodyPr>
          <a:lstStyle/>
          <a:p>
            <a:pPr algn="l">
              <a:lnSpc>
                <a:spcPct val="130000"/>
              </a:lnSpc>
            </a:pPr>
            <a:r>
              <a:rPr sz="1400" b="0" i="0">
                <a:solidFill>
                  <a:srgbClr val="222A39"/>
                </a:solidFill>
                <a:latin typeface="Calibri"/>
              </a:rPr>
              <a:t>Promotora Levante Residencial SL es una compañía del sector inmobiliario enfocada en promoción residencial. Ha anunciado el lanzamiento de dos nuevas promociones en 2025, asociadas a ingresos estimados de ~18,0 M€, y se encuentra en búsqueda activa de financiación promotor.</a:t>
            </a:r>
          </a:p>
        </p:txBody>
      </p:sp>
      <p:sp>
        <p:nvSpPr>
          <p:cNvPr id="7" name="TextBox 6"/>
          <p:cNvSpPr txBox="1"/>
          <p:nvPr/>
        </p:nvSpPr>
        <p:spPr>
          <a:xfrm>
            <a:off x="640080" y="2880360"/>
            <a:ext cx="10881360" cy="822960"/>
          </a:xfrm>
          <a:prstGeom prst="rect">
            <a:avLst/>
          </a:prstGeom>
          <a:noFill/>
        </p:spPr>
        <p:txBody>
          <a:bodyPr wrap="square" anchor="t" lIns="0" rIns="0" tIns="0" bIns="0">
            <a:spAutoFit/>
          </a:bodyPr>
          <a:lstStyle/>
          <a:p>
            <a:pPr algn="l">
              <a:lnSpc>
                <a:spcPct val="130000"/>
              </a:lnSpc>
            </a:pPr>
            <a:r>
              <a:rPr sz="1400" b="0" i="1">
                <a:solidFill>
                  <a:srgbClr val="6B7385"/>
                </a:solidFill>
                <a:latin typeface="Calibri"/>
              </a:rPr>
              <a:t>La empresa está en una fase de expansión del pipeline con dos proyectos previstos para 2025, lo que previsiblemente incrementará el consumo de caja por suelo, construcción y comercialización. No se dispone de información histórica de ingresos, márgenes/EBITDA ni endeudamiento actual, por lo que no puede evaluarse con precisión la rentabilidad esperada ni la holgura financiera para asumir nueva deuda.</a:t>
            </a:r>
          </a:p>
        </p:txBody>
      </p:sp>
      <p:sp>
        <p:nvSpPr>
          <p:cNvPr id="8" name="Rounded Rectangle 7"/>
          <p:cNvSpPr/>
          <p:nvPr/>
        </p:nvSpPr>
        <p:spPr>
          <a:xfrm>
            <a:off x="640080" y="3794760"/>
            <a:ext cx="5349240" cy="269748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4069080"/>
            <a:ext cx="384048" cy="38404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0" name="TextBox 9"/>
          <p:cNvSpPr txBox="1"/>
          <p:nvPr/>
        </p:nvSpPr>
        <p:spPr>
          <a:xfrm>
            <a:off x="146304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NECESIDADES POTENCIALES</a:t>
            </a:r>
          </a:p>
        </p:txBody>
      </p:sp>
      <p:sp>
        <p:nvSpPr>
          <p:cNvPr id="11" name="TextBox 10"/>
          <p:cNvSpPr txBox="1"/>
          <p:nvPr/>
        </p:nvSpPr>
        <p:spPr>
          <a:xfrm>
            <a:off x="91440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Financiación promotor estructurada por proyecto, ligada a hitos de obra y niveles de preventas.</a:t>
            </a:r>
          </a:p>
          <a:p>
            <a:pPr>
              <a:lnSpc>
                <a:spcPct val="115000"/>
              </a:lnSpc>
              <a:spcAft>
                <a:spcPts val="800"/>
              </a:spcAft>
            </a:pPr>
            <a:r>
              <a:rPr sz="1300">
                <a:solidFill>
                  <a:srgbClr val="222A39"/>
                </a:solidFill>
                <a:latin typeface="Calibri"/>
              </a:rPr>
              <a:t>—  Estructuración de calendario de disposiciones para cubrir necesidades de caja (suelo, obra, comercialización) durante la ejecución.</a:t>
            </a:r>
          </a:p>
          <a:p>
            <a:pPr>
              <a:lnSpc>
                <a:spcPct val="115000"/>
              </a:lnSpc>
              <a:spcAft>
                <a:spcPts val="800"/>
              </a:spcAft>
            </a:pPr>
            <a:r>
              <a:rPr sz="1300">
                <a:solidFill>
                  <a:srgbClr val="222A39"/>
                </a:solidFill>
                <a:latin typeface="Calibri"/>
              </a:rPr>
              <a:t>—  Líneas complementarias vinculadas a la obra (p. ej., avales/confirming a contratistas) para facilitar la cadena de suministro y ejecución.</a:t>
            </a:r>
          </a:p>
        </p:txBody>
      </p:sp>
      <p:sp>
        <p:nvSpPr>
          <p:cNvPr id="12" name="Rounded Rectangle 11"/>
          <p:cNvSpPr/>
          <p:nvPr/>
        </p:nvSpPr>
        <p:spPr>
          <a:xfrm>
            <a:off x="6217920" y="3794760"/>
            <a:ext cx="5349240" cy="2697480"/>
          </a:xfrm>
          <a:prstGeom prst="roundRect">
            <a:avLst>
              <a:gd name="adj" fmla="val 6000"/>
            </a:avLst>
          </a:prstGeom>
          <a:solidFill>
            <a:srgbClr val="FFFFFF"/>
          </a:solidFill>
          <a:ln w="9525">
            <a:solidFill>
              <a:srgbClr val="DDD2BE"/>
            </a:solid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4069080"/>
            <a:ext cx="384048" cy="384048"/>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4" name="TextBox 13"/>
          <p:cNvSpPr txBox="1"/>
          <p:nvPr/>
        </p:nvSpPr>
        <p:spPr>
          <a:xfrm>
            <a:off x="704088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RIESGOS Y PUNTOS DE ATENCIÓN</a:t>
            </a:r>
          </a:p>
        </p:txBody>
      </p:sp>
      <p:sp>
        <p:nvSpPr>
          <p:cNvPr id="15" name="TextBox 14"/>
          <p:cNvSpPr txBox="1"/>
          <p:nvPr/>
        </p:nvSpPr>
        <p:spPr>
          <a:xfrm>
            <a:off x="649224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Falta de visibilidad sobre histórico financiero, márgenes y rentabilidad de las promociones; riesgo de no poder validar la calidad del crecimiento.</a:t>
            </a:r>
          </a:p>
          <a:p>
            <a:pPr>
              <a:lnSpc>
                <a:spcPct val="115000"/>
              </a:lnSpc>
              <a:spcAft>
                <a:spcPts val="800"/>
              </a:spcAft>
            </a:pPr>
            <a:r>
              <a:rPr sz="1300">
                <a:solidFill>
                  <a:srgbClr val="222A39"/>
                </a:solidFill>
                <a:latin typeface="Calibri"/>
              </a:rPr>
              <a:t>—  Ausencia de datos de endeudamiento actual y capacidad de apalancamiento; riesgo de sobreapalancamiento o headroom insuficiente.</a:t>
            </a:r>
          </a:p>
          <a:p>
            <a:pPr>
              <a:lnSpc>
                <a:spcPct val="115000"/>
              </a:lnSpc>
              <a:spcAft>
                <a:spcPts val="800"/>
              </a:spcAft>
            </a:pPr>
            <a:r>
              <a:rPr sz="1300">
                <a:solidFill>
                  <a:srgbClr val="222A39"/>
                </a:solidFill>
                <a:latin typeface="Calibri"/>
              </a:rPr>
              <a:t>—  Riesgo de ejecución de obra y de comercialización (dependencia de hitos y preventas para el ritmo de financiación).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ENCAJE Y COMPARABLES</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Cómo podemos ayudar</a:t>
            </a:r>
          </a:p>
        </p:txBody>
      </p:sp>
      <p:sp>
        <p:nvSpPr>
          <p:cNvPr id="6" name="TextBox 5"/>
          <p:cNvSpPr txBox="1"/>
          <p:nvPr/>
        </p:nvSpPr>
        <p:spPr>
          <a:xfrm>
            <a:off x="640080" y="2240280"/>
            <a:ext cx="6400800" cy="365760"/>
          </a:xfrm>
          <a:prstGeom prst="rect">
            <a:avLst/>
          </a:prstGeom>
          <a:noFill/>
        </p:spPr>
        <p:txBody>
          <a:bodyPr wrap="square" anchor="t" lIns="0" rIns="0" tIns="0" bIns="0">
            <a:spAutoFit/>
          </a:bodyPr>
          <a:lstStyle/>
          <a:p>
            <a:pPr algn="l"/>
            <a:r>
              <a:rPr sz="1100" b="1" i="0">
                <a:solidFill>
                  <a:srgbClr val="6B7385"/>
                </a:solidFill>
                <a:latin typeface="Calibri"/>
              </a:rPr>
              <a:t>ENCAJE CON PRODUCTOS DEL BANCO</a:t>
            </a:r>
          </a:p>
        </p:txBody>
      </p:sp>
      <p:sp>
        <p:nvSpPr>
          <p:cNvPr id="7" name="Oval 6"/>
          <p:cNvSpPr/>
          <p:nvPr/>
        </p:nvSpPr>
        <p:spPr>
          <a:xfrm>
            <a:off x="640080" y="2651760"/>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188720" y="2651760"/>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Préstamo promotor por proyecto (disposiciones contra certificaciones/hitos; condiciones ligadas a preventas; cuenta de proyecto y control de flujos).</a:t>
            </a:r>
          </a:p>
        </p:txBody>
      </p:sp>
      <p:sp>
        <p:nvSpPr>
          <p:cNvPr id="9" name="Oval 8"/>
          <p:cNvSpPr/>
          <p:nvPr/>
        </p:nvSpPr>
        <p:spPr>
          <a:xfrm>
            <a:off x="640080" y="3310128"/>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1188720" y="3310128"/>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Líneas complementarias de ejecución: línea de avales (técnicos/anticipo/garantías) y confirming/pagos a contratistas para optimizar la cadena de suministro y el ritmo de obra.</a:t>
            </a:r>
          </a:p>
        </p:txBody>
      </p:sp>
      <p:sp>
        <p:nvSpPr>
          <p:cNvPr id="11" name="Rounded Rectangle 10"/>
          <p:cNvSpPr/>
          <p:nvPr/>
        </p:nvSpPr>
        <p:spPr>
          <a:xfrm>
            <a:off x="7406640" y="2240280"/>
            <a:ext cx="4160520" cy="320040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514600"/>
            <a:ext cx="3566160" cy="365760"/>
          </a:xfrm>
          <a:prstGeom prst="rect">
            <a:avLst/>
          </a:prstGeom>
          <a:noFill/>
        </p:spPr>
        <p:txBody>
          <a:bodyPr wrap="square" anchor="t" lIns="0" rIns="0" tIns="0" bIns="0">
            <a:spAutoFit/>
          </a:bodyPr>
          <a:lstStyle/>
          <a:p>
            <a:pPr algn="l"/>
            <a:r>
              <a:rPr sz="1100" b="1" i="0">
                <a:solidFill>
                  <a:srgbClr val="6B7385"/>
                </a:solidFill>
                <a:latin typeface="Calibri"/>
              </a:rPr>
              <a:t>COMPARABLES SECTORIALES</a:t>
            </a:r>
          </a:p>
        </p:txBody>
      </p:sp>
      <p:sp>
        <p:nvSpPr>
          <p:cNvPr id="13" name="TextBox 12"/>
          <p:cNvSpPr txBox="1"/>
          <p:nvPr/>
        </p:nvSpPr>
        <p:spPr>
          <a:xfrm>
            <a:off x="7726679" y="297180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Financiación promotor residencial para promociones de tamaño medio con estructura por hitos y preventas (benchmark de mercado; múltiplos/condiciones específicas: [UNSOURCED]).</a:t>
            </a:r>
          </a:p>
        </p:txBody>
      </p:sp>
      <p:sp>
        <p:nvSpPr>
          <p:cNvPr id="14" name="TextBox 13"/>
          <p:cNvSpPr txBox="1"/>
          <p:nvPr/>
        </p:nvSpPr>
        <p:spPr>
          <a:xfrm>
            <a:off x="7726679" y="425196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Estructuras de financiación de proyecto inmobiliario con paquete de garantías (hipoteca sobre activo, pignoración de derechos de cobro, cuenta controlada) y líneas auxiliares para contratistas (benchmark de mercado; términos: [UNSOURCED]).</a:t>
            </a:r>
          </a:p>
        </p:txBody>
      </p:sp>
      <p:sp>
        <p:nvSpPr>
          <p:cNvPr id="15" name="TextBox 14"/>
          <p:cNvSpPr txBox="1"/>
          <p:nvPr/>
        </p:nvSpPr>
        <p:spPr>
          <a:xfrm>
            <a:off x="640080" y="5440680"/>
            <a:ext cx="10881360" cy="365760"/>
          </a:xfrm>
          <a:prstGeom prst="rect">
            <a:avLst/>
          </a:prstGeom>
          <a:noFill/>
        </p:spPr>
        <p:txBody>
          <a:bodyPr wrap="square" anchor="t" lIns="0" rIns="0" tIns="0" bIns="0">
            <a:spAutoFit/>
          </a:bodyPr>
          <a:lstStyle/>
          <a:p>
            <a:pPr algn="l"/>
            <a:r>
              <a:rPr sz="1100" b="1" i="0">
                <a:solidFill>
                  <a:srgbClr val="6B7385"/>
                </a:solidFill>
                <a:latin typeface="Calibri"/>
              </a:rPr>
              <a:t>ARGUMENTOS DE VALOR</a:t>
            </a:r>
          </a:p>
        </p:txBody>
      </p:sp>
      <p:sp>
        <p:nvSpPr>
          <p:cNvPr id="16" name="Rounded Rectangle 15"/>
          <p:cNvSpPr/>
          <p:nvPr/>
        </p:nvSpPr>
        <p:spPr>
          <a:xfrm>
            <a:off x="64008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Estructura a medida por proyecto: calendario de disposiciones alineado con el plan de obra y certificaciones, reduciendo coste financiero y mejorando control del riesgo.</a:t>
            </a:r>
          </a:p>
        </p:txBody>
      </p:sp>
      <p:sp>
        <p:nvSpPr>
          <p:cNvPr id="18" name="Rounded Rectangle 17"/>
          <p:cNvSpPr/>
          <p:nvPr/>
        </p:nvSpPr>
        <p:spPr>
          <a:xfrm>
            <a:off x="443484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Aceleración de ejecución: integración de avales y confirming para contratistas, facilitando aprovisionamiento y continuidad de obra sin tensiones de tesorería.</a:t>
            </a:r>
          </a:p>
        </p:txBody>
      </p:sp>
      <p:sp>
        <p:nvSpPr>
          <p:cNvPr id="20" name="Rounded Rectangle 19"/>
          <p:cNvSpPr/>
          <p:nvPr/>
        </p:nvSpPr>
        <p:spPr>
          <a:xfrm>
            <a:off x="822960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Disciplina comercial y de riesgo: condiciones ligadas a preventas y hitos (licencias, inicio de obra, porcentajes de preventa, DSRA/cuenta controlada), aportando visibilidad y mitigación de riesgo para ambas partes.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881360" cy="822960"/>
          </a:xfrm>
          <a:prstGeom prst="rect">
            <a:avLst/>
          </a:prstGeom>
          <a:noFill/>
        </p:spPr>
        <p:txBody>
          <a:bodyPr wrap="square" anchor="t" lIns="0" rIns="0" tIns="0" bIns="0">
            <a:spAutoFit/>
          </a:bodyPr>
          <a:lstStyle/>
          <a:p>
            <a:pPr algn="l"/>
            <a:r>
              <a:rPr sz="3400" b="1" i="0">
                <a:solidFill>
                  <a:srgbClr val="FFFFFF"/>
                </a:solidFill>
                <a:latin typeface="Cambria"/>
              </a:rPr>
              <a:t>Próximos pasos</a:t>
            </a:r>
          </a:p>
        </p:txBody>
      </p:sp>
      <p:sp>
        <p:nvSpPr>
          <p:cNvPr id="4" name="TextBox 3"/>
          <p:cNvSpPr txBox="1"/>
          <p:nvPr/>
        </p:nvSpPr>
        <p:spPr>
          <a:xfrm>
            <a:off x="640080" y="1463040"/>
            <a:ext cx="10058400" cy="548640"/>
          </a:xfrm>
          <a:prstGeom prst="rect">
            <a:avLst/>
          </a:prstGeom>
          <a:noFill/>
        </p:spPr>
        <p:txBody>
          <a:bodyPr wrap="square" anchor="t" lIns="0" rIns="0" tIns="0" bIns="0">
            <a:spAutoFit/>
          </a:bodyPr>
          <a:lstStyle/>
          <a:p>
            <a:pPr algn="l">
              <a:lnSpc>
                <a:spcPct val="130000"/>
              </a:lnSpc>
            </a:pPr>
            <a:r>
              <a:rPr sz="1500" b="0" i="1">
                <a:solidFill>
                  <a:srgbClr val="C9D2E6"/>
                </a:solidFill>
                <a:latin typeface="Calibri"/>
              </a:rPr>
              <a:t>El equipo comercial revisa, ajusta y personaliza esta propuesta antes de cualquier interacción con el cliente.</a:t>
            </a:r>
          </a:p>
        </p:txBody>
      </p:sp>
      <p:sp>
        <p:nvSpPr>
          <p:cNvPr id="5" name="Oval 4"/>
          <p:cNvSpPr/>
          <p:nvPr/>
        </p:nvSpPr>
        <p:spPr>
          <a:xfrm>
            <a:off x="640080" y="237744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325880" y="235915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Solicitud de información (por promoción): ubicación y tipología, presupuesto total (suelo/obra/gastos), calendario de obra, plan de comercialización, estado de licencias, preventas (unidades, % y señal), y estructura societaria del proyecto.</a:t>
            </a:r>
          </a:p>
        </p:txBody>
      </p:sp>
      <p:sp>
        <p:nvSpPr>
          <p:cNvPr id="7" name="Oval 6"/>
          <p:cNvSpPr/>
          <p:nvPr/>
        </p:nvSpPr>
        <p:spPr>
          <a:xfrm>
            <a:off x="640080" y="338328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325880" y="336499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Revisión financiera y de riesgos: estados financieros disponibles, deuda vigente y garantías, aportación de equity, contratista principal, y validación técnica (tasación/valoración, coste-to-complete, sensibilidad de ventas/precios).</a:t>
            </a:r>
          </a:p>
        </p:txBody>
      </p:sp>
      <p:sp>
        <p:nvSpPr>
          <p:cNvPr id="9" name="Oval 8"/>
          <p:cNvSpPr/>
          <p:nvPr/>
        </p:nvSpPr>
        <p:spPr>
          <a:xfrm>
            <a:off x="640080" y="438912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0" name="TextBox 9"/>
          <p:cNvSpPr txBox="1"/>
          <p:nvPr/>
        </p:nvSpPr>
        <p:spPr>
          <a:xfrm>
            <a:off x="1325880" y="437083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Presentación de términos indicativos: importe objetivo, LTV/LTC orientativos, esquema de disposiciones por hitos, paquete de garantías, covenants y propuesta de líneas auxiliares (avales/confirming) con un cronograma de cierre.</a:t>
            </a:r>
          </a:p>
        </p:txBody>
      </p:sp>
      <p:sp>
        <p:nvSpPr>
          <p:cNvPr id="11" name="TextBox 10"/>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
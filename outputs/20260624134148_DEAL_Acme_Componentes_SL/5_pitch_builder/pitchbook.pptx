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234440"/>
            <a:ext cx="201168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1">
                <a:solidFill>
                  <a:srgbClr val="FF6600"/>
                </a:solidFill>
                <a:latin typeface="Arial"/>
              </a:rPr>
              <a:t>INDUSTRIAL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71422"/>
            <a:ext cx="201168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57400"/>
            <a:ext cx="8686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222222"/>
                </a:solidFill>
                <a:latin typeface="Arial"/>
              </a:rPr>
              <a:t>Propuesta comercial | Acme Componentes SL (Industrial) – Financiación de expansión 2025 y preparación de refinanciación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069080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5A6B7B"/>
                </a:solidFill>
                <a:latin typeface="Arial"/>
              </a:rPr>
              <a:t>Estructurar una solución integral para CAPEX + circulante de la nueva planta en Polonia (2025) y optimizar/anticipar la refinanciación estimada de 12,0m€ en 2027.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OPORTUNIDAD DETECTADA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6400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Acme Componentes 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40280"/>
            <a:ext cx="6400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22222"/>
                </a:solidFill>
                <a:latin typeface="Arial"/>
              </a:rPr>
              <a:t>La puesta en marcha de una nueva planta en Polonia en 2025 sugiere un pico de inversión (CAPEX) y necesidades de liquidez asociadas (desembolsos por hitos, ramp-up operativo y potencial aumento de circulante). En paralelo, la existencia de una ventana de refinanciación en 2027 (deuda estimada 12,0m€) permite planificar con antelación una extensión de vencimientos y una optimización de coste/estructura, reduciendo riesgo de ejecución y mejorando flexibilidad financiera.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25780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PRÓXIMA ACCIÓN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559552"/>
            <a:ext cx="6400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F6600"/>
                </a:solidFill>
                <a:latin typeface="Arial"/>
              </a:rPr>
              <a:t>Sesión de trabajo (60–90 min) para dimensionar el plan Polonia: CAPEX total, calendario de hitos, proveedores, subvenciones/incentivos, necesidades de circulante y supuestos de ramp-up.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627632"/>
            <a:ext cx="3657600" cy="44805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874519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EN UNA CIFRA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2402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6600"/>
                </a:solidFill>
                <a:latin typeface="Arial"/>
              </a:rPr>
              <a:t>32,0m€ (2022) → 38,0m€ (2023, +18,8% interanual) → 42,0m€ (2024, +10,5%)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06324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Ingresos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840480"/>
            <a:ext cx="2926080" cy="127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00507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SECTOR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2793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Industrial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82803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PRIORIDAD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10235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6600"/>
                </a:solidFill>
                <a:latin typeface="Arial"/>
              </a:rPr>
              <a:t>ALTA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CONTEXTO FINANCIERO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Lo que dicen los números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32,0m€ (2022) → 38,0m€ (2023, +18,8% interanual) → 42,0m€ (2024, +10,5%)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Ingresos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11,9% (2022) → 12,9% (2023) → 13,8% (2024)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Margen EBITDA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8,9% (2022) → 9,9% (2023) → 10,8% (2024)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Margen EBIT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8006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TENDENCIAS ESTRUCTURALES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102352"/>
            <a:ext cx="521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Crecimiento de ingresos sostenido con desaceleración del ritmo (de +18,8% a +10,5%).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Mejora progresiva de la rentabilidad operativa (expansión de márgenes EBITDA y EBIT).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Aumento de amortizaciones, sugiriendo mayor base de activos (posible ciclo inversor, sin CAPEX explícito).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Apalancamiento nominal al alza, pero estable en términos de deuda/EBITDA (~2,1x), con mayor gasto financiero absoluto.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800600"/>
            <a:ext cx="5212080" cy="164592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983480"/>
            <a:ext cx="4663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INTERPRETACIÓN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285232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222"/>
                </a:solidFill>
                <a:latin typeface="Arial"/>
              </a:rPr>
              <a:t>Acme Componentes SL combina crecimiento con expansión de márgenes, lo que apunta a una mejora de eficiencia/mezcla pese al aumento de gastos de explotación. El endeudamiento aumenta, pero el ratio deuda/EBITDA se mantiene estable, mientras el mayor gasto financiero refleja un coste financiero absoluto más alto. Dado el incremento de amortizaciones (posible inversión) y el crecimiento, podría requerir financiación adicional para sostener inversiones y optimizar la estructura de capital, apoyándose en el refuerzo de patrimonio neto y el aumento del beneficio neto.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BRIEFING DE CLIENTE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Perfil y situación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48840"/>
            <a:ext cx="107624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222"/>
                </a:solidFill>
                <a:latin typeface="Arial"/>
              </a:rPr>
              <a:t>Acme Componentes SL es una compañía industrial (componentes) con crecimiento sostenido de ingresos entre 2022 y 2024 (32,0m€ → 42,0m€) y mejora progresiva de márgenes operativos. Presenta una base de activos en expansión (amortizaciones al alza), compatible con un ciclo inversor y crecimiento orgánico.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34640"/>
            <a:ext cx="107624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B7B"/>
                </a:solidFill>
                <a:latin typeface="Arial"/>
              </a:rPr>
              <a:t>La empresa mantiene expansión, aunque con desaceleración del crecimiento interanual (+18,8% en 2023 vs +10,5% en 2024), y mejora de rentabilidad (margen EBITDA 11,9% → 13,8%). El endeudamiento aumenta (8,0m€ → 12,0m€) pero el apalancamiento se mantiene estable en deuda/EBITDA (~2,1x), con mayor gasto financiero absoluto; además, se anticipa CAPEX relevante por nueva planta en Polonia (2025) y una potencial refinanciación en 2027 (deuda estimada 12,0m€).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NECESIDADES POTENCIALES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Financiación de CAPEX para la nueva planta en Polonia (2025): estructuración de deuda de inversión y calendario de desembolsos.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Financiación de circulante asociada al crecimiento/expansión (líneas de crédito, confirming/factoring u otras soluciones de working capital).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Refinanciación 2027 (deuda estimada 12,0m€): extensión de vencimientos, optimización de coste y estructura (posible sindicación/club deal según tamaño final).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Revisión de estructura de capital para sostener el crecimiento manteniendo métricas de apalancamiento en niveles objetivo.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RIESGOS Y PUNTOS DE ATENCIÓN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Ejecución del proyecto de expansión (planta en Polonia): riesgo de desviaciones de CAPEX/plazos y presión temporal sobre liquidez.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Aumento del coste financiero: los gastos financieros suben (0,45m€ → 0,61m€), lo que puede tensionar cobertura si el entorno de tipos se mantiene elevado o si sube la deuda.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Crecimiento desacelerando: menor ritmo de ventas podría afectar la capacidad de absorber mayor endeudamiento si el plan de expansión no se materializa según lo previsto.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Visibilidad limitada del CAPEX real (no hay dato explícito), lo que dificulta dimensionar necesidades y estructura óptima de financiación.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ENCAJE Y COMPARABLES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Cómo podemos ayudar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6400800" cy="28803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5852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ENCAJE CON PRODUCTOS DEL BANCO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16352"/>
            <a:ext cx="56692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Financiación de inversión (CAPEX): préstamo a largo plazo / financiación de proyecto con calendario de disposiciones por hitos, posible tramo puente a subvenciones y estructura de amortización alineada al ramp-up.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Soluciones de circulante: línea revolving, financiación de inventarios, confirming/factoring sin recurso (según elegibilidad) y herramientas de gestión de pagos/cobros para absorber picos de caja durante la puesta en marcha.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Refinanciación 2027: refinanciación bilateral/club deal o sindicación (según tamaño final), extensión de vencimientos, posible combinación de tramo amortizable + tramo bullet, y revisión de covenants para acomodar el ciclo inversor.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Coberturas de tipo de interés y divisa: estrategia de cobertura para mitigar volatilidad de tipos y exposición operativa/financiera asociada a Polonia (según estructura de costes e ingresos).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194560"/>
            <a:ext cx="4160520" cy="320040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450592"/>
            <a:ext cx="3566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COMPARABLES SECTORIALES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97180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Fabricantes europeos de componentes industriales (mid-market) con expansión internacional y márgenes EBITDA ~10–15% [UNSOURCED]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425196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Proveedores Tier-2/Tier-3 de componentes para automoción/maquinaria con apalancamiento objetivo ~2,0–3,0x Deuda/EBITDA [UNSOURCED]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532120"/>
            <a:ext cx="10762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ARGUMENTOS DE VALOR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Enfoque integral (CAPEX + circulante + refinanciación): una estructura coordinada reduce fricción operativa, evita soluciones ad-hoc y mejora visibilidad de liquidez durante el ramp-up de la planta.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Preparación temprana de 2027: iniciar ahora el trabajo de diagnóstico (deuda, garantías, covenants, plan industrial) permite llegar a mercado con narrativa sólida, mayor opcionalidad de estructura y menor riesgo de ejecución.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Estructura alineada al negocio: amortización y covenants calibrados a la curva de puesta en marcha (capex y capital circulante) para proteger flexibilidad sin comprometer disciplina financiera.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7624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6600"/>
                </a:solidFill>
                <a:latin typeface="Arial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93392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7B"/>
                </a:solidFill>
                <a:latin typeface="Arial"/>
              </a:rPr>
              <a:t>El equipo comercial revisa, ajusta y personaliza esta propuesta antes de cualquier interacción con el cliente.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43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743200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Sesión de trabajo (60–90 min) para dimensionar el plan Polonia: CAPEX total, calendario de hitos, proveedores, subvenciones/incentivos, necesidades de circulante y supuestos de ramp-up.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844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3584448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Recopilación de información y diagnóstico: estructura de deuda actual, vencimientos, garantías, covenants, detalle de working capital (DSO/DPO/DIO) y sensibilidad de caja (base/downside).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4256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425696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Propuesta de estructura y term sheet indicativo: alternativas de financiación (inversión + revolving + circulante), escenarios de covenants y plan de coberturas; definición de ruta para refinanciación 2027 (timing, documentación y estrategia de mercado).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
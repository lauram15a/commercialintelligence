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097280"/>
            <a:ext cx="3840480" cy="3840480"/>
          </a:xfrm>
          <a:prstGeom prst="ellipse">
            <a:avLst/>
          </a:prstGeom>
          <a:solidFill>
            <a:srgbClr val="2E4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607040" y="4206240"/>
            <a:ext cx="2377440" cy="2377440"/>
          </a:xfrm>
          <a:prstGeom prst="ellipse">
            <a:avLst/>
          </a:prstGeom>
          <a:solidFill>
            <a:srgbClr val="C97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640080"/>
            <a:ext cx="1828800" cy="384048"/>
          </a:xfrm>
          <a:prstGeom prst="roundRect">
            <a:avLst>
              <a:gd name="adj" fmla="val 50000"/>
            </a:avLst>
          </a:prstGeom>
          <a:solidFill>
            <a:srgbClr val="C9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50800" rIns="50800" tIns="0" bIns="0"/>
          <a:lstStyle/>
          <a:p>
            <a:pPr algn="ctr"/>
            <a:r>
              <a:rPr sz="1200" b="1">
                <a:solidFill>
                  <a:srgbClr val="FFFFFF"/>
                </a:solidFill>
                <a:latin typeface="Calibri"/>
              </a:rPr>
              <a:t>ENERGÍA</a:t>
            </a:r>
          </a:p>
        </p:txBody>
      </p:sp>
      <p:sp>
        <p:nvSpPr>
          <p:cNvPr id="6" name="TextBox 5"/>
          <p:cNvSpPr txBox="1"/>
          <p:nvPr/>
        </p:nvSpPr>
        <p:spPr>
          <a:xfrm>
            <a:off x="640080" y="2286000"/>
            <a:ext cx="10515600" cy="2194560"/>
          </a:xfrm>
          <a:prstGeom prst="rect">
            <a:avLst/>
          </a:prstGeom>
          <a:noFill/>
        </p:spPr>
        <p:txBody>
          <a:bodyPr wrap="square" anchor="t" lIns="0" rIns="0" tIns="0" bIns="0">
            <a:spAutoFit/>
          </a:bodyPr>
          <a:lstStyle/>
          <a:p>
            <a:pPr algn="l">
              <a:lnSpc>
                <a:spcPct val="108000"/>
              </a:lnSpc>
            </a:pPr>
            <a:r>
              <a:rPr sz="3200" b="1" i="0">
                <a:solidFill>
                  <a:srgbClr val="FFFFFF"/>
                </a:solidFill>
                <a:latin typeface="Cambria"/>
              </a:rPr>
              <a:t>Propuesta comercial | Cierre financiero y sindicación de Project Finance para nueva planta FV (~60M€) – Alcántara Energía Renovable SL</a:t>
            </a:r>
          </a:p>
        </p:txBody>
      </p:sp>
      <p:sp>
        <p:nvSpPr>
          <p:cNvPr id="7" name="TextBox 6"/>
          <p:cNvSpPr txBox="1"/>
          <p:nvPr/>
        </p:nvSpPr>
        <p:spPr>
          <a:xfrm>
            <a:off x="640080" y="4480560"/>
            <a:ext cx="9875520" cy="914400"/>
          </a:xfrm>
          <a:prstGeom prst="rect">
            <a:avLst/>
          </a:prstGeom>
          <a:noFill/>
        </p:spPr>
        <p:txBody>
          <a:bodyPr wrap="square" anchor="t" lIns="0" rIns="0" tIns="0" bIns="0">
            <a:spAutoFit/>
          </a:bodyPr>
          <a:lstStyle/>
          <a:p>
            <a:pPr algn="l">
              <a:lnSpc>
                <a:spcPct val="125000"/>
              </a:lnSpc>
            </a:pPr>
            <a:r>
              <a:rPr sz="1800" b="0" i="1">
                <a:solidFill>
                  <a:srgbClr val="C9D2E6"/>
                </a:solidFill>
                <a:latin typeface="Calibri"/>
              </a:rPr>
              <a:t>Acompañar el financial close con una estructura de project finance sindicada, coberturas y optimización del mix deuda/equity para asegurar ejecución y términos competitivos.</a:t>
            </a:r>
          </a:p>
        </p:txBody>
      </p:sp>
      <p:sp>
        <p:nvSpPr>
          <p:cNvPr id="8" name="TextBox 7"/>
          <p:cNvSpPr txBox="1"/>
          <p:nvPr/>
        </p:nvSpPr>
        <p:spPr>
          <a:xfrm>
            <a:off x="640080" y="6400800"/>
            <a:ext cx="8229600" cy="320040"/>
          </a:xfrm>
          <a:prstGeom prst="rect">
            <a:avLst/>
          </a:prstGeom>
          <a:noFill/>
        </p:spPr>
        <p:txBody>
          <a:bodyPr wrap="square" anchor="t" lIns="0" rIns="0" tIns="0" bIns="0">
            <a:spAutoFit/>
          </a:bodyPr>
          <a:lstStyle/>
          <a:p>
            <a:pPr algn="l"/>
            <a:r>
              <a:rPr sz="1050" b="0" i="0">
                <a:solidFill>
                  <a:srgbClr val="8C99BA"/>
                </a:solidFill>
                <a:latin typeface="Calibri"/>
              </a:rPr>
              <a:t>Corporate &amp; Deal Intelligence  ·  Documento de uso interno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94360"/>
            <a:ext cx="457200" cy="4572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1</a:t>
            </a:r>
          </a:p>
        </p:txBody>
      </p:sp>
      <p:sp>
        <p:nvSpPr>
          <p:cNvPr id="4" name="TextBox 3"/>
          <p:cNvSpPr txBox="1"/>
          <p:nvPr/>
        </p:nvSpPr>
        <p:spPr>
          <a:xfrm>
            <a:off x="1234440" y="548640"/>
            <a:ext cx="9144000" cy="548640"/>
          </a:xfrm>
          <a:prstGeom prst="rect">
            <a:avLst/>
          </a:prstGeom>
          <a:noFill/>
        </p:spPr>
        <p:txBody>
          <a:bodyPr wrap="square" anchor="ctr" lIns="0" rIns="0" tIns="0" bIns="0">
            <a:spAutoFit/>
          </a:bodyPr>
          <a:lstStyle/>
          <a:p>
            <a:pPr algn="l"/>
            <a:r>
              <a:rPr sz="1400" b="1" i="0">
                <a:solidFill>
                  <a:srgbClr val="1B2A4A"/>
                </a:solidFill>
                <a:latin typeface="Calibri"/>
              </a:rPr>
              <a:t>OPORTUNIDAD DETECTADA</a:t>
            </a:r>
          </a:p>
        </p:txBody>
      </p:sp>
      <p:sp>
        <p:nvSpPr>
          <p:cNvPr id="5" name="TextBox 4"/>
          <p:cNvSpPr txBox="1"/>
          <p:nvPr/>
        </p:nvSpPr>
        <p:spPr>
          <a:xfrm>
            <a:off x="640080" y="1371600"/>
            <a:ext cx="6858000" cy="822960"/>
          </a:xfrm>
          <a:prstGeom prst="rect">
            <a:avLst/>
          </a:prstGeom>
          <a:noFill/>
        </p:spPr>
        <p:txBody>
          <a:bodyPr wrap="square" anchor="t" lIns="0" rIns="0" tIns="0" bIns="0">
            <a:spAutoFit/>
          </a:bodyPr>
          <a:lstStyle/>
          <a:p>
            <a:pPr algn="l"/>
            <a:r>
              <a:rPr sz="2800" b="1" i="0">
                <a:solidFill>
                  <a:srgbClr val="222A39"/>
                </a:solidFill>
                <a:latin typeface="Cambria"/>
              </a:rPr>
              <a:t>Alcántara Energía Renovable SL</a:t>
            </a:r>
          </a:p>
        </p:txBody>
      </p:sp>
      <p:sp>
        <p:nvSpPr>
          <p:cNvPr id="6" name="TextBox 5"/>
          <p:cNvSpPr txBox="1"/>
          <p:nvPr/>
        </p:nvSpPr>
        <p:spPr>
          <a:xfrm>
            <a:off x="640080" y="2148840"/>
            <a:ext cx="6858000" cy="2468880"/>
          </a:xfrm>
          <a:prstGeom prst="rect">
            <a:avLst/>
          </a:prstGeom>
          <a:noFill/>
        </p:spPr>
        <p:txBody>
          <a:bodyPr wrap="square" anchor="t" lIns="0" rIns="0" tIns="0" bIns="0">
            <a:spAutoFit/>
          </a:bodyPr>
          <a:lstStyle/>
          <a:p>
            <a:pPr algn="l">
              <a:lnSpc>
                <a:spcPct val="135000"/>
              </a:lnSpc>
            </a:pPr>
            <a:r>
              <a:rPr sz="1500" b="0" i="0">
                <a:solidFill>
                  <a:srgbClr val="222A39"/>
                </a:solidFill>
                <a:latin typeface="Calibri"/>
              </a:rPr>
              <a:t>Alcántara Energía Renovable SL está en una ventana crítica de “financial close” para una planta fotovoltaica con CAPEX aproximado de ~60M€, lo que exige una estructuración inmediata de financiación de proyecto y, previsiblemente, sindicación para asegurar capacidad y diversificación de entidades. Dada la limitada visibilidad financiera pública (sin EBITDA/márgenes ni deuda reportada), el valor del banco se centra en acelerar el proceso con un paquete de información mínimo, definir términos bancables, coordinar documentación y mitigar riesgos mediante coberturas. Adicionalmente, puede existir necesidad de completar el equity del proyecto mediante coinversión institucional, optimizando la estructura de capital y el coste total.</a:t>
            </a:r>
          </a:p>
        </p:txBody>
      </p:sp>
      <p:sp>
        <p:nvSpPr>
          <p:cNvPr id="7" name="TextBox 6"/>
          <p:cNvSpPr txBox="1"/>
          <p:nvPr/>
        </p:nvSpPr>
        <p:spPr>
          <a:xfrm>
            <a:off x="640080" y="5212080"/>
            <a:ext cx="6858000" cy="365760"/>
          </a:xfrm>
          <a:prstGeom prst="rect">
            <a:avLst/>
          </a:prstGeom>
          <a:noFill/>
        </p:spPr>
        <p:txBody>
          <a:bodyPr wrap="square" anchor="t" lIns="0" rIns="0" tIns="0" bIns="0">
            <a:spAutoFit/>
          </a:bodyPr>
          <a:lstStyle/>
          <a:p>
            <a:pPr algn="l"/>
            <a:r>
              <a:rPr sz="1100" b="1" i="0">
                <a:solidFill>
                  <a:srgbClr val="6B7385"/>
                </a:solidFill>
                <a:latin typeface="Calibri"/>
              </a:rPr>
              <a:t>PRÓXIMA ACCIÓN</a:t>
            </a:r>
          </a:p>
        </p:txBody>
      </p:sp>
      <p:sp>
        <p:nvSpPr>
          <p:cNvPr id="8" name="TextBox 7"/>
          <p:cNvSpPr txBox="1"/>
          <p:nvPr/>
        </p:nvSpPr>
        <p:spPr>
          <a:xfrm>
            <a:off x="640080" y="5532120"/>
            <a:ext cx="6858000" cy="914400"/>
          </a:xfrm>
          <a:prstGeom prst="rect">
            <a:avLst/>
          </a:prstGeom>
          <a:noFill/>
        </p:spPr>
        <p:txBody>
          <a:bodyPr wrap="square" anchor="t" lIns="0" rIns="0" tIns="0" bIns="0">
            <a:spAutoFit/>
          </a:bodyPr>
          <a:lstStyle/>
          <a:p>
            <a:pPr algn="l">
              <a:lnSpc>
                <a:spcPct val="125000"/>
              </a:lnSpc>
            </a:pPr>
            <a:r>
              <a:rPr sz="1400" b="0" i="1">
                <a:solidFill>
                  <a:srgbClr val="1B2A4A"/>
                </a:solidFill>
                <a:latin typeface="Calibri"/>
              </a:rPr>
              <a:t>Convocar reunión de 60–90 minutos para confirmar estado del financial close (hitos pendientes, permisos, contratos clave, calendario objetivo) y la estructura objetivo (deuda/equity, tenor, amortización, garantías).</a:t>
            </a:r>
          </a:p>
        </p:txBody>
      </p:sp>
      <p:sp>
        <p:nvSpPr>
          <p:cNvPr id="9" name="Rounded Rectangle 8"/>
          <p:cNvSpPr/>
          <p:nvPr/>
        </p:nvSpPr>
        <p:spPr>
          <a:xfrm>
            <a:off x="7863840" y="1371600"/>
            <a:ext cx="3657600" cy="4846320"/>
          </a:xfrm>
          <a:prstGeom prst="roundRect">
            <a:avLst>
              <a:gd name="adj" fmla="val 6000"/>
            </a:avLst>
          </a:prstGeom>
          <a:solidFill>
            <a:srgbClr val="FFFFFF"/>
          </a:solidFill>
          <a:ln>
            <a:no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691640"/>
            <a:ext cx="3017520" cy="365760"/>
          </a:xfrm>
          <a:prstGeom prst="rect">
            <a:avLst/>
          </a:prstGeom>
          <a:noFill/>
        </p:spPr>
        <p:txBody>
          <a:bodyPr wrap="square" anchor="t" lIns="0" rIns="0" tIns="0" bIns="0">
            <a:spAutoFit/>
          </a:bodyPr>
          <a:lstStyle/>
          <a:p>
            <a:pPr algn="l"/>
            <a:r>
              <a:rPr sz="1100" b="1" i="0">
                <a:solidFill>
                  <a:srgbClr val="6B7385"/>
                </a:solidFill>
                <a:latin typeface="Calibri"/>
              </a:rPr>
              <a:t>EN UNA CIFRA</a:t>
            </a:r>
          </a:p>
        </p:txBody>
      </p:sp>
      <p:sp>
        <p:nvSpPr>
          <p:cNvPr id="11" name="TextBox 10"/>
          <p:cNvSpPr txBox="1"/>
          <p:nvPr/>
        </p:nvSpPr>
        <p:spPr>
          <a:xfrm>
            <a:off x="8229600" y="2057400"/>
            <a:ext cx="3017520" cy="914400"/>
          </a:xfrm>
          <a:prstGeom prst="rect">
            <a:avLst/>
          </a:prstGeom>
          <a:noFill/>
        </p:spPr>
        <p:txBody>
          <a:bodyPr wrap="square" anchor="t" lIns="0" rIns="0" tIns="0" bIns="0">
            <a:spAutoFit/>
          </a:bodyPr>
          <a:lstStyle/>
          <a:p>
            <a:pPr algn="l">
              <a:lnSpc>
                <a:spcPct val="100000"/>
              </a:lnSpc>
            </a:pPr>
            <a:r>
              <a:rPr sz="4800" b="1" i="0">
                <a:solidFill>
                  <a:srgbClr val="C97B4A"/>
                </a:solidFill>
                <a:latin typeface="Cambria"/>
              </a:rPr>
              <a:t>~5,9M€</a:t>
            </a:r>
          </a:p>
        </p:txBody>
      </p:sp>
      <p:sp>
        <p:nvSpPr>
          <p:cNvPr id="12" name="TextBox 11"/>
          <p:cNvSpPr txBox="1"/>
          <p:nvPr/>
        </p:nvSpPr>
        <p:spPr>
          <a:xfrm>
            <a:off x="8229600" y="3063240"/>
            <a:ext cx="3017520" cy="731520"/>
          </a:xfrm>
          <a:prstGeom prst="rect">
            <a:avLst/>
          </a:prstGeom>
          <a:noFill/>
        </p:spPr>
        <p:txBody>
          <a:bodyPr wrap="square" anchor="t" lIns="0" rIns="0" tIns="0" bIns="0">
            <a:spAutoFit/>
          </a:bodyPr>
          <a:lstStyle/>
          <a:p>
            <a:pPr algn="l">
              <a:lnSpc>
                <a:spcPct val="120000"/>
              </a:lnSpc>
            </a:pPr>
            <a:r>
              <a:rPr sz="1300" b="0" i="0">
                <a:solidFill>
                  <a:srgbClr val="6B7385"/>
                </a:solidFill>
                <a:latin typeface="Calibri"/>
              </a:rPr>
              <a:t>Ingresos estimados</a:t>
            </a:r>
          </a:p>
        </p:txBody>
      </p:sp>
      <p:sp>
        <p:nvSpPr>
          <p:cNvPr id="13" name="TextBox 12"/>
          <p:cNvSpPr txBox="1"/>
          <p:nvPr/>
        </p:nvSpPr>
        <p:spPr>
          <a:xfrm>
            <a:off x="8229600" y="4023360"/>
            <a:ext cx="3017520" cy="365760"/>
          </a:xfrm>
          <a:prstGeom prst="rect">
            <a:avLst/>
          </a:prstGeom>
          <a:noFill/>
        </p:spPr>
        <p:txBody>
          <a:bodyPr wrap="square" anchor="t" lIns="0" rIns="0" tIns="0" bIns="0">
            <a:spAutoFit/>
          </a:bodyPr>
          <a:lstStyle/>
          <a:p>
            <a:pPr algn="l"/>
            <a:r>
              <a:rPr sz="1100" b="1" i="0">
                <a:solidFill>
                  <a:srgbClr val="6B7385"/>
                </a:solidFill>
                <a:latin typeface="Calibri"/>
              </a:rPr>
              <a:t>SECTOR</a:t>
            </a:r>
          </a:p>
        </p:txBody>
      </p:sp>
      <p:sp>
        <p:nvSpPr>
          <p:cNvPr id="14" name="TextBox 13"/>
          <p:cNvSpPr txBox="1"/>
          <p:nvPr/>
        </p:nvSpPr>
        <p:spPr>
          <a:xfrm>
            <a:off x="8229600" y="4297680"/>
            <a:ext cx="3017520" cy="457200"/>
          </a:xfrm>
          <a:prstGeom prst="rect">
            <a:avLst/>
          </a:prstGeom>
          <a:noFill/>
        </p:spPr>
        <p:txBody>
          <a:bodyPr wrap="square" anchor="t" lIns="0" rIns="0" tIns="0" bIns="0">
            <a:spAutoFit/>
          </a:bodyPr>
          <a:lstStyle/>
          <a:p>
            <a:pPr algn="l"/>
            <a:r>
              <a:rPr sz="1600" b="1" i="0">
                <a:solidFill>
                  <a:srgbClr val="222A39"/>
                </a:solidFill>
                <a:latin typeface="Cambria"/>
              </a:rPr>
              <a:t>Energía</a:t>
            </a:r>
          </a:p>
        </p:txBody>
      </p:sp>
      <p:sp>
        <p:nvSpPr>
          <p:cNvPr id="15" name="TextBox 14"/>
          <p:cNvSpPr txBox="1"/>
          <p:nvPr/>
        </p:nvSpPr>
        <p:spPr>
          <a:xfrm>
            <a:off x="8229600" y="4937760"/>
            <a:ext cx="3017520" cy="365760"/>
          </a:xfrm>
          <a:prstGeom prst="rect">
            <a:avLst/>
          </a:prstGeom>
          <a:noFill/>
        </p:spPr>
        <p:txBody>
          <a:bodyPr wrap="square" anchor="t" lIns="0" rIns="0" tIns="0" bIns="0">
            <a:spAutoFit/>
          </a:bodyPr>
          <a:lstStyle/>
          <a:p>
            <a:pPr algn="l"/>
            <a:r>
              <a:rPr sz="1100" b="1" i="0">
                <a:solidFill>
                  <a:srgbClr val="6B7385"/>
                </a:solidFill>
                <a:latin typeface="Calibri"/>
              </a:rPr>
              <a:t>PRIORIDAD</a:t>
            </a:r>
          </a:p>
        </p:txBody>
      </p:sp>
      <p:sp>
        <p:nvSpPr>
          <p:cNvPr id="16" name="Rounded Rectangle 15"/>
          <p:cNvSpPr/>
          <p:nvPr/>
        </p:nvSpPr>
        <p:spPr>
          <a:xfrm>
            <a:off x="8229600" y="5212080"/>
            <a:ext cx="1371600" cy="384048"/>
          </a:xfrm>
          <a:prstGeom prst="roundRect">
            <a:avLst>
              <a:gd name="adj" fmla="val 50000"/>
            </a:avLst>
          </a:prstGeom>
          <a:solidFill>
            <a:srgbClr val="C9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50800" rIns="50800" tIns="0" bIns="0"/>
          <a:lstStyle/>
          <a:p>
            <a:pPr algn="ctr"/>
            <a:r>
              <a:rPr sz="1200" b="1">
                <a:solidFill>
                  <a:srgbClr val="FFFFFF"/>
                </a:solidFill>
                <a:latin typeface="Calibri"/>
              </a:rPr>
              <a:t>ALTA</a:t>
            </a:r>
          </a:p>
        </p:txBody>
      </p:sp>
      <p:sp>
        <p:nvSpPr>
          <p:cNvPr id="17" name="TextBox 16"/>
          <p:cNvSpPr txBox="1"/>
          <p:nvPr/>
        </p:nvSpPr>
        <p:spPr>
          <a:xfrm>
            <a:off x="640080" y="6400800"/>
            <a:ext cx="8229600" cy="320040"/>
          </a:xfrm>
          <a:prstGeom prst="rect">
            <a:avLst/>
          </a:prstGeom>
          <a:noFill/>
        </p:spPr>
        <p:txBody>
          <a:bodyPr wrap="square" anchor="t" lIns="0" rIns="0" tIns="0" bIns="0">
            <a:spAutoFit/>
          </a:bodyPr>
          <a:lstStyle/>
          <a:p>
            <a:pPr algn="l"/>
            <a:r>
              <a:rPr sz="1050" b="0" i="0">
                <a:solidFill>
                  <a:srgbClr val="6B7385"/>
                </a:solidFill>
                <a:latin typeface="Calibri"/>
              </a:rPr>
              <a:t>Corporate &amp; Deal Intelligence  ·  Documento de uso interno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94360"/>
            <a:ext cx="457200" cy="4572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2</a:t>
            </a:r>
          </a:p>
        </p:txBody>
      </p:sp>
      <p:sp>
        <p:nvSpPr>
          <p:cNvPr id="4" name="TextBox 3"/>
          <p:cNvSpPr txBox="1"/>
          <p:nvPr/>
        </p:nvSpPr>
        <p:spPr>
          <a:xfrm>
            <a:off x="1234440" y="548640"/>
            <a:ext cx="9144000" cy="548640"/>
          </a:xfrm>
          <a:prstGeom prst="rect">
            <a:avLst/>
          </a:prstGeom>
          <a:noFill/>
        </p:spPr>
        <p:txBody>
          <a:bodyPr wrap="square" anchor="ctr" lIns="0" rIns="0" tIns="0" bIns="0">
            <a:spAutoFit/>
          </a:bodyPr>
          <a:lstStyle/>
          <a:p>
            <a:pPr algn="l"/>
            <a:r>
              <a:rPr sz="1400" b="1" i="0">
                <a:solidFill>
                  <a:srgbClr val="1B2A4A"/>
                </a:solidFill>
                <a:latin typeface="Calibri"/>
              </a:rPr>
              <a:t>CONTEXTO FINANCIERO</a:t>
            </a:r>
          </a:p>
        </p:txBody>
      </p:sp>
      <p:sp>
        <p:nvSpPr>
          <p:cNvPr id="5" name="TextBox 4"/>
          <p:cNvSpPr txBox="1"/>
          <p:nvPr/>
        </p:nvSpPr>
        <p:spPr>
          <a:xfrm>
            <a:off x="640080" y="1325880"/>
            <a:ext cx="10881360" cy="731520"/>
          </a:xfrm>
          <a:prstGeom prst="rect">
            <a:avLst/>
          </a:prstGeom>
          <a:noFill/>
        </p:spPr>
        <p:txBody>
          <a:bodyPr wrap="square" anchor="t" lIns="0" rIns="0" tIns="0" bIns="0">
            <a:spAutoFit/>
          </a:bodyPr>
          <a:lstStyle/>
          <a:p>
            <a:pPr algn="l"/>
            <a:r>
              <a:rPr sz="2800" b="1" i="0">
                <a:solidFill>
                  <a:srgbClr val="222A39"/>
                </a:solidFill>
                <a:latin typeface="Cambria"/>
              </a:rPr>
              <a:t>Lo que dicen los números</a:t>
            </a:r>
          </a:p>
        </p:txBody>
      </p:sp>
      <p:sp>
        <p:nvSpPr>
          <p:cNvPr id="6" name="Rounded Rectangle 5"/>
          <p:cNvSpPr/>
          <p:nvPr/>
        </p:nvSpPr>
        <p:spPr>
          <a:xfrm>
            <a:off x="640080" y="2331720"/>
            <a:ext cx="3520440" cy="2103120"/>
          </a:xfrm>
          <a:prstGeom prst="roundRect">
            <a:avLst>
              <a:gd name="adj" fmla="val 6000"/>
            </a:avLst>
          </a:prstGeom>
          <a:solidFill>
            <a:srgbClr val="EDE6D9"/>
          </a:solidFill>
          <a:ln>
            <a:no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560320"/>
            <a:ext cx="2971800" cy="822960"/>
          </a:xfrm>
          <a:prstGeom prst="rect">
            <a:avLst/>
          </a:prstGeom>
          <a:noFill/>
        </p:spPr>
        <p:txBody>
          <a:bodyPr wrap="square" anchor="t" lIns="0" rIns="0" tIns="0" bIns="0">
            <a:spAutoFit/>
          </a:bodyPr>
          <a:lstStyle/>
          <a:p>
            <a:pPr algn="l">
              <a:lnSpc>
                <a:spcPct val="100000"/>
              </a:lnSpc>
            </a:pPr>
            <a:r>
              <a:rPr sz="3600" b="1" i="0">
                <a:solidFill>
                  <a:srgbClr val="1B2A4A"/>
                </a:solidFill>
                <a:latin typeface="Cambria"/>
              </a:rPr>
              <a:t>~5,9M€</a:t>
            </a:r>
          </a:p>
        </p:txBody>
      </p:sp>
      <p:sp>
        <p:nvSpPr>
          <p:cNvPr id="8" name="TextBox 7"/>
          <p:cNvSpPr txBox="1"/>
          <p:nvPr/>
        </p:nvSpPr>
        <p:spPr>
          <a:xfrm>
            <a:off x="914400" y="3794760"/>
            <a:ext cx="2971800" cy="640080"/>
          </a:xfrm>
          <a:prstGeom prst="rect">
            <a:avLst/>
          </a:prstGeom>
          <a:noFill/>
        </p:spPr>
        <p:txBody>
          <a:bodyPr wrap="square" anchor="t" lIns="0" rIns="0" tIns="0" bIns="0">
            <a:spAutoFit/>
          </a:bodyPr>
          <a:lstStyle/>
          <a:p>
            <a:pPr algn="l">
              <a:lnSpc>
                <a:spcPct val="115000"/>
              </a:lnSpc>
            </a:pPr>
            <a:r>
              <a:rPr sz="1300" b="0" i="0">
                <a:solidFill>
                  <a:srgbClr val="6B7385"/>
                </a:solidFill>
                <a:latin typeface="Calibri"/>
              </a:rPr>
              <a:t>Ingresos estimados</a:t>
            </a:r>
          </a:p>
        </p:txBody>
      </p:sp>
      <p:sp>
        <p:nvSpPr>
          <p:cNvPr id="9" name="Rounded Rectangle 8"/>
          <p:cNvSpPr/>
          <p:nvPr/>
        </p:nvSpPr>
        <p:spPr>
          <a:xfrm>
            <a:off x="4434840" y="2331720"/>
            <a:ext cx="3520440" cy="2103120"/>
          </a:xfrm>
          <a:prstGeom prst="roundRect">
            <a:avLst>
              <a:gd name="adj" fmla="val 6000"/>
            </a:avLst>
          </a:prstGeom>
          <a:solidFill>
            <a:srgbClr val="EDE6D9"/>
          </a:solidFill>
          <a:ln>
            <a:no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09160" y="2560320"/>
            <a:ext cx="2971800" cy="822960"/>
          </a:xfrm>
          <a:prstGeom prst="rect">
            <a:avLst/>
          </a:prstGeom>
          <a:noFill/>
        </p:spPr>
        <p:txBody>
          <a:bodyPr wrap="square" anchor="t" lIns="0" rIns="0" tIns="0" bIns="0">
            <a:spAutoFit/>
          </a:bodyPr>
          <a:lstStyle/>
          <a:p>
            <a:pPr algn="l">
              <a:lnSpc>
                <a:spcPct val="100000"/>
              </a:lnSpc>
            </a:pPr>
            <a:r>
              <a:rPr sz="3600" b="1" i="0">
                <a:solidFill>
                  <a:srgbClr val="1B2A4A"/>
                </a:solidFill>
                <a:latin typeface="Cambria"/>
              </a:rPr>
              <a:t>~60M€</a:t>
            </a:r>
          </a:p>
        </p:txBody>
      </p:sp>
      <p:sp>
        <p:nvSpPr>
          <p:cNvPr id="11" name="TextBox 10"/>
          <p:cNvSpPr txBox="1"/>
          <p:nvPr/>
        </p:nvSpPr>
        <p:spPr>
          <a:xfrm>
            <a:off x="4709160" y="3794760"/>
            <a:ext cx="2971800" cy="640080"/>
          </a:xfrm>
          <a:prstGeom prst="rect">
            <a:avLst/>
          </a:prstGeom>
          <a:noFill/>
        </p:spPr>
        <p:txBody>
          <a:bodyPr wrap="square" anchor="t" lIns="0" rIns="0" tIns="0" bIns="0">
            <a:spAutoFit/>
          </a:bodyPr>
          <a:lstStyle/>
          <a:p>
            <a:pPr algn="l">
              <a:lnSpc>
                <a:spcPct val="115000"/>
              </a:lnSpc>
            </a:pPr>
            <a:r>
              <a:rPr sz="1300" b="0" i="0">
                <a:solidFill>
                  <a:srgbClr val="6B7385"/>
                </a:solidFill>
                <a:latin typeface="Calibri"/>
              </a:rPr>
              <a:t>Inversión nueva planta fotovoltaica (CAPEX proyecto)</a:t>
            </a:r>
          </a:p>
        </p:txBody>
      </p:sp>
      <p:sp>
        <p:nvSpPr>
          <p:cNvPr id="12" name="Rounded Rectangle 11"/>
          <p:cNvSpPr/>
          <p:nvPr/>
        </p:nvSpPr>
        <p:spPr>
          <a:xfrm>
            <a:off x="8229600" y="2331720"/>
            <a:ext cx="3520440" cy="2103120"/>
          </a:xfrm>
          <a:prstGeom prst="roundRect">
            <a:avLst>
              <a:gd name="adj" fmla="val 6000"/>
            </a:avLst>
          </a:prstGeom>
          <a:solidFill>
            <a:srgbClr val="EDE6D9"/>
          </a:solidFill>
          <a:ln>
            <a:no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0" y="2560320"/>
            <a:ext cx="2971800" cy="822960"/>
          </a:xfrm>
          <a:prstGeom prst="rect">
            <a:avLst/>
          </a:prstGeom>
          <a:noFill/>
        </p:spPr>
        <p:txBody>
          <a:bodyPr wrap="square" anchor="t" lIns="0" rIns="0" tIns="0" bIns="0">
            <a:spAutoFit/>
          </a:bodyPr>
          <a:lstStyle/>
          <a:p>
            <a:pPr algn="l">
              <a:lnSpc>
                <a:spcPct val="100000"/>
              </a:lnSpc>
            </a:pPr>
            <a:r>
              <a:rPr sz="3600" b="1" i="0">
                <a:solidFill>
                  <a:srgbClr val="1B2A4A"/>
                </a:solidFill>
                <a:latin typeface="Cambria"/>
              </a:rPr>
              <a:t>28</a:t>
            </a:r>
          </a:p>
        </p:txBody>
      </p:sp>
      <p:sp>
        <p:nvSpPr>
          <p:cNvPr id="14" name="TextBox 13"/>
          <p:cNvSpPr txBox="1"/>
          <p:nvPr/>
        </p:nvSpPr>
        <p:spPr>
          <a:xfrm>
            <a:off x="8503920" y="3794760"/>
            <a:ext cx="2971800" cy="640080"/>
          </a:xfrm>
          <a:prstGeom prst="rect">
            <a:avLst/>
          </a:prstGeom>
          <a:noFill/>
        </p:spPr>
        <p:txBody>
          <a:bodyPr wrap="square" anchor="t" lIns="0" rIns="0" tIns="0" bIns="0">
            <a:spAutoFit/>
          </a:bodyPr>
          <a:lstStyle/>
          <a:p>
            <a:pPr algn="l">
              <a:lnSpc>
                <a:spcPct val="115000"/>
              </a:lnSpc>
            </a:pPr>
            <a:r>
              <a:rPr sz="1300" b="0" i="0">
                <a:solidFill>
                  <a:srgbClr val="6B7385"/>
                </a:solidFill>
                <a:latin typeface="Calibri"/>
              </a:rPr>
              <a:t>Empleados</a:t>
            </a:r>
          </a:p>
        </p:txBody>
      </p:sp>
      <p:sp>
        <p:nvSpPr>
          <p:cNvPr id="15" name="TextBox 14"/>
          <p:cNvSpPr txBox="1"/>
          <p:nvPr/>
        </p:nvSpPr>
        <p:spPr>
          <a:xfrm>
            <a:off x="640080" y="4754880"/>
            <a:ext cx="5303520" cy="365760"/>
          </a:xfrm>
          <a:prstGeom prst="rect">
            <a:avLst/>
          </a:prstGeom>
          <a:noFill/>
        </p:spPr>
        <p:txBody>
          <a:bodyPr wrap="square" anchor="t" lIns="0" rIns="0" tIns="0" bIns="0">
            <a:spAutoFit/>
          </a:bodyPr>
          <a:lstStyle/>
          <a:p>
            <a:pPr algn="l"/>
            <a:r>
              <a:rPr sz="1100" b="1" i="0">
                <a:solidFill>
                  <a:srgbClr val="6B7385"/>
                </a:solidFill>
                <a:latin typeface="Calibri"/>
              </a:rPr>
              <a:t>TENDENCIAS ESTRUCTURALES</a:t>
            </a:r>
          </a:p>
        </p:txBody>
      </p:sp>
      <p:sp>
        <p:nvSpPr>
          <p:cNvPr id="16" name="TextBox 15"/>
          <p:cNvSpPr txBox="1"/>
          <p:nvPr/>
        </p:nvSpPr>
        <p:spPr>
          <a:xfrm>
            <a:off x="640080" y="5120640"/>
            <a:ext cx="5303520" cy="1463040"/>
          </a:xfrm>
          <a:prstGeom prst="rect">
            <a:avLst/>
          </a:prstGeom>
          <a:noFill/>
        </p:spPr>
        <p:txBody>
          <a:bodyPr wrap="square" lIns="0" rIns="0" tIns="0" bIns="0">
            <a:spAutoFit/>
          </a:bodyPr>
          <a:lstStyle/>
          <a:p>
            <a:pPr>
              <a:lnSpc>
                <a:spcPct val="115000"/>
              </a:lnSpc>
              <a:spcAft>
                <a:spcPts val="600"/>
              </a:spcAft>
            </a:pPr>
            <a:r>
              <a:rPr sz="1300">
                <a:solidFill>
                  <a:srgbClr val="222A39"/>
                </a:solidFill>
                <a:latin typeface="Calibri"/>
              </a:rPr>
              <a:t>—  Transición desde un perfil de desarrollador/operador pequeño hacia fase de ejecución de un activo fotovoltaico de gran escala.</a:t>
            </a:r>
          </a:p>
          <a:p>
            <a:pPr>
              <a:lnSpc>
                <a:spcPct val="115000"/>
              </a:lnSpc>
              <a:spcAft>
                <a:spcPts val="600"/>
              </a:spcAft>
            </a:pPr>
            <a:r>
              <a:rPr sz="1300">
                <a:solidFill>
                  <a:srgbClr val="222A39"/>
                </a:solidFill>
                <a:latin typeface="Calibri"/>
              </a:rPr>
              <a:t>—  Aumento relevante de la intensidad de capital por entrada en proyectos con CAPEX elevado.</a:t>
            </a:r>
          </a:p>
          <a:p>
            <a:pPr>
              <a:lnSpc>
                <a:spcPct val="115000"/>
              </a:lnSpc>
              <a:spcAft>
                <a:spcPts val="600"/>
              </a:spcAft>
            </a:pPr>
            <a:r>
              <a:rPr sz="1300">
                <a:solidFill>
                  <a:srgbClr val="222A39"/>
                </a:solidFill>
                <a:latin typeface="Calibri"/>
              </a:rPr>
              <a:t>—  Probable incorporación de financiación de proyecto (project finance) asociada al cierre financiero, con posible sindicación.</a:t>
            </a:r>
          </a:p>
          <a:p>
            <a:pPr>
              <a:lnSpc>
                <a:spcPct val="115000"/>
              </a:lnSpc>
              <a:spcAft>
                <a:spcPts val="600"/>
              </a:spcAft>
            </a:pPr>
            <a:r>
              <a:rPr sz="1300">
                <a:solidFill>
                  <a:srgbClr val="222A39"/>
                </a:solidFill>
                <a:latin typeface="Calibri"/>
              </a:rPr>
              <a:t>—  Mayor necesidad de gestión de riesgos financieros y operativos (p. ej., coberturas) al pasar a construcción/operación.</a:t>
            </a:r>
          </a:p>
        </p:txBody>
      </p:sp>
      <p:sp>
        <p:nvSpPr>
          <p:cNvPr id="17" name="Rounded Rectangle 16"/>
          <p:cNvSpPr/>
          <p:nvPr/>
        </p:nvSpPr>
        <p:spPr>
          <a:xfrm>
            <a:off x="6263640" y="4754880"/>
            <a:ext cx="5257800" cy="1737360"/>
          </a:xfrm>
          <a:prstGeom prst="roundRect">
            <a:avLst>
              <a:gd name="adj" fmla="val 6000"/>
            </a:avLst>
          </a:prstGeom>
          <a:solidFill>
            <a:srgbClr val="1B2A4A"/>
          </a:solidFill>
          <a:ln>
            <a:no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0" y="4956048"/>
            <a:ext cx="4663440" cy="365760"/>
          </a:xfrm>
          <a:prstGeom prst="rect">
            <a:avLst/>
          </a:prstGeom>
          <a:noFill/>
        </p:spPr>
        <p:txBody>
          <a:bodyPr wrap="square" anchor="t" lIns="0" rIns="0" tIns="0" bIns="0">
            <a:spAutoFit/>
          </a:bodyPr>
          <a:lstStyle/>
          <a:p>
            <a:pPr algn="l"/>
            <a:r>
              <a:rPr sz="1100" b="1" i="0">
                <a:solidFill>
                  <a:srgbClr val="C9D2E6"/>
                </a:solidFill>
                <a:latin typeface="Calibri"/>
              </a:rPr>
              <a:t>INTERPRETACIÓN</a:t>
            </a:r>
          </a:p>
        </p:txBody>
      </p:sp>
      <p:sp>
        <p:nvSpPr>
          <p:cNvPr id="19" name="TextBox 18"/>
          <p:cNvSpPr txBox="1"/>
          <p:nvPr/>
        </p:nvSpPr>
        <p:spPr>
          <a:xfrm>
            <a:off x="6583680" y="5303520"/>
            <a:ext cx="4663440" cy="1097280"/>
          </a:xfrm>
          <a:prstGeom prst="rect">
            <a:avLst/>
          </a:prstGeom>
          <a:noFill/>
        </p:spPr>
        <p:txBody>
          <a:bodyPr wrap="square" anchor="t" lIns="0" rIns="0" tIns="0" bIns="0">
            <a:spAutoFit/>
          </a:bodyPr>
          <a:lstStyle/>
          <a:p>
            <a:pPr algn="l">
              <a:lnSpc>
                <a:spcPct val="125000"/>
              </a:lnSpc>
            </a:pPr>
            <a:r>
              <a:rPr sz="1300" b="0" i="1">
                <a:solidFill>
                  <a:srgbClr val="FFFFFF"/>
                </a:solidFill>
                <a:latin typeface="Calibri"/>
              </a:rPr>
              <a:t>La información disponible sugiere un negocio con ingresos actuales moderados pero con un salto inminente en necesidades de capital por el desarrollo de una planta FV de ~60M€, sin visibilidad aún sobre márgenes que permitan evaluar capacidad de generación de caja. El hito de cierre financiero apunta a una estructuración inmediata de deuda de proyecto y potencialmente a la entrada de coinversores institucionales para completar el equity del proyecto. La ausencia de datos sobre apalancamiento actual y CAPEX histórico incrementa la importancia de definir estructura de capital, calendario de desembolsos y mecanismos de mitigación de riesgos (incluidas coberturas) durante construcción y puesta en marcha.</a:t>
            </a:r>
          </a:p>
        </p:txBody>
      </p:sp>
      <p:sp>
        <p:nvSpPr>
          <p:cNvPr id="20" name="TextBox 19"/>
          <p:cNvSpPr txBox="1"/>
          <p:nvPr/>
        </p:nvSpPr>
        <p:spPr>
          <a:xfrm>
            <a:off x="640080" y="6400800"/>
            <a:ext cx="8229600" cy="320040"/>
          </a:xfrm>
          <a:prstGeom prst="rect">
            <a:avLst/>
          </a:prstGeom>
          <a:noFill/>
        </p:spPr>
        <p:txBody>
          <a:bodyPr wrap="square" anchor="t" lIns="0" rIns="0" tIns="0" bIns="0">
            <a:spAutoFit/>
          </a:bodyPr>
          <a:lstStyle/>
          <a:p>
            <a:pPr algn="l"/>
            <a:r>
              <a:rPr sz="1050" b="0" i="0">
                <a:solidFill>
                  <a:srgbClr val="6B7385"/>
                </a:solidFill>
                <a:latin typeface="Calibri"/>
              </a:rPr>
              <a:t>Corporate &amp; Deal Intelligence  ·  Documento de uso interno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94360"/>
            <a:ext cx="457200" cy="4572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3</a:t>
            </a:r>
          </a:p>
        </p:txBody>
      </p:sp>
      <p:sp>
        <p:nvSpPr>
          <p:cNvPr id="4" name="TextBox 3"/>
          <p:cNvSpPr txBox="1"/>
          <p:nvPr/>
        </p:nvSpPr>
        <p:spPr>
          <a:xfrm>
            <a:off x="1234440" y="548640"/>
            <a:ext cx="9144000" cy="548640"/>
          </a:xfrm>
          <a:prstGeom prst="rect">
            <a:avLst/>
          </a:prstGeom>
          <a:noFill/>
        </p:spPr>
        <p:txBody>
          <a:bodyPr wrap="square" anchor="ctr" lIns="0" rIns="0" tIns="0" bIns="0">
            <a:spAutoFit/>
          </a:bodyPr>
          <a:lstStyle/>
          <a:p>
            <a:pPr algn="l"/>
            <a:r>
              <a:rPr sz="1400" b="1" i="0">
                <a:solidFill>
                  <a:srgbClr val="1B2A4A"/>
                </a:solidFill>
                <a:latin typeface="Calibri"/>
              </a:rPr>
              <a:t>BRIEFING DE CLIENTE</a:t>
            </a:r>
          </a:p>
        </p:txBody>
      </p:sp>
      <p:sp>
        <p:nvSpPr>
          <p:cNvPr id="5" name="TextBox 4"/>
          <p:cNvSpPr txBox="1"/>
          <p:nvPr/>
        </p:nvSpPr>
        <p:spPr>
          <a:xfrm>
            <a:off x="640080" y="1325880"/>
            <a:ext cx="10881360" cy="731520"/>
          </a:xfrm>
          <a:prstGeom prst="rect">
            <a:avLst/>
          </a:prstGeom>
          <a:noFill/>
        </p:spPr>
        <p:txBody>
          <a:bodyPr wrap="square" anchor="t" lIns="0" rIns="0" tIns="0" bIns="0">
            <a:spAutoFit/>
          </a:bodyPr>
          <a:lstStyle/>
          <a:p>
            <a:pPr algn="l"/>
            <a:r>
              <a:rPr sz="2800" b="1" i="0">
                <a:solidFill>
                  <a:srgbClr val="222A39"/>
                </a:solidFill>
                <a:latin typeface="Cambria"/>
              </a:rPr>
              <a:t>Perfil y situación actual</a:t>
            </a:r>
          </a:p>
        </p:txBody>
      </p:sp>
      <p:sp>
        <p:nvSpPr>
          <p:cNvPr id="6" name="TextBox 5"/>
          <p:cNvSpPr txBox="1"/>
          <p:nvPr/>
        </p:nvSpPr>
        <p:spPr>
          <a:xfrm>
            <a:off x="640080" y="2148840"/>
            <a:ext cx="10881360" cy="822960"/>
          </a:xfrm>
          <a:prstGeom prst="rect">
            <a:avLst/>
          </a:prstGeom>
          <a:noFill/>
        </p:spPr>
        <p:txBody>
          <a:bodyPr wrap="square" anchor="t" lIns="0" rIns="0" tIns="0" bIns="0">
            <a:spAutoFit/>
          </a:bodyPr>
          <a:lstStyle/>
          <a:p>
            <a:pPr algn="l">
              <a:lnSpc>
                <a:spcPct val="130000"/>
              </a:lnSpc>
            </a:pPr>
            <a:r>
              <a:rPr sz="1400" b="0" i="0">
                <a:solidFill>
                  <a:srgbClr val="222A39"/>
                </a:solidFill>
                <a:latin typeface="Calibri"/>
              </a:rPr>
              <a:t>Alcántara Energía Renovable SL es un desarrollador/operador de energías renovables con un tamaño contenido (28 empleados) e ingresos estimados de ~5,9M€. La compañía está dando un salto de escala al preparar la ejecución de una nueva planta fotovoltaica con CAPEX aproximado de ~60M€.</a:t>
            </a:r>
          </a:p>
        </p:txBody>
      </p:sp>
      <p:sp>
        <p:nvSpPr>
          <p:cNvPr id="7" name="TextBox 6"/>
          <p:cNvSpPr txBox="1"/>
          <p:nvPr/>
        </p:nvSpPr>
        <p:spPr>
          <a:xfrm>
            <a:off x="640080" y="2880360"/>
            <a:ext cx="10881360" cy="822960"/>
          </a:xfrm>
          <a:prstGeom prst="rect">
            <a:avLst/>
          </a:prstGeom>
          <a:noFill/>
        </p:spPr>
        <p:txBody>
          <a:bodyPr wrap="square" anchor="t" lIns="0" rIns="0" tIns="0" bIns="0">
            <a:spAutoFit/>
          </a:bodyPr>
          <a:lstStyle/>
          <a:p>
            <a:pPr algn="l">
              <a:lnSpc>
                <a:spcPct val="130000"/>
              </a:lnSpc>
            </a:pPr>
            <a:r>
              <a:rPr sz="1400" b="0" i="1">
                <a:solidFill>
                  <a:srgbClr val="6B7385"/>
                </a:solidFill>
                <a:latin typeface="Calibri"/>
              </a:rPr>
              <a:t>La empresa se encuentra en fase de cierre financiero (“financial close”) de un proyecto fotovoltaico relevante, lo que implica una necesidad inmediata de estructurar financiación de proyecto y, potencialmente, sindicarla. No hay visibilidad disponible sobre EBITDA/márgenes ni sobre endeudamiento actual, por lo que la definición de estructura de capital, calendario de desembolsos y mitigación de riesgos cobra especial importancia en esta fase.</a:t>
            </a:r>
          </a:p>
        </p:txBody>
      </p:sp>
      <p:sp>
        <p:nvSpPr>
          <p:cNvPr id="8" name="Rounded Rectangle 7"/>
          <p:cNvSpPr/>
          <p:nvPr/>
        </p:nvSpPr>
        <p:spPr>
          <a:xfrm>
            <a:off x="640080" y="3794760"/>
            <a:ext cx="5349240" cy="2697480"/>
          </a:xfrm>
          <a:prstGeom prst="roundRect">
            <a:avLst>
              <a:gd name="adj" fmla="val 6000"/>
            </a:avLst>
          </a:prstGeom>
          <a:solidFill>
            <a:srgbClr val="EDE6D9"/>
          </a:solidFill>
          <a:ln>
            <a:no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4069080"/>
            <a:ext cx="384048" cy="384048"/>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a:t>
            </a:r>
          </a:p>
        </p:txBody>
      </p:sp>
      <p:sp>
        <p:nvSpPr>
          <p:cNvPr id="10" name="TextBox 9"/>
          <p:cNvSpPr txBox="1"/>
          <p:nvPr/>
        </p:nvSpPr>
        <p:spPr>
          <a:xfrm>
            <a:off x="1463040" y="4069080"/>
            <a:ext cx="4206240" cy="411480"/>
          </a:xfrm>
          <a:prstGeom prst="rect">
            <a:avLst/>
          </a:prstGeom>
          <a:noFill/>
        </p:spPr>
        <p:txBody>
          <a:bodyPr wrap="square" anchor="ctr" lIns="0" rIns="0" tIns="0" bIns="0">
            <a:spAutoFit/>
          </a:bodyPr>
          <a:lstStyle/>
          <a:p>
            <a:pPr algn="l"/>
            <a:r>
              <a:rPr sz="1200" b="1" i="0">
                <a:solidFill>
                  <a:srgbClr val="1B2A4A"/>
                </a:solidFill>
                <a:latin typeface="Calibri"/>
              </a:rPr>
              <a:t>NECESIDADES POTENCIALES</a:t>
            </a:r>
          </a:p>
        </p:txBody>
      </p:sp>
      <p:sp>
        <p:nvSpPr>
          <p:cNvPr id="11" name="TextBox 10"/>
          <p:cNvSpPr txBox="1"/>
          <p:nvPr/>
        </p:nvSpPr>
        <p:spPr>
          <a:xfrm>
            <a:off x="914400" y="4663440"/>
            <a:ext cx="4846320" cy="1737360"/>
          </a:xfrm>
          <a:prstGeom prst="rect">
            <a:avLst/>
          </a:prstGeom>
          <a:noFill/>
        </p:spPr>
        <p:txBody>
          <a:bodyPr wrap="square" lIns="0" rIns="0" tIns="0" bIns="0">
            <a:spAutoFit/>
          </a:bodyPr>
          <a:lstStyle/>
          <a:p>
            <a:pPr>
              <a:lnSpc>
                <a:spcPct val="115000"/>
              </a:lnSpc>
              <a:spcAft>
                <a:spcPts val="800"/>
              </a:spcAft>
            </a:pPr>
            <a:r>
              <a:rPr sz="1300">
                <a:solidFill>
                  <a:srgbClr val="222A39"/>
                </a:solidFill>
                <a:latin typeface="Calibri"/>
              </a:rPr>
              <a:t>—  Estructuración de project finance para el CAPEX del proyecto (~60M€), incluyendo términos, paquete de garantías y calendario de disposiciones.</a:t>
            </a:r>
          </a:p>
          <a:p>
            <a:pPr>
              <a:lnSpc>
                <a:spcPct val="115000"/>
              </a:lnSpc>
              <a:spcAft>
                <a:spcPts val="800"/>
              </a:spcAft>
            </a:pPr>
            <a:r>
              <a:rPr sz="1300">
                <a:solidFill>
                  <a:srgbClr val="222A39"/>
                </a:solidFill>
                <a:latin typeface="Calibri"/>
              </a:rPr>
              <a:t>—  Sindicacion de la deuda de proyecto para asegurar capacidad de financiación y diversificación de entidades.</a:t>
            </a:r>
          </a:p>
          <a:p>
            <a:pPr>
              <a:lnSpc>
                <a:spcPct val="115000"/>
              </a:lnSpc>
              <a:spcAft>
                <a:spcPts val="800"/>
              </a:spcAft>
            </a:pPr>
            <a:r>
              <a:rPr sz="1300">
                <a:solidFill>
                  <a:srgbClr val="222A39"/>
                </a:solidFill>
                <a:latin typeface="Calibri"/>
              </a:rPr>
              <a:t>—  Optimización de estructura de capital del proyecto (mix deuda/equity) y apoyo en la búsqueda/entrada de coinversión institucional para completar el equity.</a:t>
            </a:r>
          </a:p>
          <a:p>
            <a:pPr>
              <a:lnSpc>
                <a:spcPct val="115000"/>
              </a:lnSpc>
              <a:spcAft>
                <a:spcPts val="800"/>
              </a:spcAft>
            </a:pPr>
            <a:r>
              <a:rPr sz="1300">
                <a:solidFill>
                  <a:srgbClr val="222A39"/>
                </a:solidFill>
                <a:latin typeface="Calibri"/>
              </a:rPr>
              <a:t>—  Diseño de estrategia de coberturas asociadas al proyecto (p. ej., riesgos financieros durante construcción/operación) alineada con requisitos de financiadores.</a:t>
            </a:r>
          </a:p>
        </p:txBody>
      </p:sp>
      <p:sp>
        <p:nvSpPr>
          <p:cNvPr id="12" name="Rounded Rectangle 11"/>
          <p:cNvSpPr/>
          <p:nvPr/>
        </p:nvSpPr>
        <p:spPr>
          <a:xfrm>
            <a:off x="6217920" y="3794760"/>
            <a:ext cx="5349240" cy="2697480"/>
          </a:xfrm>
          <a:prstGeom prst="roundRect">
            <a:avLst>
              <a:gd name="adj" fmla="val 6000"/>
            </a:avLst>
          </a:prstGeom>
          <a:solidFill>
            <a:srgbClr val="FFFFFF"/>
          </a:solidFill>
          <a:ln w="9525">
            <a:solidFill>
              <a:srgbClr val="DDD2BE"/>
            </a:solid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92240" y="4069080"/>
            <a:ext cx="384048" cy="384048"/>
          </a:xfrm>
          <a:prstGeom prst="ellipse">
            <a:avLst/>
          </a:prstGeom>
          <a:solidFill>
            <a:srgbClr val="C97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a:t>
            </a:r>
          </a:p>
        </p:txBody>
      </p:sp>
      <p:sp>
        <p:nvSpPr>
          <p:cNvPr id="14" name="TextBox 13"/>
          <p:cNvSpPr txBox="1"/>
          <p:nvPr/>
        </p:nvSpPr>
        <p:spPr>
          <a:xfrm>
            <a:off x="7040880" y="4069080"/>
            <a:ext cx="4206240" cy="411480"/>
          </a:xfrm>
          <a:prstGeom prst="rect">
            <a:avLst/>
          </a:prstGeom>
          <a:noFill/>
        </p:spPr>
        <p:txBody>
          <a:bodyPr wrap="square" anchor="ctr" lIns="0" rIns="0" tIns="0" bIns="0">
            <a:spAutoFit/>
          </a:bodyPr>
          <a:lstStyle/>
          <a:p>
            <a:pPr algn="l"/>
            <a:r>
              <a:rPr sz="1200" b="1" i="0">
                <a:solidFill>
                  <a:srgbClr val="1B2A4A"/>
                </a:solidFill>
                <a:latin typeface="Calibri"/>
              </a:rPr>
              <a:t>RIESGOS Y PUNTOS DE ATENCIÓN</a:t>
            </a:r>
          </a:p>
        </p:txBody>
      </p:sp>
      <p:sp>
        <p:nvSpPr>
          <p:cNvPr id="15" name="TextBox 14"/>
          <p:cNvSpPr txBox="1"/>
          <p:nvPr/>
        </p:nvSpPr>
        <p:spPr>
          <a:xfrm>
            <a:off x="6492240" y="4663440"/>
            <a:ext cx="4846320" cy="1737360"/>
          </a:xfrm>
          <a:prstGeom prst="rect">
            <a:avLst/>
          </a:prstGeom>
          <a:noFill/>
        </p:spPr>
        <p:txBody>
          <a:bodyPr wrap="square" lIns="0" rIns="0" tIns="0" bIns="0">
            <a:spAutoFit/>
          </a:bodyPr>
          <a:lstStyle/>
          <a:p>
            <a:pPr>
              <a:lnSpc>
                <a:spcPct val="115000"/>
              </a:lnSpc>
              <a:spcAft>
                <a:spcPts val="800"/>
              </a:spcAft>
            </a:pPr>
            <a:r>
              <a:rPr sz="1300">
                <a:solidFill>
                  <a:srgbClr val="222A39"/>
                </a:solidFill>
                <a:latin typeface="Calibri"/>
              </a:rPr>
              <a:t>—  Información financiera limitada (sin EBITDA/márgenes ni deuda reportada), dificultando evaluar capacidad de generación de caja y tolerancia a apalancamiento.</a:t>
            </a:r>
          </a:p>
          <a:p>
            <a:pPr>
              <a:lnSpc>
                <a:spcPct val="115000"/>
              </a:lnSpc>
              <a:spcAft>
                <a:spcPts val="800"/>
              </a:spcAft>
            </a:pPr>
            <a:r>
              <a:rPr sz="1300">
                <a:solidFill>
                  <a:srgbClr val="222A39"/>
                </a:solidFill>
                <a:latin typeface="Calibri"/>
              </a:rPr>
              <a:t>—  Riesgo de ejecución por salto de escala (de ingresos moderados a un proyecto de gran CAPEX), con mayores exigencias de gestión durante construcción y puesta en marcha.</a:t>
            </a:r>
          </a:p>
          <a:p>
            <a:pPr>
              <a:lnSpc>
                <a:spcPct val="115000"/>
              </a:lnSpc>
              <a:spcAft>
                <a:spcPts val="800"/>
              </a:spcAft>
            </a:pPr>
            <a:r>
              <a:rPr sz="1300">
                <a:solidFill>
                  <a:srgbClr val="222A39"/>
                </a:solidFill>
                <a:latin typeface="Calibri"/>
              </a:rPr>
              <a:t>—  Riesgo de cierre financiero por ventana temporal: presión de plazos y potencial impacto en términos si se retrasa la estructuración/sindicación.</a:t>
            </a:r>
          </a:p>
          <a:p>
            <a:pPr>
              <a:lnSpc>
                <a:spcPct val="115000"/>
              </a:lnSpc>
              <a:spcAft>
                <a:spcPts val="800"/>
              </a:spcAft>
            </a:pPr>
            <a:r>
              <a:rPr sz="1300">
                <a:solidFill>
                  <a:srgbClr val="222A39"/>
                </a:solidFill>
                <a:latin typeface="Calibri"/>
              </a:rPr>
              <a:t>—  Necesidad de gestión de riesgos (incluidas coberturas) para cumplir condiciones de financiadores y evitar volatilidad que afecte al caso base del proyecto.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94360"/>
            <a:ext cx="457200" cy="4572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4</a:t>
            </a:r>
          </a:p>
        </p:txBody>
      </p:sp>
      <p:sp>
        <p:nvSpPr>
          <p:cNvPr id="4" name="TextBox 3"/>
          <p:cNvSpPr txBox="1"/>
          <p:nvPr/>
        </p:nvSpPr>
        <p:spPr>
          <a:xfrm>
            <a:off x="1234440" y="548640"/>
            <a:ext cx="9144000" cy="548640"/>
          </a:xfrm>
          <a:prstGeom prst="rect">
            <a:avLst/>
          </a:prstGeom>
          <a:noFill/>
        </p:spPr>
        <p:txBody>
          <a:bodyPr wrap="square" anchor="ctr" lIns="0" rIns="0" tIns="0" bIns="0">
            <a:spAutoFit/>
          </a:bodyPr>
          <a:lstStyle/>
          <a:p>
            <a:pPr algn="l"/>
            <a:r>
              <a:rPr sz="1400" b="1" i="0">
                <a:solidFill>
                  <a:srgbClr val="1B2A4A"/>
                </a:solidFill>
                <a:latin typeface="Calibri"/>
              </a:rPr>
              <a:t>ENCAJE Y COMPARABLES</a:t>
            </a:r>
          </a:p>
        </p:txBody>
      </p:sp>
      <p:sp>
        <p:nvSpPr>
          <p:cNvPr id="5" name="TextBox 4"/>
          <p:cNvSpPr txBox="1"/>
          <p:nvPr/>
        </p:nvSpPr>
        <p:spPr>
          <a:xfrm>
            <a:off x="640080" y="1325880"/>
            <a:ext cx="10881360" cy="731520"/>
          </a:xfrm>
          <a:prstGeom prst="rect">
            <a:avLst/>
          </a:prstGeom>
          <a:noFill/>
        </p:spPr>
        <p:txBody>
          <a:bodyPr wrap="square" anchor="t" lIns="0" rIns="0" tIns="0" bIns="0">
            <a:spAutoFit/>
          </a:bodyPr>
          <a:lstStyle/>
          <a:p>
            <a:pPr algn="l"/>
            <a:r>
              <a:rPr sz="2800" b="1" i="0">
                <a:solidFill>
                  <a:srgbClr val="222A39"/>
                </a:solidFill>
                <a:latin typeface="Cambria"/>
              </a:rPr>
              <a:t>Cómo podemos ayudar</a:t>
            </a:r>
          </a:p>
        </p:txBody>
      </p:sp>
      <p:sp>
        <p:nvSpPr>
          <p:cNvPr id="6" name="TextBox 5"/>
          <p:cNvSpPr txBox="1"/>
          <p:nvPr/>
        </p:nvSpPr>
        <p:spPr>
          <a:xfrm>
            <a:off x="640080" y="2240280"/>
            <a:ext cx="6400800" cy="365760"/>
          </a:xfrm>
          <a:prstGeom prst="rect">
            <a:avLst/>
          </a:prstGeom>
          <a:noFill/>
        </p:spPr>
        <p:txBody>
          <a:bodyPr wrap="square" anchor="t" lIns="0" rIns="0" tIns="0" bIns="0">
            <a:spAutoFit/>
          </a:bodyPr>
          <a:lstStyle/>
          <a:p>
            <a:pPr algn="l"/>
            <a:r>
              <a:rPr sz="1100" b="1" i="0">
                <a:solidFill>
                  <a:srgbClr val="6B7385"/>
                </a:solidFill>
                <a:latin typeface="Calibri"/>
              </a:rPr>
              <a:t>ENCAJE CON PRODUCTOS DEL BANCO</a:t>
            </a:r>
          </a:p>
        </p:txBody>
      </p:sp>
      <p:sp>
        <p:nvSpPr>
          <p:cNvPr id="7" name="Oval 6"/>
          <p:cNvSpPr/>
          <p:nvPr/>
        </p:nvSpPr>
        <p:spPr>
          <a:xfrm>
            <a:off x="640080" y="2651760"/>
            <a:ext cx="365760" cy="36576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8" name="TextBox 7"/>
          <p:cNvSpPr txBox="1"/>
          <p:nvPr/>
        </p:nvSpPr>
        <p:spPr>
          <a:xfrm>
            <a:off x="1188720" y="2651760"/>
            <a:ext cx="5852160" cy="502920"/>
          </a:xfrm>
          <a:prstGeom prst="rect">
            <a:avLst/>
          </a:prstGeom>
          <a:noFill/>
        </p:spPr>
        <p:txBody>
          <a:bodyPr wrap="square" anchor="ctr" lIns="0" rIns="0" tIns="0" bIns="0">
            <a:spAutoFit/>
          </a:bodyPr>
          <a:lstStyle/>
          <a:p>
            <a:pPr algn="l">
              <a:lnSpc>
                <a:spcPct val="110000"/>
              </a:lnSpc>
            </a:pPr>
            <a:r>
              <a:rPr sz="1350" b="0" i="0">
                <a:solidFill>
                  <a:srgbClr val="222A39"/>
                </a:solidFill>
                <a:latin typeface="Calibri"/>
              </a:rPr>
              <a:t>Financiación de proyecto (Project Finance) para construcción y operación, con estructura de amortización y paquete de garantías</a:t>
            </a:r>
          </a:p>
        </p:txBody>
      </p:sp>
      <p:sp>
        <p:nvSpPr>
          <p:cNvPr id="9" name="Oval 8"/>
          <p:cNvSpPr/>
          <p:nvPr/>
        </p:nvSpPr>
        <p:spPr>
          <a:xfrm>
            <a:off x="640080" y="3310128"/>
            <a:ext cx="365760" cy="36576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0" name="TextBox 9"/>
          <p:cNvSpPr txBox="1"/>
          <p:nvPr/>
        </p:nvSpPr>
        <p:spPr>
          <a:xfrm>
            <a:off x="1188720" y="3310128"/>
            <a:ext cx="5852160" cy="502920"/>
          </a:xfrm>
          <a:prstGeom prst="rect">
            <a:avLst/>
          </a:prstGeom>
          <a:noFill/>
        </p:spPr>
        <p:txBody>
          <a:bodyPr wrap="square" anchor="ctr" lIns="0" rIns="0" tIns="0" bIns="0">
            <a:spAutoFit/>
          </a:bodyPr>
          <a:lstStyle/>
          <a:p>
            <a:pPr algn="l">
              <a:lnSpc>
                <a:spcPct val="110000"/>
              </a:lnSpc>
            </a:pPr>
            <a:r>
              <a:rPr sz="1350" b="0" i="0">
                <a:solidFill>
                  <a:srgbClr val="222A39"/>
                </a:solidFill>
                <a:latin typeface="Calibri"/>
              </a:rPr>
              <a:t>Sindicacion de deuda (mandato de coordinador/arranger) y distribución a entidades participantes</a:t>
            </a:r>
          </a:p>
        </p:txBody>
      </p:sp>
      <p:sp>
        <p:nvSpPr>
          <p:cNvPr id="11" name="Oval 10"/>
          <p:cNvSpPr/>
          <p:nvPr/>
        </p:nvSpPr>
        <p:spPr>
          <a:xfrm>
            <a:off x="640080" y="3968496"/>
            <a:ext cx="365760" cy="36576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2" name="TextBox 11"/>
          <p:cNvSpPr txBox="1"/>
          <p:nvPr/>
        </p:nvSpPr>
        <p:spPr>
          <a:xfrm>
            <a:off x="1188720" y="3968496"/>
            <a:ext cx="5852160" cy="502920"/>
          </a:xfrm>
          <a:prstGeom prst="rect">
            <a:avLst/>
          </a:prstGeom>
          <a:noFill/>
        </p:spPr>
        <p:txBody>
          <a:bodyPr wrap="square" anchor="ctr" lIns="0" rIns="0" tIns="0" bIns="0">
            <a:spAutoFit/>
          </a:bodyPr>
          <a:lstStyle/>
          <a:p>
            <a:pPr algn="l">
              <a:lnSpc>
                <a:spcPct val="110000"/>
              </a:lnSpc>
            </a:pPr>
            <a:r>
              <a:rPr sz="1350" b="0" i="0">
                <a:solidFill>
                  <a:srgbClr val="222A39"/>
                </a:solidFill>
                <a:latin typeface="Calibri"/>
              </a:rPr>
              <a:t>Asesoramiento de estructura de capital y apoyo en coinversión institucional (equity del proyecto / instrumentos híbridos)</a:t>
            </a:r>
          </a:p>
        </p:txBody>
      </p:sp>
      <p:sp>
        <p:nvSpPr>
          <p:cNvPr id="13" name="Oval 12"/>
          <p:cNvSpPr/>
          <p:nvPr/>
        </p:nvSpPr>
        <p:spPr>
          <a:xfrm>
            <a:off x="640080" y="4626864"/>
            <a:ext cx="365760" cy="36576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4" name="TextBox 13"/>
          <p:cNvSpPr txBox="1"/>
          <p:nvPr/>
        </p:nvSpPr>
        <p:spPr>
          <a:xfrm>
            <a:off x="1188720" y="4626864"/>
            <a:ext cx="5852160" cy="502920"/>
          </a:xfrm>
          <a:prstGeom prst="rect">
            <a:avLst/>
          </a:prstGeom>
          <a:noFill/>
        </p:spPr>
        <p:txBody>
          <a:bodyPr wrap="square" anchor="ctr" lIns="0" rIns="0" tIns="0" bIns="0">
            <a:spAutoFit/>
          </a:bodyPr>
          <a:lstStyle/>
          <a:p>
            <a:pPr algn="l">
              <a:lnSpc>
                <a:spcPct val="110000"/>
              </a:lnSpc>
            </a:pPr>
            <a:r>
              <a:rPr sz="1350" b="0" i="0">
                <a:solidFill>
                  <a:srgbClr val="222A39"/>
                </a:solidFill>
                <a:latin typeface="Calibri"/>
              </a:rPr>
              <a:t>Coberturas financieras (tipo de interés y, si aplica, coberturas asociadas a ingresos/mercado) alineadas con requisitos de financiadores</a:t>
            </a:r>
          </a:p>
        </p:txBody>
      </p:sp>
      <p:sp>
        <p:nvSpPr>
          <p:cNvPr id="15" name="Rounded Rectangle 14"/>
          <p:cNvSpPr/>
          <p:nvPr/>
        </p:nvSpPr>
        <p:spPr>
          <a:xfrm>
            <a:off x="7406640" y="2240280"/>
            <a:ext cx="4160520" cy="3200400"/>
          </a:xfrm>
          <a:prstGeom prst="roundRect">
            <a:avLst>
              <a:gd name="adj" fmla="val 6000"/>
            </a:avLst>
          </a:prstGeom>
          <a:solidFill>
            <a:srgbClr val="FFFFFF"/>
          </a:solidFill>
          <a:ln>
            <a:no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26679" y="2514600"/>
            <a:ext cx="3566160" cy="365760"/>
          </a:xfrm>
          <a:prstGeom prst="rect">
            <a:avLst/>
          </a:prstGeom>
          <a:noFill/>
        </p:spPr>
        <p:txBody>
          <a:bodyPr wrap="square" anchor="t" lIns="0" rIns="0" tIns="0" bIns="0">
            <a:spAutoFit/>
          </a:bodyPr>
          <a:lstStyle/>
          <a:p>
            <a:pPr algn="l"/>
            <a:r>
              <a:rPr sz="1100" b="1" i="0">
                <a:solidFill>
                  <a:srgbClr val="6B7385"/>
                </a:solidFill>
                <a:latin typeface="Calibri"/>
              </a:rPr>
              <a:t>COMPARABLES SECTORIALES</a:t>
            </a:r>
          </a:p>
        </p:txBody>
      </p:sp>
      <p:sp>
        <p:nvSpPr>
          <p:cNvPr id="17" name="TextBox 16"/>
          <p:cNvSpPr txBox="1"/>
          <p:nvPr/>
        </p:nvSpPr>
        <p:spPr>
          <a:xfrm>
            <a:off x="7726679" y="2971800"/>
            <a:ext cx="3566160" cy="1371600"/>
          </a:xfrm>
          <a:prstGeom prst="rect">
            <a:avLst/>
          </a:prstGeom>
          <a:noFill/>
        </p:spPr>
        <p:txBody>
          <a:bodyPr wrap="square" anchor="t" lIns="0" rIns="0" tIns="0" bIns="0">
            <a:spAutoFit/>
          </a:bodyPr>
          <a:lstStyle/>
          <a:p>
            <a:pPr algn="l">
              <a:lnSpc>
                <a:spcPct val="130000"/>
              </a:lnSpc>
            </a:pPr>
            <a:r>
              <a:rPr sz="1250" b="0" i="0">
                <a:solidFill>
                  <a:srgbClr val="222A39"/>
                </a:solidFill>
                <a:latin typeface="Calibri"/>
              </a:rPr>
              <a:t>Solaria Energía y Medio Ambiente</a:t>
            </a:r>
          </a:p>
        </p:txBody>
      </p:sp>
      <p:sp>
        <p:nvSpPr>
          <p:cNvPr id="18" name="TextBox 17"/>
          <p:cNvSpPr txBox="1"/>
          <p:nvPr/>
        </p:nvSpPr>
        <p:spPr>
          <a:xfrm>
            <a:off x="7726679" y="4251960"/>
            <a:ext cx="3566160" cy="1371600"/>
          </a:xfrm>
          <a:prstGeom prst="rect">
            <a:avLst/>
          </a:prstGeom>
          <a:noFill/>
        </p:spPr>
        <p:txBody>
          <a:bodyPr wrap="square" anchor="t" lIns="0" rIns="0" tIns="0" bIns="0">
            <a:spAutoFit/>
          </a:bodyPr>
          <a:lstStyle/>
          <a:p>
            <a:pPr algn="l">
              <a:lnSpc>
                <a:spcPct val="130000"/>
              </a:lnSpc>
            </a:pPr>
            <a:r>
              <a:rPr sz="1250" b="0" i="0">
                <a:solidFill>
                  <a:srgbClr val="222A39"/>
                </a:solidFill>
                <a:latin typeface="Calibri"/>
              </a:rPr>
              <a:t>Grenergy Renovables</a:t>
            </a:r>
          </a:p>
        </p:txBody>
      </p:sp>
      <p:sp>
        <p:nvSpPr>
          <p:cNvPr id="19" name="TextBox 18"/>
          <p:cNvSpPr txBox="1"/>
          <p:nvPr/>
        </p:nvSpPr>
        <p:spPr>
          <a:xfrm>
            <a:off x="640080" y="5440680"/>
            <a:ext cx="10881360" cy="365760"/>
          </a:xfrm>
          <a:prstGeom prst="rect">
            <a:avLst/>
          </a:prstGeom>
          <a:noFill/>
        </p:spPr>
        <p:txBody>
          <a:bodyPr wrap="square" anchor="t" lIns="0" rIns="0" tIns="0" bIns="0">
            <a:spAutoFit/>
          </a:bodyPr>
          <a:lstStyle/>
          <a:p>
            <a:pPr algn="l"/>
            <a:r>
              <a:rPr sz="1100" b="1" i="0">
                <a:solidFill>
                  <a:srgbClr val="6B7385"/>
                </a:solidFill>
                <a:latin typeface="Calibri"/>
              </a:rPr>
              <a:t>ARGUMENTOS DE VALOR</a:t>
            </a:r>
          </a:p>
        </p:txBody>
      </p:sp>
      <p:sp>
        <p:nvSpPr>
          <p:cNvPr id="20" name="Rounded Rectangle 19"/>
          <p:cNvSpPr/>
          <p:nvPr/>
        </p:nvSpPr>
        <p:spPr>
          <a:xfrm>
            <a:off x="640080" y="5760720"/>
            <a:ext cx="3520440" cy="914400"/>
          </a:xfrm>
          <a:prstGeom prst="roundRect">
            <a:avLst>
              <a:gd name="adj" fmla="val 6000"/>
            </a:avLst>
          </a:prstGeom>
          <a:solidFill>
            <a:srgbClr val="FFFFFF"/>
          </a:solidFill>
          <a:ln w="9525">
            <a:solidFill>
              <a:srgbClr val="DDD2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5879592"/>
            <a:ext cx="3063240" cy="685800"/>
          </a:xfrm>
          <a:prstGeom prst="rect">
            <a:avLst/>
          </a:prstGeom>
          <a:noFill/>
        </p:spPr>
        <p:txBody>
          <a:bodyPr wrap="square" anchor="ctr" lIns="0" rIns="0" tIns="0" bIns="0">
            <a:spAutoFit/>
          </a:bodyPr>
          <a:lstStyle/>
          <a:p>
            <a:pPr algn="l">
              <a:lnSpc>
                <a:spcPct val="115000"/>
              </a:lnSpc>
            </a:pPr>
            <a:r>
              <a:rPr sz="1150" b="0" i="0">
                <a:solidFill>
                  <a:srgbClr val="222A39"/>
                </a:solidFill>
                <a:latin typeface="Calibri"/>
              </a:rPr>
              <a:t>Ejecución rápida hacia el cierre financiero: capacidad de coordinar term sheet, due diligence, documentación y calendario de disposiciones para cumplir hitos del proyecto.</a:t>
            </a:r>
          </a:p>
        </p:txBody>
      </p:sp>
      <p:sp>
        <p:nvSpPr>
          <p:cNvPr id="22" name="Rounded Rectangle 21"/>
          <p:cNvSpPr/>
          <p:nvPr/>
        </p:nvSpPr>
        <p:spPr>
          <a:xfrm>
            <a:off x="4434840" y="5760720"/>
            <a:ext cx="3520440" cy="914400"/>
          </a:xfrm>
          <a:prstGeom prst="roundRect">
            <a:avLst>
              <a:gd name="adj" fmla="val 6000"/>
            </a:avLst>
          </a:prstGeom>
          <a:solidFill>
            <a:srgbClr val="FFFFFF"/>
          </a:solidFill>
          <a:ln w="9525">
            <a:solidFill>
              <a:srgbClr val="DDD2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63440" y="5879592"/>
            <a:ext cx="3063240" cy="685800"/>
          </a:xfrm>
          <a:prstGeom prst="rect">
            <a:avLst/>
          </a:prstGeom>
          <a:noFill/>
        </p:spPr>
        <p:txBody>
          <a:bodyPr wrap="square" anchor="ctr" lIns="0" rIns="0" tIns="0" bIns="0">
            <a:spAutoFit/>
          </a:bodyPr>
          <a:lstStyle/>
          <a:p>
            <a:pPr algn="l">
              <a:lnSpc>
                <a:spcPct val="115000"/>
              </a:lnSpc>
            </a:pPr>
            <a:r>
              <a:rPr sz="1150" b="0" i="0">
                <a:solidFill>
                  <a:srgbClr val="222A39"/>
                </a:solidFill>
                <a:latin typeface="Calibri"/>
              </a:rPr>
              <a:t>Estructura bancable y optimizada: definición de covenants, garantías, reservas y perfil de amortización para maximizar apalancamiento sostenible y minimizar coste total.</a:t>
            </a:r>
          </a:p>
        </p:txBody>
      </p:sp>
      <p:sp>
        <p:nvSpPr>
          <p:cNvPr id="24" name="Rounded Rectangle 23"/>
          <p:cNvSpPr/>
          <p:nvPr/>
        </p:nvSpPr>
        <p:spPr>
          <a:xfrm>
            <a:off x="8229600" y="5760720"/>
            <a:ext cx="3520440" cy="914400"/>
          </a:xfrm>
          <a:prstGeom prst="roundRect">
            <a:avLst>
              <a:gd name="adj" fmla="val 6000"/>
            </a:avLst>
          </a:prstGeom>
          <a:solidFill>
            <a:srgbClr val="FFFFFF"/>
          </a:solidFill>
          <a:ln w="9525">
            <a:solidFill>
              <a:srgbClr val="DDD2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58200" y="5879592"/>
            <a:ext cx="3063240" cy="685800"/>
          </a:xfrm>
          <a:prstGeom prst="rect">
            <a:avLst/>
          </a:prstGeom>
          <a:noFill/>
        </p:spPr>
        <p:txBody>
          <a:bodyPr wrap="square" anchor="ctr" lIns="0" rIns="0" tIns="0" bIns="0">
            <a:spAutoFit/>
          </a:bodyPr>
          <a:lstStyle/>
          <a:p>
            <a:pPr algn="l">
              <a:lnSpc>
                <a:spcPct val="115000"/>
              </a:lnSpc>
            </a:pPr>
            <a:r>
              <a:rPr sz="1150" b="0" i="0">
                <a:solidFill>
                  <a:srgbClr val="222A39"/>
                </a:solidFill>
                <a:latin typeface="Calibri"/>
              </a:rPr>
              <a:t>Sindicacion eficiente: acceso a una base amplia de entidades para asegurar capacidad, diversificar riesgo y mejorar certidumbre de fondos en construcción.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85800"/>
            <a:ext cx="10881360" cy="822960"/>
          </a:xfrm>
          <a:prstGeom prst="rect">
            <a:avLst/>
          </a:prstGeom>
          <a:noFill/>
        </p:spPr>
        <p:txBody>
          <a:bodyPr wrap="square" anchor="t" lIns="0" rIns="0" tIns="0" bIns="0">
            <a:spAutoFit/>
          </a:bodyPr>
          <a:lstStyle/>
          <a:p>
            <a:pPr algn="l"/>
            <a:r>
              <a:rPr sz="3400" b="1" i="0">
                <a:solidFill>
                  <a:srgbClr val="FFFFFF"/>
                </a:solidFill>
                <a:latin typeface="Cambria"/>
              </a:rPr>
              <a:t>Próximos pasos</a:t>
            </a:r>
          </a:p>
        </p:txBody>
      </p:sp>
      <p:sp>
        <p:nvSpPr>
          <p:cNvPr id="4" name="TextBox 3"/>
          <p:cNvSpPr txBox="1"/>
          <p:nvPr/>
        </p:nvSpPr>
        <p:spPr>
          <a:xfrm>
            <a:off x="640080" y="1463040"/>
            <a:ext cx="10058400" cy="548640"/>
          </a:xfrm>
          <a:prstGeom prst="rect">
            <a:avLst/>
          </a:prstGeom>
          <a:noFill/>
        </p:spPr>
        <p:txBody>
          <a:bodyPr wrap="square" anchor="t" lIns="0" rIns="0" tIns="0" bIns="0">
            <a:spAutoFit/>
          </a:bodyPr>
          <a:lstStyle/>
          <a:p>
            <a:pPr algn="l">
              <a:lnSpc>
                <a:spcPct val="130000"/>
              </a:lnSpc>
            </a:pPr>
            <a:r>
              <a:rPr sz="1500" b="0" i="1">
                <a:solidFill>
                  <a:srgbClr val="C9D2E6"/>
                </a:solidFill>
                <a:latin typeface="Calibri"/>
              </a:rPr>
              <a:t>El equipo comercial revisa, ajusta y personaliza esta propuesta antes de cualquier interacción con el cliente.</a:t>
            </a:r>
          </a:p>
        </p:txBody>
      </p:sp>
      <p:sp>
        <p:nvSpPr>
          <p:cNvPr id="5" name="Oval 4"/>
          <p:cNvSpPr/>
          <p:nvPr/>
        </p:nvSpPr>
        <p:spPr>
          <a:xfrm>
            <a:off x="640080" y="2377440"/>
            <a:ext cx="502920" cy="502920"/>
          </a:xfrm>
          <a:prstGeom prst="ellipse">
            <a:avLst/>
          </a:prstGeom>
          <a:solidFill>
            <a:srgbClr val="C97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6" name="TextBox 5"/>
          <p:cNvSpPr txBox="1"/>
          <p:nvPr/>
        </p:nvSpPr>
        <p:spPr>
          <a:xfrm>
            <a:off x="1325880" y="2359152"/>
            <a:ext cx="9875520" cy="868680"/>
          </a:xfrm>
          <a:prstGeom prst="rect">
            <a:avLst/>
          </a:prstGeom>
          <a:noFill/>
        </p:spPr>
        <p:txBody>
          <a:bodyPr wrap="square" anchor="ctr" lIns="0" rIns="0" tIns="0" bIns="0">
            <a:spAutoFit/>
          </a:bodyPr>
          <a:lstStyle/>
          <a:p>
            <a:pPr algn="l">
              <a:lnSpc>
                <a:spcPct val="120000"/>
              </a:lnSpc>
            </a:pPr>
            <a:r>
              <a:rPr sz="1700" b="0" i="0">
                <a:solidFill>
                  <a:srgbClr val="FFFFFF"/>
                </a:solidFill>
                <a:latin typeface="Calibri"/>
              </a:rPr>
              <a:t>Convocar reunión de 60–90 minutos para confirmar estado del financial close (hitos pendientes, permisos, contratos clave, calendario objetivo) y la estructura objetivo (deuda/equity, tenor, amortización, garantías).</a:t>
            </a:r>
          </a:p>
        </p:txBody>
      </p:sp>
      <p:sp>
        <p:nvSpPr>
          <p:cNvPr id="7" name="Oval 6"/>
          <p:cNvSpPr/>
          <p:nvPr/>
        </p:nvSpPr>
        <p:spPr>
          <a:xfrm>
            <a:off x="640080" y="3383280"/>
            <a:ext cx="502920" cy="502920"/>
          </a:xfrm>
          <a:prstGeom prst="ellipse">
            <a:avLst/>
          </a:prstGeom>
          <a:solidFill>
            <a:srgbClr val="C97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8" name="TextBox 7"/>
          <p:cNvSpPr txBox="1"/>
          <p:nvPr/>
        </p:nvSpPr>
        <p:spPr>
          <a:xfrm>
            <a:off x="1325880" y="3364992"/>
            <a:ext cx="9875520" cy="868680"/>
          </a:xfrm>
          <a:prstGeom prst="rect">
            <a:avLst/>
          </a:prstGeom>
          <a:noFill/>
        </p:spPr>
        <p:txBody>
          <a:bodyPr wrap="square" anchor="ctr" lIns="0" rIns="0" tIns="0" bIns="0">
            <a:spAutoFit/>
          </a:bodyPr>
          <a:lstStyle/>
          <a:p>
            <a:pPr algn="l">
              <a:lnSpc>
                <a:spcPct val="120000"/>
              </a:lnSpc>
            </a:pPr>
            <a:r>
              <a:rPr sz="1700" b="0" i="0">
                <a:solidFill>
                  <a:srgbClr val="FFFFFF"/>
                </a:solidFill>
                <a:latin typeface="Calibri"/>
              </a:rPr>
              <a:t>Solicitar “paquete mínimo” para crédito y modelización: modelo financiero del proyecto, supuestos de ingresos, CAPEX/OPEX y calendario, contratos (EPC/O&amp;M y, si aplica, acuerdos de venta), estructura societaria y endeudamiento actual.</a:t>
            </a:r>
          </a:p>
        </p:txBody>
      </p:sp>
      <p:sp>
        <p:nvSpPr>
          <p:cNvPr id="9" name="Oval 8"/>
          <p:cNvSpPr/>
          <p:nvPr/>
        </p:nvSpPr>
        <p:spPr>
          <a:xfrm>
            <a:off x="640080" y="4389120"/>
            <a:ext cx="502920" cy="502920"/>
          </a:xfrm>
          <a:prstGeom prst="ellipse">
            <a:avLst/>
          </a:prstGeom>
          <a:solidFill>
            <a:srgbClr val="C97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10" name="TextBox 9"/>
          <p:cNvSpPr txBox="1"/>
          <p:nvPr/>
        </p:nvSpPr>
        <p:spPr>
          <a:xfrm>
            <a:off x="1325880" y="4370832"/>
            <a:ext cx="9875520" cy="868680"/>
          </a:xfrm>
          <a:prstGeom prst="rect">
            <a:avLst/>
          </a:prstGeom>
          <a:noFill/>
        </p:spPr>
        <p:txBody>
          <a:bodyPr wrap="square" anchor="ctr" lIns="0" rIns="0" tIns="0" bIns="0">
            <a:spAutoFit/>
          </a:bodyPr>
          <a:lstStyle/>
          <a:p>
            <a:pPr algn="l">
              <a:lnSpc>
                <a:spcPct val="120000"/>
              </a:lnSpc>
            </a:pPr>
            <a:r>
              <a:rPr sz="1700" b="0" i="0">
                <a:solidFill>
                  <a:srgbClr val="FFFFFF"/>
                </a:solidFill>
                <a:latin typeface="Calibri"/>
              </a:rPr>
              <a:t>Preparar en 10–15 días una propuesta indicativa: estructura de project finance, estrategia de sindicación, plan de coberturas y hoja de ruta de documentación hasta cierre.</a:t>
            </a:r>
          </a:p>
        </p:txBody>
      </p:sp>
      <p:sp>
        <p:nvSpPr>
          <p:cNvPr id="11" name="TextBox 10"/>
          <p:cNvSpPr txBox="1"/>
          <p:nvPr/>
        </p:nvSpPr>
        <p:spPr>
          <a:xfrm>
            <a:off x="640080" y="6400800"/>
            <a:ext cx="8229600" cy="320040"/>
          </a:xfrm>
          <a:prstGeom prst="rect">
            <a:avLst/>
          </a:prstGeom>
          <a:noFill/>
        </p:spPr>
        <p:txBody>
          <a:bodyPr wrap="square" anchor="t" lIns="0" rIns="0" tIns="0" bIns="0">
            <a:spAutoFit/>
          </a:bodyPr>
          <a:lstStyle/>
          <a:p>
            <a:pPr algn="l"/>
            <a:r>
              <a:rPr sz="1050" b="0" i="0">
                <a:solidFill>
                  <a:srgbClr val="8C99BA"/>
                </a:solidFill>
                <a:latin typeface="Calibri"/>
              </a:rPr>
              <a:t>Corporate &amp; Deal Intelligence  ·  Documento de uso interno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
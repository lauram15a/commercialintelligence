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PERSONAL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Financiación de segunda vivienda + estructuración patrimonial para directivo con liquidez y bonus esperado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Estructuramos la compra de una segunda residencia optimizando entrada, financiación y fiscalidad, y alineando la cartera y la liquidez con el cobro del bonus del 2º semestre.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Alvaro Serrano Vidal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Cliente particular con perfil directivo y remuneración mixta (fijo + variable) que prioriza la compra de una segunda vivienda. La combinación de liquidez disponible hoy y un bonus esperado en el 2º semestre abre la puerta a diseñar una financiación eficiente (incluida financiación puente si el calendario lo exige) y a ordenar el patrimonio para evitar desinversiones inoportunas. Es un momento oportuno para revisar endeudamiento actual (hipoteca vigente) y definir una estructura patrimonial/fiscal coherente antes de formalizar la operación.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En 48–72h (cliente + gestor): recopilar datos críticos: precio objetivo de la segunda vivienda, calendario (arras/escritura), % de entrada deseado, y detalle de la hipoteca vigente (saldo, tipo, plazo, cuota, comisiones).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~145.000 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personal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~145.000 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~130.000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Ahorro líquido estimado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~410.000 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Patrimonio invertible estimado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Perfil de remuneración con componente variable relevante, con posible volatilidad intraanual por bonificación extraordinaria prevista en el 2º semestre.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Tendencia positiva de acumulación patrimonial, con incremento de saldos en productos de inversión en los últimos 12 meses.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Mayor complejidad financiera por exposición internacional, lo que sugiere necesidades recurrentes de planificación (divisa/fiscalidad) y estructuración patrimonial.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Posible evento de liquidez (bonus) y potencial compra de segunda residencia, que podrían elevar necesidades de financiación y de gestión de excedentes de liquidez.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El perfil muestra buena capacidad de generación de ingresos y acumulación de patrimonio, con mejora reciente del componente invertido y un potencial evento de liquidez en el 2º semestre. La existencia de hipoteca y la posible compra de una segunda residencia apuntan a una necesidad potencial de financiación, pero faltan datos clave (saldo hipotecario, ratios de endeudamiento, series históricas de ingresos y gastos) para dimensionarla. Para una recomendación completa sería necesario conocer el saldo y condiciones de la hipoteca, el nivel de gasto/ahorro mensual, la exposición por divisa y la fiscalidad aplicable.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Alvaro Serrano Vidal es un cliente particular (segmento Personal) de la oficina Barcelona - Diagonal, con perfil directivo y remuneración mixta (fijo + variable). Presenta ingresos anuales estimados de ~145.000 EUR, ahorro líquido estimado de ~130.000 EUR y patrimonio invertible estimado de ~410.000 EUR, con incremento de saldos en productos de inversión en los últimos 12 meses.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prioritaria es financiación residencial y estructuración patrimonial vinculada a la compra de una segunda vivienda. El cliente tiene una hipoteca vigente (sin detalle de saldo/condiciones) y se anticipa un evento de liquidez por bonificación extraordinaria en el 2º semestre, lo que puede afectar el timing de la entrada, la necesidad de financiación puente y la estrategia de inversión del excedente.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para segunda residencia: dimensionar importe objetivo, % de entrada y estructura (hipoteca 2ª vivienda vs. préstamo con garantía de cartera), considerando que dispone de ~130.000 EUR de liquidez y ~410.000 EUR invertibles.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Planificación de tesorería por remuneración variable: diseño de un esquema de aportaciones/inversión y colchón de liquidez que absorba la volatilidad intraanual y el cobro del bonus en 2º semestre (posible financiación puente hasta el cobro).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Estructuración patrimonial y fiscalidad asociada a la compra: optimizar titularidad, impacto fiscal y coordinación con la hipoteca vigente (posible reorganización de activos para mejorar ratios y condiciones).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Gestión de exposición internacional (divisa/fiscalidad): revisión de riesgos de tipo de cambio y necesidades recurrentes de planificación si parte de ingresos/activos están vinculados al exterior.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sobreapalancamiento o encarecimiento financiero por falta de visibilidad del saldo/condiciones de la hipoteca vigente y del ratio deuda/ingresos antes de asumir una segunda financiación.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tensión de liquidez por descalce temporal entre la compra (señal/arras/escritura) y el cobro del bonus del 2º semestre, especialmente si se inmoviliza parte de los ~130.000 EUR como entrada.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volatilidad de ingresos por componente variable: el bonus puede no materializarse en el importe esperado, afectando capacidad de amortización o nivel de entrada.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complejidad fiscal/divisa por exposición internacional: decisiones de financiación e inversión podrían tener impactos no previstos si no se mapea correctamente la situación fiscal y la moneda de ingresos/activos.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Hipoteca para segunda vivienda: financiación a largo plazo para optimizar el binomio cuota/entrada, coordinada con la hipoteca vigente y con un análisis de ratio de esfuerzo para asegurar sostenibilidad.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puente: solución temporal para cubrir el descalce entre señal/arras/escritura y el cobro del bonus del 2º semestre, reduciendo la necesidad de desinvertir o consumir liquidez estructural.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Préstamo con garantía de cartera (lombardo): alternativa para financiar parte de la operación manteniendo la cartera invertida, con control de márgenes de garantía y escenarios de mercado.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Servicio de planificación patrimonial y fiscal: definición de titularidad, coordinación de activos y pasivos y revisión de implicaciones fiscales (incluida posible exposición internacional/divisa) antes de ejecutar la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de mercado: estructura típica de compra de 2ª vivienda para perfil directivo combina 20%–30% de entrada + financiación hipotecaria, complementada con financiación puente si el calendario de bonus/variable no coincide con la escritura.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de mercado: para clientes con patrimonio invertible relevante, es habitual evaluar préstamo con garantía de cartera como complemento a hipoteca para reducir desinversiones y mejorar flexibilidad de liquidez (sujeto a límites prudentes de colateral y volatilidad).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Ejecución sin fricciones: diseñamos un plan de liquidez 6–12 meses que separa (i) colchón operativo, (ii) entrada/arras y (iii) inversión, minimizando el riesgo de tensión de caja por el timing del bonus.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 coste y estructura: comparamos hipoteca 2ª vivienda vs. combinación hipoteca + garantía de cartera vs. financiación puente, buscando la estructura más eficiente en cuota, tipo y flexibilidad.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Gestión integral del patrimonio: alineamos la financiación con una revisión patrimonial (titularidad, fiscalidad y exposición internacional/divisa) para evitar decisiones subóptimas y mejorar la resiliencia del balance personal.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48–72h (cliente + gestor): recopilar datos críticos: precio objetivo de la segunda vivienda, calendario (arras/escritura), % de entrada deseado, y detalle de la hipoteca vigente (saldo, tipo, plazo, cuota, comisiones).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1 semana (equipo comercial): preparar 3 escenarios comparativos (hipoteca 2ª vivienda / hipoteca + préstamo con garantía de cartera / hipoteca + financiación puente) con ratio de esfuerzo y plan de amortización usando el bonus del 2º semestre en distintos supuestos (conservador/base/alto).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1–2 semanas (equipo comercial + asesor fiscal si aplica): sesión de estructuración patrimonial para definir titularidad y mapa fiscal/divisa, y propuesta de estrategia de inversión del excedente de liquidez antes y después de la compra.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